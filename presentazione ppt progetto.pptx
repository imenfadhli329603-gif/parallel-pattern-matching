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it-IT" sz="4400" spc="-1" strike="noStrike">
                <a:solidFill>
                  <a:schemeClr val="dk1"/>
                </a:solidFill>
                <a:latin typeface="Calibri Light"/>
              </a:rPr>
              <a:t>Fai clic per spostare la diapositiva</a:t>
            </a:r>
            <a:endParaRPr b="0" lang="it-IT" sz="4400" spc="-1" strike="noStrike">
              <a:solidFill>
                <a:schemeClr val="dk1"/>
              </a:solidFill>
              <a:latin typeface="Calibri Light"/>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it-IT" sz="2000" spc="-1" strike="noStrike">
                <a:solidFill>
                  <a:srgbClr val="000000"/>
                </a:solidFill>
                <a:latin typeface="Arial"/>
              </a:rPr>
              <a:t>Fai clic per modificare il formato delle note</a:t>
            </a:r>
            <a:endParaRPr b="0" lang="it-IT"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it-IT" sz="1400" spc="-1" strike="noStrike">
                <a:solidFill>
                  <a:srgbClr val="000000"/>
                </a:solidFill>
                <a:latin typeface="Times New Roman"/>
              </a:rPr>
              <a:t>&lt;intestazione&gt;</a:t>
            </a:r>
            <a:endParaRPr b="0" lang="it-IT"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it-IT" sz="1400" spc="-1" strike="noStrike">
                <a:solidFill>
                  <a:srgbClr val="000000"/>
                </a:solidFill>
                <a:latin typeface="Times New Roman"/>
              </a:defRPr>
            </a:lvl1pPr>
          </a:lstStyle>
          <a:p>
            <a:pPr indent="0" algn="r">
              <a:buNone/>
            </a:pPr>
            <a:r>
              <a:rPr b="0" lang="it-IT" sz="1400" spc="-1" strike="noStrike">
                <a:solidFill>
                  <a:srgbClr val="000000"/>
                </a:solidFill>
                <a:latin typeface="Times New Roman"/>
              </a:rPr>
              <a:t>&lt;data/ora&gt;</a:t>
            </a:r>
            <a:endParaRPr b="0" lang="it-IT"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it-IT" sz="1400" spc="-1" strike="noStrike">
                <a:solidFill>
                  <a:srgbClr val="000000"/>
                </a:solidFill>
                <a:latin typeface="Times New Roman"/>
              </a:defRPr>
            </a:lvl1pPr>
          </a:lstStyle>
          <a:p>
            <a:pPr indent="0">
              <a:buNone/>
            </a:pPr>
            <a:r>
              <a:rPr b="0" lang="it-IT" sz="1400" spc="-1" strike="noStrike">
                <a:solidFill>
                  <a:srgbClr val="000000"/>
                </a:solidFill>
                <a:latin typeface="Times New Roman"/>
              </a:rPr>
              <a:t>&lt;piè di pagina&gt;</a:t>
            </a:r>
            <a:endParaRPr b="0" lang="it-IT"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it-IT" sz="1400" spc="-1" strike="noStrike">
                <a:solidFill>
                  <a:srgbClr val="000000"/>
                </a:solidFill>
                <a:latin typeface="Times New Roman"/>
              </a:defRPr>
            </a:lvl1pPr>
          </a:lstStyle>
          <a:p>
            <a:pPr indent="0" algn="r">
              <a:buNone/>
            </a:pPr>
            <a:fld id="{B6B644BB-15D5-4EDF-9E42-05AF38F927BA}" type="slidenum">
              <a:rPr b="0" lang="it-IT" sz="1400" spc="-1" strike="noStrike">
                <a:solidFill>
                  <a:srgbClr val="000000"/>
                </a:solidFill>
                <a:latin typeface="Times New Roman"/>
              </a:rPr>
              <a:t>&lt;numero&gt;</a:t>
            </a:fld>
            <a:endParaRPr b="0" lang="it-IT"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486"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9BCE052-84C9-49A1-A0EB-29A7144001D5}"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489"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73EC67F-AB42-40E9-BD59-61ECC5EE480A}"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492"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4B42011-B18A-4AAE-89B1-70EF270D276C}"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495"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BE62AE6-B015-44A1-84A8-4979546E212F}"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498"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EC4F4A8-36E6-4275-923E-0806A7C49168}"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501"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B04B6EB-ECF5-4A0B-B525-82F213C3B9F2}"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504"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81065C2-3E36-455E-9FCF-657D1C990AC8}"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507"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C2BDED1-A1A3-4661-838A-F89E05972A50}"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510"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7064CC2-BF06-4D45-AEA0-C2E90A4338F2}"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513"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93D1AC4-A047-4A23-9738-D01E61CCC853}"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516"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C5316F9-97B7-4A31-9063-5533A0A4824E}"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519"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B8EC710-B65E-4965-A9F3-F4D38A09DB0C}"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685800" y="1143000"/>
            <a:ext cx="5486040" cy="3085920"/>
          </a:xfrm>
          <a:prstGeom prst="rect">
            <a:avLst/>
          </a:prstGeom>
          <a:ln w="0">
            <a:noFill/>
          </a:ln>
        </p:spPr>
      </p:sp>
      <p:sp>
        <p:nvSpPr>
          <p:cNvPr id="5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it-IT" sz="1800" spc="-1" strike="noStrike">
              <a:solidFill>
                <a:srgbClr val="000000"/>
              </a:solidFill>
              <a:latin typeface="Arial"/>
            </a:endParaRPr>
          </a:p>
        </p:txBody>
      </p:sp>
      <p:sp>
        <p:nvSpPr>
          <p:cNvPr id="522"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63F5571-A694-4306-8564-7161A53F2A0A}" type="slidenum">
              <a:rPr b="0" lang="en-US" sz="1200" spc="-1" strike="noStrike">
                <a:solidFill>
                  <a:srgbClr val="000000"/>
                </a:solidFill>
                <a:latin typeface="Times New Roman"/>
              </a:rPr>
              <a:t>&lt;numero&gt;</a:t>
            </a:fld>
            <a:endParaRPr b="0" lang="it-IT"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PTIST_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it-IT" sz="4400" spc="-1" strike="noStrike">
                <a:solidFill>
                  <a:schemeClr val="dk1"/>
                </a:solidFill>
                <a:latin typeface="Calibri Light"/>
              </a:rPr>
              <a:t>Fai clic per modificare il formato del testo del titolo</a:t>
            </a:r>
            <a:endParaRPr b="0" lang="it-IT" sz="4400" spc="-1" strike="noStrike">
              <a:solidFill>
                <a:schemeClr val="dk1"/>
              </a:solidFill>
              <a:latin typeface="Calibri Light"/>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3200" spc="-1" strike="noStrike">
                <a:solidFill>
                  <a:schemeClr val="dk1"/>
                </a:solidFill>
                <a:latin typeface="Calibri"/>
              </a:rPr>
              <a:t>Fai clic per modificare il formato del testo della struttura</a:t>
            </a:r>
            <a:endParaRPr b="0" lang="it-IT"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it-IT" sz="2400" spc="-1" strike="noStrike">
                <a:solidFill>
                  <a:schemeClr val="dk1"/>
                </a:solidFill>
                <a:latin typeface="Calibri"/>
              </a:rPr>
              <a:t>Secondo livello struttura</a:t>
            </a:r>
            <a:endParaRPr b="0" lang="it-IT"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it-IT" sz="2000" spc="-1" strike="noStrike">
                <a:solidFill>
                  <a:schemeClr val="dk1"/>
                </a:solidFill>
                <a:latin typeface="Calibri"/>
              </a:rPr>
              <a:t>Terzo livello struttura</a:t>
            </a:r>
            <a:endParaRPr b="0" lang="it-IT"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it-IT" sz="2000" spc="-1" strike="noStrike">
                <a:solidFill>
                  <a:schemeClr val="dk1"/>
                </a:solidFill>
                <a:latin typeface="Calibri"/>
              </a:rPr>
              <a:t>Quarto livello struttura</a:t>
            </a:r>
            <a:endParaRPr b="0" lang="it-IT"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it-IT" sz="2000" spc="-1" strike="noStrike">
                <a:solidFill>
                  <a:schemeClr val="dk1"/>
                </a:solidFill>
                <a:latin typeface="Calibri"/>
              </a:rPr>
              <a:t>Quinto livello struttura</a:t>
            </a:r>
            <a:endParaRPr b="0" lang="it-IT"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it-IT" sz="2000" spc="-1" strike="noStrike">
                <a:solidFill>
                  <a:schemeClr val="dk1"/>
                </a:solidFill>
                <a:latin typeface="Calibri"/>
              </a:rPr>
              <a:t>Sesto livello struttura</a:t>
            </a:r>
            <a:endParaRPr b="0" lang="it-IT"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it-IT" sz="2000" spc="-1" strike="noStrike">
                <a:solidFill>
                  <a:schemeClr val="dk1"/>
                </a:solidFill>
                <a:latin typeface="Calibri"/>
              </a:rPr>
              <a:t>Settimo livello struttura</a:t>
            </a:r>
            <a:endParaRPr b="0" lang="it-IT"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8" name="Image 0"/>
          <p:cNvSpPr/>
          <p:nvPr/>
        </p:nvSpPr>
        <p:spPr>
          <a:xfrm>
            <a:off x="0" y="0"/>
            <a:ext cx="12191760" cy="6857640"/>
          </a:xfrm>
          <a:prstGeom prst="roundRect">
            <a:avLst>
              <a:gd name="adj" fmla="val 0"/>
            </a:avLst>
          </a:pr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9" name="Shape 0"/>
          <p:cNvSpPr/>
          <p:nvPr/>
        </p:nvSpPr>
        <p:spPr>
          <a:xfrm>
            <a:off x="0" y="0"/>
            <a:ext cx="12191760" cy="6857640"/>
          </a:xfrm>
          <a:custGeom>
            <a:avLst/>
            <a:gdLst>
              <a:gd name="textAreaLeft" fmla="*/ 0 w 12191760"/>
              <a:gd name="textAreaRight" fmla="*/ 12192120 w 12191760"/>
              <a:gd name="textAreaTop" fmla="*/ 0 h 6857640"/>
              <a:gd name="textAreaBottom" fmla="*/ 6858000 h 6857640"/>
            </a:gdLst>
            <a:ahLst/>
            <a:rect l="textAreaLeft" t="textAreaTop" r="textAreaRight" b="textAreaBottom"/>
            <a:pathLst>
              <a:path w="12192000" h="6858000">
                <a:moveTo>
                  <a:pt x="0" y="0"/>
                </a:moveTo>
                <a:lnTo>
                  <a:pt x="12192000" y="0"/>
                </a:lnTo>
                <a:lnTo>
                  <a:pt x="12192000" y="6858000"/>
                </a:lnTo>
                <a:lnTo>
                  <a:pt x="0" y="6858000"/>
                </a:lnTo>
                <a:lnTo>
                  <a:pt x="0" y="0"/>
                </a:lnTo>
                <a:close/>
              </a:path>
            </a:pathLst>
          </a:custGeom>
          <a:gradFill rotWithShape="0">
            <a:gsLst>
              <a:gs pos="0">
                <a:srgbClr val="2e3440">
                  <a:alpha val="90000"/>
                </a:srgbClr>
              </a:gs>
              <a:gs pos="50000">
                <a:srgbClr val="5e81ac">
                  <a:alpha val="60000"/>
                </a:srgbClr>
              </a:gs>
              <a:gs pos="100000">
                <a:srgbClr val="88c0d0">
                  <a:alpha val="40000"/>
                </a:srgbClr>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0" name="Shape 1"/>
          <p:cNvSpPr/>
          <p:nvPr/>
        </p:nvSpPr>
        <p:spPr>
          <a:xfrm>
            <a:off x="380880" y="1497960"/>
            <a:ext cx="3295440" cy="380520"/>
          </a:xfrm>
          <a:custGeom>
            <a:avLst/>
            <a:gdLst>
              <a:gd name="textAreaLeft" fmla="*/ 0 w 3295440"/>
              <a:gd name="textAreaRight" fmla="*/ 3295800 w 3295440"/>
              <a:gd name="textAreaTop" fmla="*/ 0 h 380520"/>
              <a:gd name="textAreaBottom" fmla="*/ 380880 h 380520"/>
            </a:gdLst>
            <a:ahLst/>
            <a:rect l="textAreaLeft" t="textAreaTop" r="textAreaRight" b="textAreaBottom"/>
            <a:pathLst>
              <a:path w="3295650" h="381000">
                <a:moveTo>
                  <a:pt x="76200" y="0"/>
                </a:moveTo>
                <a:lnTo>
                  <a:pt x="3219450" y="0"/>
                </a:lnTo>
                <a:cubicBezTo>
                  <a:pt x="3261506" y="0"/>
                  <a:pt x="3295650" y="34144"/>
                  <a:pt x="3295650" y="76200"/>
                </a:cubicBezTo>
                <a:lnTo>
                  <a:pt x="3295650" y="304800"/>
                </a:lnTo>
                <a:cubicBezTo>
                  <a:pt x="3295650" y="346856"/>
                  <a:pt x="3261506" y="381000"/>
                  <a:pt x="3219450" y="381000"/>
                </a:cubicBezTo>
                <a:lnTo>
                  <a:pt x="76200" y="381000"/>
                </a:lnTo>
                <a:cubicBezTo>
                  <a:pt x="34144" y="381000"/>
                  <a:pt x="0" y="346856"/>
                  <a:pt x="0" y="304800"/>
                </a:cubicBezTo>
                <a:lnTo>
                  <a:pt x="0" y="76200"/>
                </a:lnTo>
                <a:cubicBezTo>
                  <a:pt x="0" y="34144"/>
                  <a:pt x="34144" y="0"/>
                  <a:pt x="76200" y="0"/>
                </a:cubicBezTo>
                <a:close/>
              </a:path>
            </a:pathLst>
          </a:custGeom>
          <a:solidFill>
            <a:srgbClr val="88c0d0">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1" name="Text 2"/>
          <p:cNvSpPr/>
          <p:nvPr/>
        </p:nvSpPr>
        <p:spPr>
          <a:xfrm>
            <a:off x="533520" y="1574280"/>
            <a:ext cx="30668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17" strike="noStrike">
                <a:solidFill>
                  <a:srgbClr val="eceff4"/>
                </a:solidFill>
                <a:latin typeface="Quattrocento Sans"/>
                <a:ea typeface="Quattrocento Sans"/>
              </a:rPr>
              <a:t>Progetto di Parallel Computing</a:t>
            </a:r>
            <a:endParaRPr b="0" lang="it-IT" sz="1200" spc="-1" strike="noStrike">
              <a:solidFill>
                <a:srgbClr val="000000"/>
              </a:solidFill>
              <a:latin typeface="Arial"/>
            </a:endParaRPr>
          </a:p>
        </p:txBody>
      </p:sp>
      <p:sp>
        <p:nvSpPr>
          <p:cNvPr id="12" name="Text 3"/>
          <p:cNvSpPr/>
          <p:nvPr/>
        </p:nvSpPr>
        <p:spPr>
          <a:xfrm>
            <a:off x="380880" y="2107800"/>
            <a:ext cx="11715480" cy="14284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4500" spc="-1" strike="noStrike">
                <a:solidFill>
                  <a:srgbClr val="eceff4"/>
                </a:solidFill>
                <a:latin typeface="Hedvig Letters Sans"/>
                <a:ea typeface="Hedvig Letters Sans"/>
              </a:rPr>
              <a:t>Ottimizzazione Parallela per</a:t>
            </a:r>
            <a:endParaRPr b="0" lang="it-IT" sz="4500" spc="-1" strike="noStrike">
              <a:solidFill>
                <a:srgbClr val="000000"/>
              </a:solidFill>
              <a:latin typeface="Arial"/>
            </a:endParaRPr>
          </a:p>
          <a:p>
            <a:pPr>
              <a:lnSpc>
                <a:spcPct val="100000"/>
              </a:lnSpc>
            </a:pPr>
            <a:r>
              <a:rPr b="1" lang="en-US" sz="4500" spc="-1" strike="noStrike">
                <a:solidFill>
                  <a:srgbClr val="eceff4"/>
                </a:solidFill>
                <a:latin typeface="Hedvig Letters Sans"/>
                <a:ea typeface="Hedvig Letters Sans"/>
              </a:rPr>
              <a:t>Pattern Matching SAD</a:t>
            </a:r>
            <a:endParaRPr b="0" lang="it-IT" sz="4500" spc="-1" strike="noStrike">
              <a:solidFill>
                <a:srgbClr val="000000"/>
              </a:solidFill>
              <a:latin typeface="Arial"/>
            </a:endParaRPr>
          </a:p>
        </p:txBody>
      </p:sp>
      <p:sp>
        <p:nvSpPr>
          <p:cNvPr id="13" name="Text 4"/>
          <p:cNvSpPr/>
          <p:nvPr/>
        </p:nvSpPr>
        <p:spPr>
          <a:xfrm>
            <a:off x="380880" y="3764880"/>
            <a:ext cx="8648280" cy="74268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800" spc="-1" strike="noStrike">
                <a:solidFill>
                  <a:srgbClr val="eceff4">
                    <a:alpha val="80000"/>
                  </a:srgbClr>
                </a:solidFill>
                <a:latin typeface="Quattrocento Sans"/>
                <a:ea typeface="Quattrocento Sans"/>
              </a:rPr>
              <a:t>Accelerazione di algoritmi di pattern matching su serie temporali IoT</a:t>
            </a:r>
            <a:endParaRPr b="0" lang="it-IT" sz="1800" spc="-1" strike="noStrike">
              <a:solidFill>
                <a:srgbClr val="000000"/>
              </a:solidFill>
              <a:latin typeface="Arial"/>
            </a:endParaRPr>
          </a:p>
          <a:p>
            <a:pPr>
              <a:lnSpc>
                <a:spcPct val="140000"/>
              </a:lnSpc>
            </a:pPr>
            <a:r>
              <a:rPr b="0" lang="en-US" sz="1800" spc="-1" strike="noStrike">
                <a:solidFill>
                  <a:srgbClr val="eceff4">
                    <a:alpha val="80000"/>
                  </a:srgbClr>
                </a:solidFill>
                <a:latin typeface="Quattrocento Sans"/>
                <a:ea typeface="Quattrocento Sans"/>
              </a:rPr>
              <a:t>con OpenMP e vettorizzazione SIMD</a:t>
            </a:r>
            <a:endParaRPr b="0" lang="it-IT" sz="1800" spc="-1" strike="noStrike">
              <a:solidFill>
                <a:srgbClr val="000000"/>
              </a:solidFill>
              <a:latin typeface="Arial"/>
            </a:endParaRPr>
          </a:p>
        </p:txBody>
      </p:sp>
      <p:sp>
        <p:nvSpPr>
          <p:cNvPr id="14" name="Shape 5"/>
          <p:cNvSpPr/>
          <p:nvPr/>
        </p:nvSpPr>
        <p:spPr>
          <a:xfrm>
            <a:off x="384480" y="5628240"/>
            <a:ext cx="3597480" cy="844920"/>
          </a:xfrm>
          <a:custGeom>
            <a:avLst/>
            <a:gdLst>
              <a:gd name="textAreaLeft" fmla="*/ 0 w 3597480"/>
              <a:gd name="textAreaRight" fmla="*/ 3597840 w 3597480"/>
              <a:gd name="textAreaTop" fmla="*/ 0 h 844920"/>
              <a:gd name="textAreaBottom" fmla="*/ 845280 h 844920"/>
            </a:gdLst>
            <a:ahLst/>
            <a:rect l="textAreaLeft" t="textAreaTop" r="textAreaRight" b="textAreaBottom"/>
            <a:pathLst>
              <a:path w="3597852" h="845127">
                <a:moveTo>
                  <a:pt x="76197" y="0"/>
                </a:moveTo>
                <a:lnTo>
                  <a:pt x="3521656" y="0"/>
                </a:lnTo>
                <a:cubicBezTo>
                  <a:pt x="3563738" y="0"/>
                  <a:pt x="3597852" y="34114"/>
                  <a:pt x="3597852" y="76197"/>
                </a:cubicBezTo>
                <a:lnTo>
                  <a:pt x="3597852" y="768931"/>
                </a:lnTo>
                <a:cubicBezTo>
                  <a:pt x="3597852" y="811013"/>
                  <a:pt x="3563738" y="845127"/>
                  <a:pt x="3521656" y="845127"/>
                </a:cubicBezTo>
                <a:lnTo>
                  <a:pt x="76197" y="845127"/>
                </a:lnTo>
                <a:cubicBezTo>
                  <a:pt x="34114" y="845127"/>
                  <a:pt x="0" y="811013"/>
                  <a:pt x="0" y="768931"/>
                </a:cubicBezTo>
                <a:lnTo>
                  <a:pt x="0" y="76197"/>
                </a:lnTo>
                <a:cubicBezTo>
                  <a:pt x="0" y="34143"/>
                  <a:pt x="34143" y="0"/>
                  <a:pt x="76197" y="0"/>
                </a:cubicBezTo>
                <a:close/>
              </a:path>
            </a:pathLst>
          </a:custGeom>
          <a:solidFill>
            <a:srgbClr val="eceff4">
              <a:alpha val="10000"/>
            </a:srgbClr>
          </a:solidFill>
          <a:ln w="9236">
            <a:solidFill>
              <a:srgbClr val="eceff4">
                <a:alpha val="2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5" name="Text 6"/>
          <p:cNvSpPr/>
          <p:nvPr/>
        </p:nvSpPr>
        <p:spPr>
          <a:xfrm>
            <a:off x="540360" y="5784120"/>
            <a:ext cx="33620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eceff4">
                    <a:alpha val="60000"/>
                  </a:srgbClr>
                </a:solidFill>
                <a:latin typeface="Quattrocento Sans"/>
                <a:ea typeface="Quattrocento Sans"/>
              </a:rPr>
              <a:t>Studente</a:t>
            </a:r>
            <a:endParaRPr b="0" lang="it-IT" sz="1200" spc="-1" strike="noStrike">
              <a:solidFill>
                <a:srgbClr val="000000"/>
              </a:solidFill>
              <a:latin typeface="Arial"/>
            </a:endParaRPr>
          </a:p>
        </p:txBody>
      </p:sp>
      <p:sp>
        <p:nvSpPr>
          <p:cNvPr id="16" name="Text 7"/>
          <p:cNvSpPr/>
          <p:nvPr/>
        </p:nvSpPr>
        <p:spPr>
          <a:xfrm>
            <a:off x="540360" y="6050880"/>
            <a:ext cx="3381120" cy="26640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500" spc="-1" strike="noStrike">
                <a:solidFill>
                  <a:srgbClr val="eceff4"/>
                </a:solidFill>
                <a:latin typeface="Quattrocento Sans"/>
                <a:ea typeface="Quattrocento Sans"/>
              </a:rPr>
              <a:t>Imene FADHLI</a:t>
            </a:r>
            <a:endParaRPr b="0" lang="it-IT" sz="1500" spc="-1" strike="noStrike">
              <a:solidFill>
                <a:srgbClr val="000000"/>
              </a:solidFill>
              <a:latin typeface="Arial"/>
            </a:endParaRPr>
          </a:p>
        </p:txBody>
      </p:sp>
      <p:sp>
        <p:nvSpPr>
          <p:cNvPr id="17" name="Shape 8"/>
          <p:cNvSpPr/>
          <p:nvPr/>
        </p:nvSpPr>
        <p:spPr>
          <a:xfrm>
            <a:off x="4295880" y="5628240"/>
            <a:ext cx="3597480" cy="844920"/>
          </a:xfrm>
          <a:custGeom>
            <a:avLst/>
            <a:gdLst>
              <a:gd name="textAreaLeft" fmla="*/ 0 w 3597480"/>
              <a:gd name="textAreaRight" fmla="*/ 3597840 w 3597480"/>
              <a:gd name="textAreaTop" fmla="*/ 0 h 844920"/>
              <a:gd name="textAreaBottom" fmla="*/ 845280 h 844920"/>
            </a:gdLst>
            <a:ahLst/>
            <a:rect l="textAreaLeft" t="textAreaTop" r="textAreaRight" b="textAreaBottom"/>
            <a:pathLst>
              <a:path w="3597852" h="845127">
                <a:moveTo>
                  <a:pt x="76197" y="0"/>
                </a:moveTo>
                <a:lnTo>
                  <a:pt x="3521656" y="0"/>
                </a:lnTo>
                <a:cubicBezTo>
                  <a:pt x="3563738" y="0"/>
                  <a:pt x="3597852" y="34114"/>
                  <a:pt x="3597852" y="76197"/>
                </a:cubicBezTo>
                <a:lnTo>
                  <a:pt x="3597852" y="768931"/>
                </a:lnTo>
                <a:cubicBezTo>
                  <a:pt x="3597852" y="811013"/>
                  <a:pt x="3563738" y="845127"/>
                  <a:pt x="3521656" y="845127"/>
                </a:cubicBezTo>
                <a:lnTo>
                  <a:pt x="76197" y="845127"/>
                </a:lnTo>
                <a:cubicBezTo>
                  <a:pt x="34114" y="845127"/>
                  <a:pt x="0" y="811013"/>
                  <a:pt x="0" y="768931"/>
                </a:cubicBezTo>
                <a:lnTo>
                  <a:pt x="0" y="76197"/>
                </a:lnTo>
                <a:cubicBezTo>
                  <a:pt x="0" y="34143"/>
                  <a:pt x="34143" y="0"/>
                  <a:pt x="76197" y="0"/>
                </a:cubicBezTo>
                <a:close/>
              </a:path>
            </a:pathLst>
          </a:custGeom>
          <a:solidFill>
            <a:srgbClr val="eceff4">
              <a:alpha val="10000"/>
            </a:srgbClr>
          </a:solidFill>
          <a:ln w="9236">
            <a:solidFill>
              <a:srgbClr val="eceff4">
                <a:alpha val="2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8" name="Text 9"/>
          <p:cNvSpPr/>
          <p:nvPr/>
        </p:nvSpPr>
        <p:spPr>
          <a:xfrm>
            <a:off x="4451760" y="5784120"/>
            <a:ext cx="33620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eceff4">
                    <a:alpha val="60000"/>
                  </a:srgbClr>
                </a:solidFill>
                <a:latin typeface="Quattrocento Sans"/>
                <a:ea typeface="Quattrocento Sans"/>
              </a:rPr>
              <a:t>Corso</a:t>
            </a:r>
            <a:endParaRPr b="0" lang="it-IT" sz="1200" spc="-1" strike="noStrike">
              <a:solidFill>
                <a:srgbClr val="000000"/>
              </a:solidFill>
              <a:latin typeface="Arial"/>
            </a:endParaRPr>
          </a:p>
        </p:txBody>
      </p:sp>
      <p:sp>
        <p:nvSpPr>
          <p:cNvPr id="19" name="Text 10"/>
          <p:cNvSpPr/>
          <p:nvPr/>
        </p:nvSpPr>
        <p:spPr>
          <a:xfrm>
            <a:off x="4451760" y="6050880"/>
            <a:ext cx="3381120" cy="26640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500" spc="-1" strike="noStrike">
                <a:solidFill>
                  <a:srgbClr val="eceff4"/>
                </a:solidFill>
                <a:latin typeface="Quattrocento Sans"/>
                <a:ea typeface="Quattrocento Sans"/>
              </a:rPr>
              <a:t>Parallel Computing</a:t>
            </a:r>
            <a:endParaRPr b="0" lang="it-IT" sz="1500" spc="-1" strike="noStrike">
              <a:solidFill>
                <a:srgbClr val="000000"/>
              </a:solidFill>
              <a:latin typeface="Arial"/>
            </a:endParaRPr>
          </a:p>
        </p:txBody>
      </p:sp>
      <p:sp>
        <p:nvSpPr>
          <p:cNvPr id="20" name="Shape 11"/>
          <p:cNvSpPr/>
          <p:nvPr/>
        </p:nvSpPr>
        <p:spPr>
          <a:xfrm>
            <a:off x="8207640" y="5628240"/>
            <a:ext cx="3597480" cy="844920"/>
          </a:xfrm>
          <a:custGeom>
            <a:avLst/>
            <a:gdLst>
              <a:gd name="textAreaLeft" fmla="*/ 0 w 3597480"/>
              <a:gd name="textAreaRight" fmla="*/ 3597840 w 3597480"/>
              <a:gd name="textAreaTop" fmla="*/ 0 h 844920"/>
              <a:gd name="textAreaBottom" fmla="*/ 845280 h 844920"/>
            </a:gdLst>
            <a:ahLst/>
            <a:rect l="textAreaLeft" t="textAreaTop" r="textAreaRight" b="textAreaBottom"/>
            <a:pathLst>
              <a:path w="3597852" h="845127">
                <a:moveTo>
                  <a:pt x="76197" y="0"/>
                </a:moveTo>
                <a:lnTo>
                  <a:pt x="3521656" y="0"/>
                </a:lnTo>
                <a:cubicBezTo>
                  <a:pt x="3563738" y="0"/>
                  <a:pt x="3597852" y="34114"/>
                  <a:pt x="3597852" y="76197"/>
                </a:cubicBezTo>
                <a:lnTo>
                  <a:pt x="3597852" y="768931"/>
                </a:lnTo>
                <a:cubicBezTo>
                  <a:pt x="3597852" y="811013"/>
                  <a:pt x="3563738" y="845127"/>
                  <a:pt x="3521656" y="845127"/>
                </a:cubicBezTo>
                <a:lnTo>
                  <a:pt x="76197" y="845127"/>
                </a:lnTo>
                <a:cubicBezTo>
                  <a:pt x="34114" y="845127"/>
                  <a:pt x="0" y="811013"/>
                  <a:pt x="0" y="768931"/>
                </a:cubicBezTo>
                <a:lnTo>
                  <a:pt x="0" y="76197"/>
                </a:lnTo>
                <a:cubicBezTo>
                  <a:pt x="0" y="34143"/>
                  <a:pt x="34143" y="0"/>
                  <a:pt x="76197" y="0"/>
                </a:cubicBezTo>
                <a:close/>
              </a:path>
            </a:pathLst>
          </a:custGeom>
          <a:solidFill>
            <a:srgbClr val="eceff4">
              <a:alpha val="10000"/>
            </a:srgbClr>
          </a:solidFill>
          <a:ln w="9236">
            <a:solidFill>
              <a:srgbClr val="eceff4">
                <a:alpha val="2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1" name="Text 12"/>
          <p:cNvSpPr/>
          <p:nvPr/>
        </p:nvSpPr>
        <p:spPr>
          <a:xfrm>
            <a:off x="8363520" y="5784120"/>
            <a:ext cx="33620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eceff4">
                    <a:alpha val="60000"/>
                  </a:srgbClr>
                </a:solidFill>
                <a:latin typeface="Quattrocento Sans"/>
                <a:ea typeface="Quattrocento Sans"/>
              </a:rPr>
              <a:t>Data</a:t>
            </a:r>
            <a:endParaRPr b="0" lang="it-IT" sz="1200" spc="-1" strike="noStrike">
              <a:solidFill>
                <a:srgbClr val="000000"/>
              </a:solidFill>
              <a:latin typeface="Arial"/>
            </a:endParaRPr>
          </a:p>
        </p:txBody>
      </p:sp>
      <p:sp>
        <p:nvSpPr>
          <p:cNvPr id="22" name="Text 13"/>
          <p:cNvSpPr/>
          <p:nvPr/>
        </p:nvSpPr>
        <p:spPr>
          <a:xfrm>
            <a:off x="8363520" y="6050880"/>
            <a:ext cx="3381120" cy="26640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500" spc="-1" strike="noStrike">
                <a:solidFill>
                  <a:srgbClr val="eceff4"/>
                </a:solidFill>
                <a:latin typeface="Quattrocento Sans"/>
                <a:ea typeface="Quattrocento Sans"/>
              </a:rPr>
              <a:t>20 Gennaio 2026</a:t>
            </a:r>
            <a:endParaRPr b="0" lang="it-IT" sz="1500" spc="-1" strike="noStrike">
              <a:solidFill>
                <a:srgbClr val="000000"/>
              </a:solidFill>
              <a:latin typeface="Arial"/>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23"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17" strike="noStrike">
                <a:solidFill>
                  <a:srgbClr val="5e81ac"/>
                </a:solidFill>
                <a:latin typeface="Quattrocento Sans"/>
                <a:ea typeface="Quattrocento Sans"/>
              </a:rPr>
              <a:t>Contesto</a:t>
            </a:r>
            <a:endParaRPr b="0" lang="it-IT" sz="1200" spc="-1" strike="noStrike">
              <a:solidFill>
                <a:srgbClr val="000000"/>
              </a:solidFill>
              <a:latin typeface="Arial"/>
            </a:endParaRPr>
          </a:p>
        </p:txBody>
      </p:sp>
      <p:sp>
        <p:nvSpPr>
          <p:cNvPr id="24"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600" spc="-1" strike="noStrike">
                <a:solidFill>
                  <a:srgbClr val="2e3440"/>
                </a:solidFill>
                <a:latin typeface="Liter"/>
                <a:ea typeface="Liter"/>
              </a:rPr>
              <a:t>Contesto e Motivazione</a:t>
            </a:r>
            <a:endParaRPr b="0" lang="it-IT" sz="3600" spc="-1" strike="noStrike">
              <a:solidFill>
                <a:srgbClr val="000000"/>
              </a:solidFill>
              <a:latin typeface="Arial"/>
            </a:endParaRPr>
          </a:p>
        </p:txBody>
      </p:sp>
      <p:sp>
        <p:nvSpPr>
          <p:cNvPr id="25" name="Shape 2"/>
          <p:cNvSpPr/>
          <p:nvPr/>
        </p:nvSpPr>
        <p:spPr>
          <a:xfrm>
            <a:off x="398160" y="1371600"/>
            <a:ext cx="5579640" cy="1866600"/>
          </a:xfrm>
          <a:custGeom>
            <a:avLst/>
            <a:gdLst>
              <a:gd name="textAreaLeft" fmla="*/ 0 w 5579640"/>
              <a:gd name="textAreaRight" fmla="*/ 5580000 w 5579640"/>
              <a:gd name="textAreaTop" fmla="*/ 0 h 1866600"/>
              <a:gd name="textAreaBottom" fmla="*/ 1866960 h 1866600"/>
            </a:gdLst>
            <a:ahLst/>
            <a:rect l="textAreaLeft" t="textAreaTop" r="textAreaRight" b="textAreaBottom"/>
            <a:pathLst>
              <a:path w="5579918" h="1866900">
                <a:moveTo>
                  <a:pt x="34636" y="0"/>
                </a:moveTo>
                <a:lnTo>
                  <a:pt x="5503711" y="0"/>
                </a:lnTo>
                <a:cubicBezTo>
                  <a:pt x="5545799" y="0"/>
                  <a:pt x="5579918" y="34119"/>
                  <a:pt x="5579918" y="76207"/>
                </a:cubicBezTo>
                <a:lnTo>
                  <a:pt x="5579918" y="1790693"/>
                </a:lnTo>
                <a:cubicBezTo>
                  <a:pt x="5579918" y="1832781"/>
                  <a:pt x="5545799" y="1866900"/>
                  <a:pt x="5503711" y="1866900"/>
                </a:cubicBezTo>
                <a:lnTo>
                  <a:pt x="34636" y="1866900"/>
                </a:lnTo>
                <a:cubicBezTo>
                  <a:pt x="15507" y="1866900"/>
                  <a:pt x="0" y="1851393"/>
                  <a:pt x="0" y="1832264"/>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6" name="Shape 3"/>
          <p:cNvSpPr/>
          <p:nvPr/>
        </p:nvSpPr>
        <p:spPr>
          <a:xfrm>
            <a:off x="398160" y="1371600"/>
            <a:ext cx="34200" cy="1866600"/>
          </a:xfrm>
          <a:custGeom>
            <a:avLst/>
            <a:gdLst>
              <a:gd name="textAreaLeft" fmla="*/ 0 w 34200"/>
              <a:gd name="textAreaRight" fmla="*/ 34560 w 34200"/>
              <a:gd name="textAreaTop" fmla="*/ 0 h 1866600"/>
              <a:gd name="textAreaBottom" fmla="*/ 1866960 h 1866600"/>
            </a:gdLst>
            <a:ahLst/>
            <a:rect l="textAreaLeft" t="textAreaTop" r="textAreaRight" b="textAreaBottom"/>
            <a:pathLst>
              <a:path w="34636" h="1866900">
                <a:moveTo>
                  <a:pt x="34636" y="0"/>
                </a:moveTo>
                <a:lnTo>
                  <a:pt x="34636" y="0"/>
                </a:lnTo>
                <a:lnTo>
                  <a:pt x="34636" y="1866900"/>
                </a:lnTo>
                <a:lnTo>
                  <a:pt x="34636" y="1866900"/>
                </a:lnTo>
                <a:cubicBezTo>
                  <a:pt x="15507" y="1866900"/>
                  <a:pt x="0" y="1851393"/>
                  <a:pt x="0" y="1832264"/>
                </a:cubicBez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7" name="Shape 4"/>
          <p:cNvSpPr/>
          <p:nvPr/>
        </p:nvSpPr>
        <p:spPr>
          <a:xfrm>
            <a:off x="644400" y="1600200"/>
            <a:ext cx="456840" cy="456840"/>
          </a:xfrm>
          <a:custGeom>
            <a:avLst/>
            <a:gdLst>
              <a:gd name="textAreaLeft" fmla="*/ 0 w 456840"/>
              <a:gd name="textAreaRight" fmla="*/ 457200 w 456840"/>
              <a:gd name="textAreaTop" fmla="*/ 0 h 456840"/>
              <a:gd name="textAreaBottom" fmla="*/ 457200 h 456840"/>
            </a:gdLst>
            <a:ahLst/>
            <a:rect l="textAreaLeft" t="textAreaTop" r="textAreaRight" b="textAreaBottom"/>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8" name="Shape 5"/>
          <p:cNvSpPr/>
          <p:nvPr/>
        </p:nvSpPr>
        <p:spPr>
          <a:xfrm>
            <a:off x="777600" y="173340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9" name="Text 6"/>
          <p:cNvSpPr/>
          <p:nvPr/>
        </p:nvSpPr>
        <p:spPr>
          <a:xfrm>
            <a:off x="1253880" y="1600200"/>
            <a:ext cx="460980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2e3440"/>
                </a:solidFill>
                <a:latin typeface="Liter"/>
                <a:ea typeface="Liter"/>
              </a:rPr>
              <a:t>Il Problema</a:t>
            </a:r>
            <a:endParaRPr b="0" lang="it-IT" sz="1800" spc="-1" strike="noStrike">
              <a:solidFill>
                <a:srgbClr val="000000"/>
              </a:solidFill>
              <a:latin typeface="Arial"/>
            </a:endParaRPr>
          </a:p>
        </p:txBody>
      </p:sp>
      <p:sp>
        <p:nvSpPr>
          <p:cNvPr id="30" name="Text 7"/>
          <p:cNvSpPr/>
          <p:nvPr/>
        </p:nvSpPr>
        <p:spPr>
          <a:xfrm>
            <a:off x="1253880" y="2019240"/>
            <a:ext cx="4571640" cy="99036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200" spc="-1" strike="noStrike">
                <a:solidFill>
                  <a:srgbClr val="2e3440"/>
                </a:solidFill>
                <a:latin typeface="Quattrocento Sans"/>
                <a:ea typeface="Quattrocento Sans"/>
              </a:rPr>
              <a:t>L'analisi di </a:t>
            </a:r>
            <a:r>
              <a:rPr b="1" lang="en-US" sz="1200" spc="-1" strike="noStrike">
                <a:solidFill>
                  <a:srgbClr val="2e3440"/>
                </a:solidFill>
                <a:latin typeface="Quattrocento Sans"/>
                <a:ea typeface="Quattrocento Sans"/>
              </a:rPr>
              <a:t>grandi volumi di dati</a:t>
            </a:r>
            <a:r>
              <a:rPr b="0" lang="en-US" sz="1200" spc="-1" strike="noStrike">
                <a:solidFill>
                  <a:srgbClr val="2e3440"/>
                </a:solidFill>
                <a:latin typeface="Quattrocento Sans"/>
                <a:ea typeface="Quattrocento Sans"/>
              </a:rPr>
              <a:t> da sensori IoT richiede algoritmi efficienti per fornire risposte in tempi ridotti. La ricerca di pattern specifici nelle serie temporali è un'operazione computazionalmente onerosa.</a:t>
            </a:r>
            <a:endParaRPr b="0" lang="it-IT" sz="1200" spc="-1" strike="noStrike">
              <a:solidFill>
                <a:srgbClr val="000000"/>
              </a:solidFill>
              <a:latin typeface="Arial"/>
            </a:endParaRPr>
          </a:p>
        </p:txBody>
      </p:sp>
      <p:sp>
        <p:nvSpPr>
          <p:cNvPr id="31" name="Shape 8"/>
          <p:cNvSpPr/>
          <p:nvPr/>
        </p:nvSpPr>
        <p:spPr>
          <a:xfrm>
            <a:off x="398160" y="3390840"/>
            <a:ext cx="5579640" cy="1618920"/>
          </a:xfrm>
          <a:custGeom>
            <a:avLst/>
            <a:gdLst>
              <a:gd name="textAreaLeft" fmla="*/ 0 w 5579640"/>
              <a:gd name="textAreaRight" fmla="*/ 5580000 w 5579640"/>
              <a:gd name="textAreaTop" fmla="*/ 0 h 1618920"/>
              <a:gd name="textAreaBottom" fmla="*/ 1619280 h 1618920"/>
            </a:gdLst>
            <a:ahLst/>
            <a:rect l="textAreaLeft" t="textAreaTop" r="textAreaRight" b="textAreaBottom"/>
            <a:pathLst>
              <a:path w="5579918" h="1619250">
                <a:moveTo>
                  <a:pt x="34636" y="0"/>
                </a:moveTo>
                <a:lnTo>
                  <a:pt x="5503716" y="0"/>
                </a:lnTo>
                <a:cubicBezTo>
                  <a:pt x="5545801" y="0"/>
                  <a:pt x="5579918" y="34117"/>
                  <a:pt x="5579918" y="76202"/>
                </a:cubicBezTo>
                <a:lnTo>
                  <a:pt x="5579918" y="1543048"/>
                </a:lnTo>
                <a:cubicBezTo>
                  <a:pt x="5579918" y="1585133"/>
                  <a:pt x="5545801" y="1619250"/>
                  <a:pt x="5503716" y="1619250"/>
                </a:cubicBezTo>
                <a:lnTo>
                  <a:pt x="34636" y="1619250"/>
                </a:lnTo>
                <a:cubicBezTo>
                  <a:pt x="15507" y="1619250"/>
                  <a:pt x="0" y="1603743"/>
                  <a:pt x="0" y="1584614"/>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2" name="Shape 9"/>
          <p:cNvSpPr/>
          <p:nvPr/>
        </p:nvSpPr>
        <p:spPr>
          <a:xfrm>
            <a:off x="398160" y="3390840"/>
            <a:ext cx="34200" cy="1618920"/>
          </a:xfrm>
          <a:custGeom>
            <a:avLst/>
            <a:gdLst>
              <a:gd name="textAreaLeft" fmla="*/ 0 w 34200"/>
              <a:gd name="textAreaRight" fmla="*/ 34560 w 34200"/>
              <a:gd name="textAreaTop" fmla="*/ 0 h 1618920"/>
              <a:gd name="textAreaBottom" fmla="*/ 1619280 h 1618920"/>
            </a:gdLst>
            <a:ahLst/>
            <a:rect l="textAreaLeft" t="textAreaTop" r="textAreaRight" b="textAreaBottom"/>
            <a:pathLst>
              <a:path w="34636" h="1619250">
                <a:moveTo>
                  <a:pt x="34636" y="0"/>
                </a:moveTo>
                <a:lnTo>
                  <a:pt x="34636" y="0"/>
                </a:lnTo>
                <a:lnTo>
                  <a:pt x="34636" y="1619250"/>
                </a:lnTo>
                <a:lnTo>
                  <a:pt x="34636" y="1619250"/>
                </a:lnTo>
                <a:cubicBezTo>
                  <a:pt x="15507" y="1619250"/>
                  <a:pt x="0" y="1603743"/>
                  <a:pt x="0" y="158461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3" name="Shape 10"/>
          <p:cNvSpPr/>
          <p:nvPr/>
        </p:nvSpPr>
        <p:spPr>
          <a:xfrm>
            <a:off x="644400" y="3619440"/>
            <a:ext cx="456840" cy="456840"/>
          </a:xfrm>
          <a:custGeom>
            <a:avLst/>
            <a:gdLst>
              <a:gd name="textAreaLeft" fmla="*/ 0 w 456840"/>
              <a:gd name="textAreaRight" fmla="*/ 457200 w 456840"/>
              <a:gd name="textAreaTop" fmla="*/ 0 h 456840"/>
              <a:gd name="textAreaBottom" fmla="*/ 457200 h 456840"/>
            </a:gdLst>
            <a:ahLst/>
            <a:rect l="textAreaLeft" t="textAreaTop" r="textAreaRight" b="textAreaBottom"/>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4" name="Shape 11"/>
          <p:cNvSpPr/>
          <p:nvPr/>
        </p:nvSpPr>
        <p:spPr>
          <a:xfrm>
            <a:off x="777600" y="375300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190500" h="190500">
                <a:moveTo>
                  <a:pt x="65484" y="8930"/>
                </a:moveTo>
                <a:cubicBezTo>
                  <a:pt x="65484" y="3981"/>
                  <a:pt x="61503" y="0"/>
                  <a:pt x="56555" y="0"/>
                </a:cubicBezTo>
                <a:cubicBezTo>
                  <a:pt x="51606" y="0"/>
                  <a:pt x="47625" y="3981"/>
                  <a:pt x="47625" y="8930"/>
                </a:cubicBezTo>
                <a:lnTo>
                  <a:pt x="47625" y="23812"/>
                </a:lnTo>
                <a:cubicBezTo>
                  <a:pt x="34491" y="23812"/>
                  <a:pt x="23812" y="34491"/>
                  <a:pt x="23812" y="47625"/>
                </a:cubicBezTo>
                <a:lnTo>
                  <a:pt x="8930" y="47625"/>
                </a:lnTo>
                <a:cubicBezTo>
                  <a:pt x="3981" y="47625"/>
                  <a:pt x="0" y="51606"/>
                  <a:pt x="0" y="56555"/>
                </a:cubicBezTo>
                <a:cubicBezTo>
                  <a:pt x="0" y="61503"/>
                  <a:pt x="3981" y="65484"/>
                  <a:pt x="8930" y="65484"/>
                </a:cubicBezTo>
                <a:lnTo>
                  <a:pt x="23812" y="65484"/>
                </a:lnTo>
                <a:lnTo>
                  <a:pt x="23812" y="86320"/>
                </a:lnTo>
                <a:lnTo>
                  <a:pt x="8930" y="86320"/>
                </a:lnTo>
                <a:cubicBezTo>
                  <a:pt x="3981" y="86320"/>
                  <a:pt x="0" y="90301"/>
                  <a:pt x="0" y="95250"/>
                </a:cubicBezTo>
                <a:cubicBezTo>
                  <a:pt x="0" y="100199"/>
                  <a:pt x="3981" y="104180"/>
                  <a:pt x="8930" y="104180"/>
                </a:cubicBezTo>
                <a:lnTo>
                  <a:pt x="23812" y="104180"/>
                </a:lnTo>
                <a:lnTo>
                  <a:pt x="23812" y="125016"/>
                </a:lnTo>
                <a:lnTo>
                  <a:pt x="8930" y="125016"/>
                </a:lnTo>
                <a:cubicBezTo>
                  <a:pt x="3981" y="125016"/>
                  <a:pt x="0" y="128997"/>
                  <a:pt x="0" y="133945"/>
                </a:cubicBezTo>
                <a:cubicBezTo>
                  <a:pt x="0" y="138894"/>
                  <a:pt x="3981" y="142875"/>
                  <a:pt x="8930" y="142875"/>
                </a:cubicBezTo>
                <a:lnTo>
                  <a:pt x="23812" y="142875"/>
                </a:lnTo>
                <a:cubicBezTo>
                  <a:pt x="23812" y="156009"/>
                  <a:pt x="34491" y="166688"/>
                  <a:pt x="47625" y="166688"/>
                </a:cubicBezTo>
                <a:lnTo>
                  <a:pt x="47625" y="181570"/>
                </a:lnTo>
                <a:cubicBezTo>
                  <a:pt x="47625" y="186519"/>
                  <a:pt x="51606" y="190500"/>
                  <a:pt x="56555" y="190500"/>
                </a:cubicBezTo>
                <a:cubicBezTo>
                  <a:pt x="61503" y="190500"/>
                  <a:pt x="65484" y="186519"/>
                  <a:pt x="65484" y="181570"/>
                </a:cubicBezTo>
                <a:lnTo>
                  <a:pt x="65484" y="166688"/>
                </a:lnTo>
                <a:lnTo>
                  <a:pt x="86320" y="166688"/>
                </a:lnTo>
                <a:lnTo>
                  <a:pt x="86320" y="181570"/>
                </a:lnTo>
                <a:cubicBezTo>
                  <a:pt x="86320" y="186519"/>
                  <a:pt x="90301" y="190500"/>
                  <a:pt x="95250" y="190500"/>
                </a:cubicBezTo>
                <a:cubicBezTo>
                  <a:pt x="100199" y="190500"/>
                  <a:pt x="104180" y="186519"/>
                  <a:pt x="104180" y="181570"/>
                </a:cubicBezTo>
                <a:lnTo>
                  <a:pt x="104180" y="166688"/>
                </a:lnTo>
                <a:lnTo>
                  <a:pt x="125016" y="166688"/>
                </a:lnTo>
                <a:lnTo>
                  <a:pt x="125016" y="181570"/>
                </a:lnTo>
                <a:cubicBezTo>
                  <a:pt x="125016" y="186519"/>
                  <a:pt x="128997" y="190500"/>
                  <a:pt x="133945" y="190500"/>
                </a:cubicBezTo>
                <a:cubicBezTo>
                  <a:pt x="138894" y="190500"/>
                  <a:pt x="142875" y="186519"/>
                  <a:pt x="142875" y="181570"/>
                </a:cubicBezTo>
                <a:lnTo>
                  <a:pt x="142875" y="166688"/>
                </a:lnTo>
                <a:cubicBezTo>
                  <a:pt x="156009" y="166688"/>
                  <a:pt x="166688" y="156009"/>
                  <a:pt x="166688" y="142875"/>
                </a:cubicBezTo>
                <a:lnTo>
                  <a:pt x="181570" y="142875"/>
                </a:lnTo>
                <a:cubicBezTo>
                  <a:pt x="186519" y="142875"/>
                  <a:pt x="190500" y="138894"/>
                  <a:pt x="190500" y="133945"/>
                </a:cubicBezTo>
                <a:cubicBezTo>
                  <a:pt x="190500" y="128997"/>
                  <a:pt x="186519" y="125016"/>
                  <a:pt x="181570" y="125016"/>
                </a:cubicBezTo>
                <a:lnTo>
                  <a:pt x="166688" y="125016"/>
                </a:lnTo>
                <a:lnTo>
                  <a:pt x="166688" y="104180"/>
                </a:lnTo>
                <a:lnTo>
                  <a:pt x="181570" y="104180"/>
                </a:lnTo>
                <a:cubicBezTo>
                  <a:pt x="186519" y="104180"/>
                  <a:pt x="190500" y="100199"/>
                  <a:pt x="190500" y="95250"/>
                </a:cubicBezTo>
                <a:cubicBezTo>
                  <a:pt x="190500" y="90301"/>
                  <a:pt x="186519" y="86320"/>
                  <a:pt x="181570" y="86320"/>
                </a:cubicBezTo>
                <a:lnTo>
                  <a:pt x="166688" y="86320"/>
                </a:lnTo>
                <a:lnTo>
                  <a:pt x="166688" y="65484"/>
                </a:lnTo>
                <a:lnTo>
                  <a:pt x="181570" y="65484"/>
                </a:lnTo>
                <a:cubicBezTo>
                  <a:pt x="186519" y="65484"/>
                  <a:pt x="190500" y="61503"/>
                  <a:pt x="190500" y="56555"/>
                </a:cubicBezTo>
                <a:cubicBezTo>
                  <a:pt x="190500" y="51606"/>
                  <a:pt x="186519" y="47625"/>
                  <a:pt x="181570" y="47625"/>
                </a:cubicBezTo>
                <a:lnTo>
                  <a:pt x="166688" y="47625"/>
                </a:lnTo>
                <a:cubicBezTo>
                  <a:pt x="166688" y="34491"/>
                  <a:pt x="156009" y="23812"/>
                  <a:pt x="142875" y="23812"/>
                </a:cubicBezTo>
                <a:lnTo>
                  <a:pt x="142875" y="8930"/>
                </a:lnTo>
                <a:cubicBezTo>
                  <a:pt x="142875" y="3981"/>
                  <a:pt x="138894" y="0"/>
                  <a:pt x="133945" y="0"/>
                </a:cubicBezTo>
                <a:cubicBezTo>
                  <a:pt x="128997" y="0"/>
                  <a:pt x="125016" y="3981"/>
                  <a:pt x="125016" y="8930"/>
                </a:cubicBezTo>
                <a:lnTo>
                  <a:pt x="125016" y="23812"/>
                </a:lnTo>
                <a:lnTo>
                  <a:pt x="104180" y="23812"/>
                </a:lnTo>
                <a:lnTo>
                  <a:pt x="104180" y="8930"/>
                </a:lnTo>
                <a:cubicBezTo>
                  <a:pt x="104180" y="3981"/>
                  <a:pt x="100199" y="0"/>
                  <a:pt x="95250" y="0"/>
                </a:cubicBezTo>
                <a:cubicBezTo>
                  <a:pt x="90301" y="0"/>
                  <a:pt x="86320" y="3981"/>
                  <a:pt x="86320" y="8930"/>
                </a:cubicBezTo>
                <a:lnTo>
                  <a:pt x="86320" y="23812"/>
                </a:lnTo>
                <a:lnTo>
                  <a:pt x="65484" y="23812"/>
                </a:lnTo>
                <a:lnTo>
                  <a:pt x="65484" y="8930"/>
                </a:lnTo>
                <a:close/>
                <a:moveTo>
                  <a:pt x="59531" y="47625"/>
                </a:moveTo>
                <a:lnTo>
                  <a:pt x="130969" y="47625"/>
                </a:lnTo>
                <a:cubicBezTo>
                  <a:pt x="137554" y="47625"/>
                  <a:pt x="142875" y="52946"/>
                  <a:pt x="142875" y="59531"/>
                </a:cubicBezTo>
                <a:lnTo>
                  <a:pt x="142875" y="130969"/>
                </a:lnTo>
                <a:cubicBezTo>
                  <a:pt x="142875" y="137554"/>
                  <a:pt x="137554" y="142875"/>
                  <a:pt x="130969" y="142875"/>
                </a:cubicBezTo>
                <a:lnTo>
                  <a:pt x="59531" y="142875"/>
                </a:lnTo>
                <a:cubicBezTo>
                  <a:pt x="52946" y="142875"/>
                  <a:pt x="47625" y="137554"/>
                  <a:pt x="47625" y="130969"/>
                </a:cubicBezTo>
                <a:lnTo>
                  <a:pt x="47625" y="59531"/>
                </a:lnTo>
                <a:cubicBezTo>
                  <a:pt x="47625" y="52946"/>
                  <a:pt x="52946" y="47625"/>
                  <a:pt x="59531" y="47625"/>
                </a:cubicBezTo>
                <a:close/>
                <a:moveTo>
                  <a:pt x="65484" y="65484"/>
                </a:moveTo>
                <a:lnTo>
                  <a:pt x="65484" y="125016"/>
                </a:lnTo>
                <a:lnTo>
                  <a:pt x="125016" y="125016"/>
                </a:lnTo>
                <a:lnTo>
                  <a:pt x="125016" y="65484"/>
                </a:lnTo>
                <a:lnTo>
                  <a:pt x="65484" y="65484"/>
                </a:ln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5" name="Text 12"/>
          <p:cNvSpPr/>
          <p:nvPr/>
        </p:nvSpPr>
        <p:spPr>
          <a:xfrm>
            <a:off x="1253880" y="3619440"/>
            <a:ext cx="460980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2e3440"/>
                </a:solidFill>
                <a:latin typeface="Liter"/>
                <a:ea typeface="Liter"/>
              </a:rPr>
              <a:t>Costo Computazionale</a:t>
            </a:r>
            <a:endParaRPr b="0" lang="it-IT" sz="1800" spc="-1" strike="noStrike">
              <a:solidFill>
                <a:srgbClr val="000000"/>
              </a:solidFill>
              <a:latin typeface="Arial"/>
            </a:endParaRPr>
          </a:p>
        </p:txBody>
      </p:sp>
      <p:sp>
        <p:nvSpPr>
          <p:cNvPr id="36" name="Text 13"/>
          <p:cNvSpPr/>
          <p:nvPr/>
        </p:nvSpPr>
        <p:spPr>
          <a:xfrm>
            <a:off x="1253880" y="4038480"/>
            <a:ext cx="4571640" cy="74268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200" spc="-1" strike="noStrike">
                <a:solidFill>
                  <a:srgbClr val="2e3440"/>
                </a:solidFill>
                <a:latin typeface="Quattrocento Sans"/>
                <a:ea typeface="Quattrocento Sans"/>
              </a:rPr>
              <a:t>La complessità è </a:t>
            </a:r>
            <a:r>
              <a:rPr b="1" lang="en-US" sz="1200" spc="-1" strike="noStrike">
                <a:solidFill>
                  <a:srgbClr val="2e3440"/>
                </a:solidFill>
                <a:latin typeface="Quattrocento Sans"/>
                <a:ea typeface="Quattrocento Sans"/>
              </a:rPr>
              <a:t>O(N·M)</a:t>
            </a:r>
            <a:r>
              <a:rPr b="0" lang="en-US" sz="1200" spc="-1" strike="noStrike">
                <a:solidFill>
                  <a:srgbClr val="2e3440"/>
                </a:solidFill>
                <a:latin typeface="Quattrocento Sans"/>
                <a:ea typeface="Quattrocento Sans"/>
              </a:rPr>
              <a:t> dove N è la lunghezza della serie e M la lunghezza del pattern. Ogni confronto richiede M operazioni di sottrazione e valore assoluto.</a:t>
            </a:r>
            <a:endParaRPr b="0" lang="it-IT" sz="1200" spc="-1" strike="noStrike">
              <a:solidFill>
                <a:srgbClr val="000000"/>
              </a:solidFill>
              <a:latin typeface="Arial"/>
            </a:endParaRPr>
          </a:p>
        </p:txBody>
      </p:sp>
      <p:sp>
        <p:nvSpPr>
          <p:cNvPr id="37" name="Shape 14"/>
          <p:cNvSpPr/>
          <p:nvPr/>
        </p:nvSpPr>
        <p:spPr>
          <a:xfrm>
            <a:off x="384480" y="5166000"/>
            <a:ext cx="5597640" cy="768600"/>
          </a:xfrm>
          <a:custGeom>
            <a:avLst/>
            <a:gdLst>
              <a:gd name="textAreaLeft" fmla="*/ 0 w 5597640"/>
              <a:gd name="textAreaRight" fmla="*/ 5598000 w 5597640"/>
              <a:gd name="textAreaTop" fmla="*/ 0 h 768600"/>
              <a:gd name="textAreaBottom" fmla="*/ 768960 h 768600"/>
            </a:gdLst>
            <a:ahLst/>
            <a:rect l="textAreaLeft" t="textAreaTop" r="textAreaRight" b="textAreaBottom"/>
            <a:pathLst>
              <a:path w="5598102" h="768927">
                <a:moveTo>
                  <a:pt x="76201" y="0"/>
                </a:moveTo>
                <a:lnTo>
                  <a:pt x="5521902" y="0"/>
                </a:lnTo>
                <a:cubicBezTo>
                  <a:pt x="5563986" y="0"/>
                  <a:pt x="5598102" y="34116"/>
                  <a:pt x="5598102" y="76201"/>
                </a:cubicBezTo>
                <a:lnTo>
                  <a:pt x="5598102" y="692727"/>
                </a:lnTo>
                <a:cubicBezTo>
                  <a:pt x="5598102" y="734811"/>
                  <a:pt x="5563986" y="768927"/>
                  <a:pt x="5521902" y="768927"/>
                </a:cubicBezTo>
                <a:lnTo>
                  <a:pt x="76201" y="768927"/>
                </a:lnTo>
                <a:cubicBezTo>
                  <a:pt x="34116" y="768927"/>
                  <a:pt x="0" y="734811"/>
                  <a:pt x="0" y="692727"/>
                </a:cubicBezTo>
                <a:lnTo>
                  <a:pt x="0" y="76201"/>
                </a:lnTo>
                <a:cubicBezTo>
                  <a:pt x="0" y="34144"/>
                  <a:pt x="34144" y="0"/>
                  <a:pt x="76201" y="0"/>
                </a:cubicBezTo>
                <a:close/>
              </a:path>
            </a:pathLst>
          </a:custGeom>
          <a:solidFill>
            <a:srgbClr val="88c0d0">
              <a:alpha val="10000"/>
            </a:srgbClr>
          </a:solidFill>
          <a:ln w="9236">
            <a:solidFill>
              <a:srgbClr val="88c0d0">
                <a:alpha val="3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8" name="Text 15"/>
          <p:cNvSpPr/>
          <p:nvPr/>
        </p:nvSpPr>
        <p:spPr>
          <a:xfrm>
            <a:off x="540360" y="5321880"/>
            <a:ext cx="536220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Challenge:</a:t>
            </a:r>
            <a:r>
              <a:rPr b="0" lang="en-US" sz="1200" spc="-1" strike="noStrike">
                <a:solidFill>
                  <a:srgbClr val="2e3440"/>
                </a:solidFill>
                <a:latin typeface="Quattrocento Sans"/>
                <a:ea typeface="Quattrocento Sans"/>
              </a:rPr>
              <a:t> Elaborare milioni di campioni in tempo reale con frequenze di campionamento sempre più elevate.</a:t>
            </a:r>
            <a:endParaRPr b="0" lang="it-IT" sz="1200" spc="-1" strike="noStrike">
              <a:solidFill>
                <a:srgbClr val="000000"/>
              </a:solidFill>
              <a:latin typeface="Arial"/>
            </a:endParaRPr>
          </a:p>
        </p:txBody>
      </p:sp>
      <p:sp>
        <p:nvSpPr>
          <p:cNvPr id="39" name="Shape 16"/>
          <p:cNvSpPr/>
          <p:nvPr/>
        </p:nvSpPr>
        <p:spPr>
          <a:xfrm>
            <a:off x="6210360" y="1371600"/>
            <a:ext cx="5600520" cy="1828440"/>
          </a:xfrm>
          <a:custGeom>
            <a:avLst/>
            <a:gdLst>
              <a:gd name="textAreaLeft" fmla="*/ 0 w 5600520"/>
              <a:gd name="textAreaRight" fmla="*/ 5600880 w 5600520"/>
              <a:gd name="textAreaTop" fmla="*/ 0 h 1828440"/>
              <a:gd name="textAreaBottom" fmla="*/ 1828800 h 1828440"/>
            </a:gdLst>
            <a:ahLst/>
            <a:rect l="textAreaLeft" t="textAreaTop" r="textAreaRight" b="textAreaBottom"/>
            <a:pathLst>
              <a:path w="5600700" h="1828800">
                <a:moveTo>
                  <a:pt x="76206" y="0"/>
                </a:moveTo>
                <a:lnTo>
                  <a:pt x="5524494" y="0"/>
                </a:lnTo>
                <a:cubicBezTo>
                  <a:pt x="5566581" y="0"/>
                  <a:pt x="5600700" y="34119"/>
                  <a:pt x="5600700" y="76206"/>
                </a:cubicBezTo>
                <a:lnTo>
                  <a:pt x="5600700" y="1752594"/>
                </a:lnTo>
                <a:cubicBezTo>
                  <a:pt x="5600700" y="1794681"/>
                  <a:pt x="5566581" y="1828800"/>
                  <a:pt x="5524494" y="1828800"/>
                </a:cubicBezTo>
                <a:lnTo>
                  <a:pt x="76206" y="1828800"/>
                </a:lnTo>
                <a:cubicBezTo>
                  <a:pt x="34119" y="1828800"/>
                  <a:pt x="0" y="1794681"/>
                  <a:pt x="0" y="1752594"/>
                </a:cubicBezTo>
                <a:lnTo>
                  <a:pt x="0" y="76206"/>
                </a:lnTo>
                <a:cubicBezTo>
                  <a:pt x="0" y="34147"/>
                  <a:pt x="34147" y="0"/>
                  <a:pt x="76206" y="0"/>
                </a:cubicBezTo>
                <a:close/>
              </a:path>
            </a:pathLst>
          </a:custGeom>
          <a:gradFill rotWithShape="0">
            <a:gsLst>
              <a:gs pos="0">
                <a:srgbClr val="5e81ac"/>
              </a:gs>
              <a:gs pos="100000">
                <a:srgbClr val="88c0d0"/>
              </a:gs>
            </a:gsLst>
            <a:lin ang="2700000"/>
          </a:gradFill>
          <a:ln w="0">
            <a:noFill/>
          </a:ln>
          <a:effectLst>
            <a:outerShdw algn="bl" blurRad="142920" dir="5400000" dist="9540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0" name="Text 17"/>
          <p:cNvSpPr/>
          <p:nvPr/>
        </p:nvSpPr>
        <p:spPr>
          <a:xfrm>
            <a:off x="6438960" y="1600200"/>
            <a:ext cx="525744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ffffff"/>
                </a:solidFill>
                <a:latin typeface="Liter"/>
                <a:ea typeface="Liter"/>
              </a:rPr>
              <a:t>Metrica SAD</a:t>
            </a:r>
            <a:endParaRPr b="0" lang="it-IT" sz="1800" spc="-1" strike="noStrike">
              <a:solidFill>
                <a:srgbClr val="000000"/>
              </a:solidFill>
              <a:latin typeface="Arial"/>
            </a:endParaRPr>
          </a:p>
        </p:txBody>
      </p:sp>
      <p:sp>
        <p:nvSpPr>
          <p:cNvPr id="41" name="Text 18"/>
          <p:cNvSpPr/>
          <p:nvPr/>
        </p:nvSpPr>
        <p:spPr>
          <a:xfrm>
            <a:off x="6438960" y="2057400"/>
            <a:ext cx="521928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Sum of Absolute Differences</a:t>
            </a:r>
            <a:endParaRPr b="0" lang="it-IT" sz="1200" spc="-1" strike="noStrike">
              <a:solidFill>
                <a:srgbClr val="000000"/>
              </a:solidFill>
              <a:latin typeface="Arial"/>
            </a:endParaRPr>
          </a:p>
        </p:txBody>
      </p:sp>
      <p:sp>
        <p:nvSpPr>
          <p:cNvPr id="42" name="Shape 19"/>
          <p:cNvSpPr/>
          <p:nvPr/>
        </p:nvSpPr>
        <p:spPr>
          <a:xfrm>
            <a:off x="6438960" y="2438280"/>
            <a:ext cx="5143320" cy="533160"/>
          </a:xfrm>
          <a:custGeom>
            <a:avLst/>
            <a:gdLst>
              <a:gd name="textAreaLeft" fmla="*/ 0 w 5143320"/>
              <a:gd name="textAreaRight" fmla="*/ 5143680 w 5143320"/>
              <a:gd name="textAreaTop" fmla="*/ 0 h 533160"/>
              <a:gd name="textAreaBottom" fmla="*/ 533520 h 533160"/>
            </a:gdLst>
            <a:ahLst/>
            <a:rect l="textAreaLeft" t="textAreaTop" r="textAreaRight" b="textAreaBottom"/>
            <a:pathLst>
              <a:path w="5143500" h="533400">
                <a:moveTo>
                  <a:pt x="76202" y="0"/>
                </a:moveTo>
                <a:lnTo>
                  <a:pt x="5067298" y="0"/>
                </a:lnTo>
                <a:cubicBezTo>
                  <a:pt x="5109383" y="0"/>
                  <a:pt x="5143500" y="34117"/>
                  <a:pt x="5143500" y="76202"/>
                </a:cubicBezTo>
                <a:lnTo>
                  <a:pt x="5143500" y="457198"/>
                </a:lnTo>
                <a:cubicBezTo>
                  <a:pt x="5143500" y="499283"/>
                  <a:pt x="5109383" y="533400"/>
                  <a:pt x="5067298" y="533400"/>
                </a:cubicBezTo>
                <a:lnTo>
                  <a:pt x="76202" y="533400"/>
                </a:lnTo>
                <a:cubicBezTo>
                  <a:pt x="34117" y="533400"/>
                  <a:pt x="0" y="499283"/>
                  <a:pt x="0" y="457198"/>
                </a:cubicBezTo>
                <a:lnTo>
                  <a:pt x="0" y="76202"/>
                </a:lnTo>
                <a:cubicBezTo>
                  <a:pt x="0" y="34145"/>
                  <a:pt x="34145" y="0"/>
                  <a:pt x="76202" y="0"/>
                </a:cubicBezTo>
                <a:close/>
              </a:path>
            </a:pathLst>
          </a:custGeom>
          <a:solidFill>
            <a:srgbClr val="2e3440">
              <a:alpha val="3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ffffff"/>
              </a:solidFill>
              <a:latin typeface="Arial"/>
            </a:endParaRPr>
          </a:p>
        </p:txBody>
      </p:sp>
      <p:sp>
        <p:nvSpPr>
          <p:cNvPr id="43" name="Text 20"/>
          <p:cNvSpPr/>
          <p:nvPr/>
        </p:nvSpPr>
        <p:spPr>
          <a:xfrm>
            <a:off x="6438960" y="2438280"/>
            <a:ext cx="5219280" cy="533160"/>
          </a:xfrm>
          <a:prstGeom prst="rect">
            <a:avLst/>
          </a:prstGeom>
          <a:noFill/>
          <a:ln w="0">
            <a:noFill/>
          </a:ln>
        </p:spPr>
        <p:style>
          <a:lnRef idx="0"/>
          <a:fillRef idx="0"/>
          <a:effectRef idx="0"/>
          <a:fontRef idx="minor"/>
        </p:style>
        <p:txBody>
          <a:bodyPr lIns="152280" rIns="152280" tIns="152280" bIns="152280" anchor="ctr">
            <a:noAutofit/>
          </a:bodyPr>
          <a:p>
            <a:pPr>
              <a:lnSpc>
                <a:spcPct val="130000"/>
              </a:lnSpc>
            </a:pPr>
            <a:r>
              <a:rPr b="0" lang="en-US" sz="1200" spc="-1" strike="noStrike">
                <a:solidFill>
                  <a:srgbClr val="ffffff"/>
                </a:solidFill>
                <a:latin typeface="MiSans"/>
                <a:ea typeface="MiSans"/>
              </a:rPr>
              <a:t>SAD = Σ|Series[i+j] - Pattern[j]|</a:t>
            </a:r>
            <a:endParaRPr b="0" lang="it-IT" sz="1200" spc="-1" strike="noStrike">
              <a:solidFill>
                <a:srgbClr val="000000"/>
              </a:solidFill>
              <a:latin typeface="Arial"/>
            </a:endParaRPr>
          </a:p>
        </p:txBody>
      </p:sp>
      <p:sp>
        <p:nvSpPr>
          <p:cNvPr id="44" name="Shape 21"/>
          <p:cNvSpPr/>
          <p:nvPr/>
        </p:nvSpPr>
        <p:spPr>
          <a:xfrm>
            <a:off x="6210360" y="3352680"/>
            <a:ext cx="5600520" cy="2580840"/>
          </a:xfrm>
          <a:custGeom>
            <a:avLst/>
            <a:gdLst>
              <a:gd name="textAreaLeft" fmla="*/ 0 w 5600520"/>
              <a:gd name="textAreaRight" fmla="*/ 5600880 w 5600520"/>
              <a:gd name="textAreaTop" fmla="*/ 0 h 2580840"/>
              <a:gd name="textAreaBottom" fmla="*/ 2581200 h 2580840"/>
            </a:gdLst>
            <a:ahLst/>
            <a:rect l="textAreaLeft" t="textAreaTop" r="textAreaRight" b="textAreaBottom"/>
            <a:pathLst>
              <a:path w="5600700" h="2581275">
                <a:moveTo>
                  <a:pt x="76199" y="0"/>
                </a:moveTo>
                <a:lnTo>
                  <a:pt x="5524501" y="0"/>
                </a:lnTo>
                <a:cubicBezTo>
                  <a:pt x="5566584" y="0"/>
                  <a:pt x="5600700" y="34116"/>
                  <a:pt x="5600700" y="76199"/>
                </a:cubicBezTo>
                <a:lnTo>
                  <a:pt x="5600700" y="2505076"/>
                </a:lnTo>
                <a:cubicBezTo>
                  <a:pt x="5600700" y="2547159"/>
                  <a:pt x="5566584" y="2581275"/>
                  <a:pt x="5524501" y="2581275"/>
                </a:cubicBezTo>
                <a:lnTo>
                  <a:pt x="76199" y="2581275"/>
                </a:lnTo>
                <a:cubicBezTo>
                  <a:pt x="34116" y="2581275"/>
                  <a:pt x="0" y="2547159"/>
                  <a:pt x="0" y="2505076"/>
                </a:cubicBezTo>
                <a:lnTo>
                  <a:pt x="0" y="76199"/>
                </a:lnTo>
                <a:cubicBezTo>
                  <a:pt x="0" y="34144"/>
                  <a:pt x="34144" y="0"/>
                  <a:pt x="76199"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5" name="Text 22"/>
          <p:cNvSpPr/>
          <p:nvPr/>
        </p:nvSpPr>
        <p:spPr>
          <a:xfrm>
            <a:off x="6400800" y="3543480"/>
            <a:ext cx="5314680" cy="26640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500" spc="-1" strike="noStrike">
                <a:solidFill>
                  <a:srgbClr val="2e3440"/>
                </a:solidFill>
                <a:latin typeface="Liter"/>
                <a:ea typeface="Liter"/>
              </a:rPr>
              <a:t>Perché è costoso?</a:t>
            </a:r>
            <a:endParaRPr b="0" lang="it-IT" sz="1500" spc="-1" strike="noStrike">
              <a:solidFill>
                <a:srgbClr val="000000"/>
              </a:solidFill>
              <a:latin typeface="Arial"/>
            </a:endParaRPr>
          </a:p>
        </p:txBody>
      </p:sp>
      <p:sp>
        <p:nvSpPr>
          <p:cNvPr id="46" name="Shape 23"/>
          <p:cNvSpPr/>
          <p:nvPr/>
        </p:nvSpPr>
        <p:spPr>
          <a:xfrm>
            <a:off x="6400800" y="399996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7" name="Text 24"/>
          <p:cNvSpPr/>
          <p:nvPr/>
        </p:nvSpPr>
        <p:spPr>
          <a:xfrm>
            <a:off x="6528960" y="4038120"/>
            <a:ext cx="12348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1</a:t>
            </a:r>
            <a:endParaRPr b="0" lang="it-IT" sz="1200" spc="-1" strike="noStrike">
              <a:solidFill>
                <a:srgbClr val="000000"/>
              </a:solidFill>
              <a:latin typeface="Arial"/>
            </a:endParaRPr>
          </a:p>
        </p:txBody>
      </p:sp>
      <p:sp>
        <p:nvSpPr>
          <p:cNvPr id="48" name="Text 25"/>
          <p:cNvSpPr/>
          <p:nvPr/>
        </p:nvSpPr>
        <p:spPr>
          <a:xfrm>
            <a:off x="6819840" y="3999960"/>
            <a:ext cx="30801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Scorri finestra</a:t>
            </a:r>
            <a:r>
              <a:rPr b="0" lang="en-US" sz="1200" spc="-1" strike="noStrike">
                <a:solidFill>
                  <a:srgbClr val="2e3440"/>
                </a:solidFill>
                <a:latin typeface="Quattrocento Sans"/>
                <a:ea typeface="Quattrocento Sans"/>
              </a:rPr>
              <a:t> su tutta la serie</a:t>
            </a:r>
            <a:endParaRPr b="0" lang="it-IT" sz="1200" spc="-1" strike="noStrike">
              <a:solidFill>
                <a:srgbClr val="000000"/>
              </a:solidFill>
              <a:latin typeface="Arial"/>
            </a:endParaRPr>
          </a:p>
        </p:txBody>
      </p:sp>
      <p:sp>
        <p:nvSpPr>
          <p:cNvPr id="49" name="Shape 26"/>
          <p:cNvSpPr/>
          <p:nvPr/>
        </p:nvSpPr>
        <p:spPr>
          <a:xfrm>
            <a:off x="6400800" y="445572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50" name="Text 27"/>
          <p:cNvSpPr/>
          <p:nvPr/>
        </p:nvSpPr>
        <p:spPr>
          <a:xfrm>
            <a:off x="6514200" y="4493880"/>
            <a:ext cx="15192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2</a:t>
            </a:r>
            <a:endParaRPr b="0" lang="it-IT" sz="1200" spc="-1" strike="noStrike">
              <a:solidFill>
                <a:srgbClr val="000000"/>
              </a:solidFill>
              <a:latin typeface="Arial"/>
            </a:endParaRPr>
          </a:p>
        </p:txBody>
      </p:sp>
      <p:sp>
        <p:nvSpPr>
          <p:cNvPr id="51" name="Text 28"/>
          <p:cNvSpPr/>
          <p:nvPr/>
        </p:nvSpPr>
        <p:spPr>
          <a:xfrm>
            <a:off x="6819840" y="4455720"/>
            <a:ext cx="38001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Confronto completo</a:t>
            </a:r>
            <a:r>
              <a:rPr b="0" lang="en-US" sz="1200" spc="-1" strike="noStrike">
                <a:solidFill>
                  <a:srgbClr val="2e3440"/>
                </a:solidFill>
                <a:latin typeface="Quattrocento Sans"/>
                <a:ea typeface="Quattrocento Sans"/>
              </a:rPr>
              <a:t> con pattern</a:t>
            </a:r>
            <a:endParaRPr b="0" lang="it-IT" sz="1200" spc="-1" strike="noStrike">
              <a:solidFill>
                <a:srgbClr val="000000"/>
              </a:solidFill>
              <a:latin typeface="Arial"/>
            </a:endParaRPr>
          </a:p>
        </p:txBody>
      </p:sp>
      <p:sp>
        <p:nvSpPr>
          <p:cNvPr id="52" name="Shape 29"/>
          <p:cNvSpPr/>
          <p:nvPr/>
        </p:nvSpPr>
        <p:spPr>
          <a:xfrm>
            <a:off x="6400800" y="491148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53" name="Text 30"/>
          <p:cNvSpPr/>
          <p:nvPr/>
        </p:nvSpPr>
        <p:spPr>
          <a:xfrm>
            <a:off x="6512400" y="4949640"/>
            <a:ext cx="1616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3</a:t>
            </a:r>
            <a:endParaRPr b="0" lang="it-IT" sz="1200" spc="-1" strike="noStrike">
              <a:solidFill>
                <a:srgbClr val="000000"/>
              </a:solidFill>
              <a:latin typeface="Arial"/>
            </a:endParaRPr>
          </a:p>
        </p:txBody>
      </p:sp>
      <p:sp>
        <p:nvSpPr>
          <p:cNvPr id="54" name="Text 31"/>
          <p:cNvSpPr/>
          <p:nvPr/>
        </p:nvSpPr>
        <p:spPr>
          <a:xfrm>
            <a:off x="6819840" y="4911480"/>
            <a:ext cx="30801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Operazioni</a:t>
            </a:r>
            <a:r>
              <a:rPr b="0" lang="en-US" sz="1200" spc="-1" strike="noStrike">
                <a:solidFill>
                  <a:srgbClr val="2e3440"/>
                </a:solidFill>
                <a:latin typeface="Quattrocento Sans"/>
                <a:ea typeface="Quattrocento Sans"/>
              </a:rPr>
              <a:t> per ogni posizione</a:t>
            </a:r>
            <a:endParaRPr b="0" lang="it-IT" sz="1200" spc="-1" strike="noStrike">
              <a:solidFill>
                <a:srgbClr val="000000"/>
              </a:solidFill>
              <a:latin typeface="Arial"/>
            </a:endParaRPr>
          </a:p>
        </p:txBody>
      </p:sp>
      <p:sp>
        <p:nvSpPr>
          <p:cNvPr id="55" name="Shape 32"/>
          <p:cNvSpPr/>
          <p:nvPr/>
        </p:nvSpPr>
        <p:spPr>
          <a:xfrm>
            <a:off x="6400800" y="536760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56" name="Text 33"/>
          <p:cNvSpPr/>
          <p:nvPr/>
        </p:nvSpPr>
        <p:spPr>
          <a:xfrm>
            <a:off x="6514560" y="5405760"/>
            <a:ext cx="15192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4</a:t>
            </a:r>
            <a:endParaRPr b="0" lang="it-IT" sz="1200" spc="-1" strike="noStrike">
              <a:solidFill>
                <a:srgbClr val="000000"/>
              </a:solidFill>
              <a:latin typeface="Arial"/>
            </a:endParaRPr>
          </a:p>
        </p:txBody>
      </p:sp>
      <p:sp>
        <p:nvSpPr>
          <p:cNvPr id="57" name="Text 34"/>
          <p:cNvSpPr/>
          <p:nvPr/>
        </p:nvSpPr>
        <p:spPr>
          <a:xfrm>
            <a:off x="6819840" y="5367600"/>
            <a:ext cx="25401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Milioni di confronti su serie lunghe</a:t>
            </a:r>
            <a:endParaRPr b="0" lang="it-IT" sz="1200" spc="-1" strike="noStrike">
              <a:solidFill>
                <a:srgbClr val="000000"/>
              </a:solidFill>
              <a:latin typeface="Arial"/>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58" name="Text 0"/>
          <p:cNvSpPr/>
          <p:nvPr/>
        </p:nvSpPr>
        <p:spPr>
          <a:xfrm>
            <a:off x="379080" y="379080"/>
            <a:ext cx="11509560" cy="2271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17" strike="noStrike">
                <a:solidFill>
                  <a:srgbClr val="5e81ac"/>
                </a:solidFill>
                <a:latin typeface="Quattrocento Sans"/>
                <a:ea typeface="Quattrocento Sans"/>
              </a:rPr>
              <a:t>Focus del Progetto</a:t>
            </a:r>
            <a:endParaRPr b="0" lang="it-IT" sz="1200" spc="-1" strike="noStrike">
              <a:solidFill>
                <a:srgbClr val="000000"/>
              </a:solidFill>
              <a:latin typeface="Arial"/>
            </a:endParaRPr>
          </a:p>
        </p:txBody>
      </p:sp>
      <p:sp>
        <p:nvSpPr>
          <p:cNvPr id="59" name="Text 1"/>
          <p:cNvSpPr/>
          <p:nvPr/>
        </p:nvSpPr>
        <p:spPr>
          <a:xfrm>
            <a:off x="379080" y="682200"/>
            <a:ext cx="11661120" cy="45432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580" spc="-1" strike="noStrike">
                <a:solidFill>
                  <a:srgbClr val="2e3440"/>
                </a:solidFill>
                <a:latin typeface="Liter"/>
                <a:ea typeface="Liter"/>
              </a:rPr>
              <a:t>Obiettivi del Progetto</a:t>
            </a:r>
            <a:endParaRPr b="0" lang="it-IT" sz="3580" spc="-1" strike="noStrike">
              <a:solidFill>
                <a:srgbClr val="000000"/>
              </a:solidFill>
              <a:latin typeface="Arial"/>
            </a:endParaRPr>
          </a:p>
        </p:txBody>
      </p:sp>
      <p:sp>
        <p:nvSpPr>
          <p:cNvPr id="60" name="Shape 2"/>
          <p:cNvSpPr/>
          <p:nvPr/>
        </p:nvSpPr>
        <p:spPr>
          <a:xfrm>
            <a:off x="379080" y="1288440"/>
            <a:ext cx="7549920" cy="1780560"/>
          </a:xfrm>
          <a:custGeom>
            <a:avLst/>
            <a:gdLst>
              <a:gd name="textAreaLeft" fmla="*/ 0 w 7549920"/>
              <a:gd name="textAreaRight" fmla="*/ 7550280 w 7549920"/>
              <a:gd name="textAreaTop" fmla="*/ 0 h 1780560"/>
              <a:gd name="textAreaBottom" fmla="*/ 1780920 h 1780560"/>
            </a:gdLst>
            <a:ahLst/>
            <a:rect l="textAreaLeft" t="textAreaTop" r="textAreaRight" b="textAreaBottom"/>
            <a:pathLst>
              <a:path w="7550135" h="1780960">
                <a:moveTo>
                  <a:pt x="75780" y="0"/>
                </a:moveTo>
                <a:lnTo>
                  <a:pt x="7474355" y="0"/>
                </a:lnTo>
                <a:cubicBezTo>
                  <a:pt x="7516207" y="0"/>
                  <a:pt x="7550135" y="33928"/>
                  <a:pt x="7550135" y="75780"/>
                </a:cubicBezTo>
                <a:lnTo>
                  <a:pt x="7550135" y="1705181"/>
                </a:lnTo>
                <a:cubicBezTo>
                  <a:pt x="7550135" y="1747033"/>
                  <a:pt x="7516207" y="1780960"/>
                  <a:pt x="7474355" y="1780960"/>
                </a:cubicBezTo>
                <a:lnTo>
                  <a:pt x="75780" y="1780960"/>
                </a:lnTo>
                <a:cubicBezTo>
                  <a:pt x="33928" y="1780960"/>
                  <a:pt x="0" y="1747033"/>
                  <a:pt x="0" y="1705181"/>
                </a:cubicBezTo>
                <a:lnTo>
                  <a:pt x="0" y="75780"/>
                </a:lnTo>
                <a:cubicBezTo>
                  <a:pt x="0" y="33956"/>
                  <a:pt x="33956" y="0"/>
                  <a:pt x="75780" y="0"/>
                </a:cubicBezTo>
                <a:close/>
              </a:path>
            </a:pathLst>
          </a:custGeom>
          <a:gradFill rotWithShape="0">
            <a:gsLst>
              <a:gs pos="0">
                <a:srgbClr val="2e344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61" name="Shape 3"/>
          <p:cNvSpPr/>
          <p:nvPr/>
        </p:nvSpPr>
        <p:spPr>
          <a:xfrm>
            <a:off x="663120" y="1610280"/>
            <a:ext cx="454320" cy="454320"/>
          </a:xfrm>
          <a:custGeom>
            <a:avLst/>
            <a:gdLst>
              <a:gd name="textAreaLeft" fmla="*/ 0 w 454320"/>
              <a:gd name="textAreaRight" fmla="*/ 454680 w 454320"/>
              <a:gd name="textAreaTop" fmla="*/ 0 h 454320"/>
              <a:gd name="textAreaBottom" fmla="*/ 454680 h 454320"/>
            </a:gdLst>
            <a:ahLst/>
            <a:rect l="textAreaLeft" t="textAreaTop" r="textAreaRight" b="textAreaBottom"/>
            <a:pathLst>
              <a:path w="454713" h="454713">
                <a:moveTo>
                  <a:pt x="397874" y="227357"/>
                </a:moveTo>
                <a:cubicBezTo>
                  <a:pt x="397874" y="133245"/>
                  <a:pt x="321468" y="56839"/>
                  <a:pt x="227357" y="56839"/>
                </a:cubicBezTo>
                <a:cubicBezTo>
                  <a:pt x="133245" y="56839"/>
                  <a:pt x="56839" y="133245"/>
                  <a:pt x="56839" y="227357"/>
                </a:cubicBezTo>
                <a:cubicBezTo>
                  <a:pt x="56839" y="321468"/>
                  <a:pt x="133245" y="397874"/>
                  <a:pt x="227357" y="397874"/>
                </a:cubicBezTo>
                <a:cubicBezTo>
                  <a:pt x="321468" y="397874"/>
                  <a:pt x="397874" y="321468"/>
                  <a:pt x="397874" y="227357"/>
                </a:cubicBezTo>
                <a:close/>
                <a:moveTo>
                  <a:pt x="0" y="227357"/>
                </a:moveTo>
                <a:cubicBezTo>
                  <a:pt x="0" y="101875"/>
                  <a:pt x="101875" y="0"/>
                  <a:pt x="227357" y="0"/>
                </a:cubicBezTo>
                <a:cubicBezTo>
                  <a:pt x="352838" y="0"/>
                  <a:pt x="454713" y="101875"/>
                  <a:pt x="454713" y="227357"/>
                </a:cubicBezTo>
                <a:cubicBezTo>
                  <a:pt x="454713" y="352838"/>
                  <a:pt x="352838" y="454713"/>
                  <a:pt x="227357" y="454713"/>
                </a:cubicBezTo>
                <a:cubicBezTo>
                  <a:pt x="101875" y="454713"/>
                  <a:pt x="0" y="352838"/>
                  <a:pt x="0" y="227357"/>
                </a:cubicBezTo>
                <a:close/>
                <a:moveTo>
                  <a:pt x="227357" y="298406"/>
                </a:moveTo>
                <a:cubicBezTo>
                  <a:pt x="266570" y="298406"/>
                  <a:pt x="298406" y="266570"/>
                  <a:pt x="298406" y="227357"/>
                </a:cubicBezTo>
                <a:cubicBezTo>
                  <a:pt x="298406" y="188144"/>
                  <a:pt x="266570" y="156308"/>
                  <a:pt x="227357" y="156308"/>
                </a:cubicBezTo>
                <a:cubicBezTo>
                  <a:pt x="188144" y="156308"/>
                  <a:pt x="156308" y="188144"/>
                  <a:pt x="156308" y="227357"/>
                </a:cubicBezTo>
                <a:cubicBezTo>
                  <a:pt x="156308" y="266570"/>
                  <a:pt x="188144" y="298406"/>
                  <a:pt x="227357" y="298406"/>
                </a:cubicBezTo>
                <a:close/>
                <a:moveTo>
                  <a:pt x="227357" y="99469"/>
                </a:moveTo>
                <a:cubicBezTo>
                  <a:pt x="297940" y="99469"/>
                  <a:pt x="355245" y="156773"/>
                  <a:pt x="355245" y="227357"/>
                </a:cubicBezTo>
                <a:cubicBezTo>
                  <a:pt x="355245" y="297940"/>
                  <a:pt x="297940" y="355245"/>
                  <a:pt x="227357" y="355245"/>
                </a:cubicBezTo>
                <a:cubicBezTo>
                  <a:pt x="156773" y="355245"/>
                  <a:pt x="99469" y="297940"/>
                  <a:pt x="99469" y="227357"/>
                </a:cubicBezTo>
                <a:cubicBezTo>
                  <a:pt x="99469" y="156773"/>
                  <a:pt x="156773" y="99469"/>
                  <a:pt x="227357" y="99469"/>
                </a:cubicBezTo>
                <a:close/>
                <a:moveTo>
                  <a:pt x="198937" y="227357"/>
                </a:moveTo>
                <a:cubicBezTo>
                  <a:pt x="198937" y="211671"/>
                  <a:pt x="211671" y="198937"/>
                  <a:pt x="227357" y="198937"/>
                </a:cubicBezTo>
                <a:cubicBezTo>
                  <a:pt x="243042" y="198937"/>
                  <a:pt x="255776" y="211671"/>
                  <a:pt x="255776" y="227357"/>
                </a:cubicBezTo>
                <a:cubicBezTo>
                  <a:pt x="255776" y="243042"/>
                  <a:pt x="243042" y="255776"/>
                  <a:pt x="227357" y="255776"/>
                </a:cubicBezTo>
                <a:cubicBezTo>
                  <a:pt x="211671" y="255776"/>
                  <a:pt x="198937" y="243042"/>
                  <a:pt x="198937" y="227357"/>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62" name="Text 4"/>
          <p:cNvSpPr/>
          <p:nvPr/>
        </p:nvSpPr>
        <p:spPr>
          <a:xfrm>
            <a:off x="1326240" y="1515600"/>
            <a:ext cx="5569920" cy="3027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790" spc="-1" strike="noStrike">
                <a:solidFill>
                  <a:srgbClr val="ffffff"/>
                </a:solidFill>
                <a:latin typeface="Liter"/>
                <a:ea typeface="Liter"/>
              </a:rPr>
              <a:t>Obiettivo Principale</a:t>
            </a:r>
            <a:endParaRPr b="0" lang="it-IT" sz="1790" spc="-1" strike="noStrike">
              <a:solidFill>
                <a:srgbClr val="000000"/>
              </a:solidFill>
              <a:latin typeface="Arial"/>
            </a:endParaRPr>
          </a:p>
        </p:txBody>
      </p:sp>
      <p:sp>
        <p:nvSpPr>
          <p:cNvPr id="63" name="Text 5"/>
          <p:cNvSpPr/>
          <p:nvPr/>
        </p:nvSpPr>
        <p:spPr>
          <a:xfrm>
            <a:off x="1326240" y="1894680"/>
            <a:ext cx="5550840" cy="264960"/>
          </a:xfrm>
          <a:prstGeom prst="rect">
            <a:avLst/>
          </a:prstGeom>
          <a:noFill/>
          <a:ln w="0">
            <a:noFill/>
          </a:ln>
        </p:spPr>
        <p:style>
          <a:lnRef idx="0"/>
          <a:fillRef idx="0"/>
          <a:effectRef idx="0"/>
          <a:fontRef idx="minor"/>
        </p:style>
        <p:txBody>
          <a:bodyPr lIns="0" rIns="0" tIns="0" bIns="0" anchor="ctr">
            <a:noAutofit/>
          </a:bodyPr>
          <a:p>
            <a:pPr>
              <a:lnSpc>
                <a:spcPct val="120000"/>
              </a:lnSpc>
            </a:pPr>
            <a:r>
              <a:rPr b="0" lang="en-US" sz="1490" spc="-1" strike="noStrike">
                <a:solidFill>
                  <a:srgbClr val="ffffff"/>
                </a:solidFill>
                <a:latin typeface="Quattrocento Sans"/>
                <a:ea typeface="Quattrocento Sans"/>
              </a:rPr>
              <a:t>Ottimizzare l'algoritmo SAD per minimizzare il tempo di esecuzione</a:t>
            </a:r>
            <a:endParaRPr b="0" lang="it-IT" sz="1490" spc="-1" strike="noStrike">
              <a:solidFill>
                <a:srgbClr val="000000"/>
              </a:solidFill>
              <a:latin typeface="Arial"/>
            </a:endParaRPr>
          </a:p>
        </p:txBody>
      </p:sp>
      <p:sp>
        <p:nvSpPr>
          <p:cNvPr id="64" name="Text 6"/>
          <p:cNvSpPr/>
          <p:nvPr/>
        </p:nvSpPr>
        <p:spPr>
          <a:xfrm>
            <a:off x="606240" y="2311560"/>
            <a:ext cx="7170840" cy="49212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200" spc="-1" strike="noStrike">
                <a:solidFill>
                  <a:srgbClr val="ffffff"/>
                </a:solidFill>
                <a:latin typeface="Quattrocento Sans"/>
                <a:ea typeface="Quattrocento Sans"/>
              </a:rPr>
              <a:t>Sfruttare le moderne architetture multi-core per accelerare la ricerca di pattern in serie temporali IoT, passando da un approccio sequenziale a una soluzione parallela altamente efficiente.</a:t>
            </a:r>
            <a:endParaRPr b="0" lang="it-IT" sz="1200" spc="-1" strike="noStrike">
              <a:solidFill>
                <a:srgbClr val="000000"/>
              </a:solidFill>
              <a:latin typeface="Arial"/>
            </a:endParaRPr>
          </a:p>
        </p:txBody>
      </p:sp>
      <p:sp>
        <p:nvSpPr>
          <p:cNvPr id="65" name="Shape 7"/>
          <p:cNvSpPr/>
          <p:nvPr/>
        </p:nvSpPr>
        <p:spPr>
          <a:xfrm>
            <a:off x="8170920" y="1288440"/>
            <a:ext cx="3645000" cy="1780560"/>
          </a:xfrm>
          <a:custGeom>
            <a:avLst/>
            <a:gdLst>
              <a:gd name="textAreaLeft" fmla="*/ 0 w 3645000"/>
              <a:gd name="textAreaRight" fmla="*/ 3645360 w 3645000"/>
              <a:gd name="textAreaTop" fmla="*/ 0 h 1780560"/>
              <a:gd name="textAreaBottom" fmla="*/ 1780920 h 1780560"/>
            </a:gdLst>
            <a:ahLst/>
            <a:rect l="textAreaLeft" t="textAreaTop" r="textAreaRight" b="textAreaBottom"/>
            <a:pathLst>
              <a:path w="3645457" h="1780960">
                <a:moveTo>
                  <a:pt x="34448" y="0"/>
                </a:moveTo>
                <a:lnTo>
                  <a:pt x="3569677" y="0"/>
                </a:lnTo>
                <a:cubicBezTo>
                  <a:pt x="3611529" y="0"/>
                  <a:pt x="3645457" y="33928"/>
                  <a:pt x="3645457" y="75780"/>
                </a:cubicBezTo>
                <a:lnTo>
                  <a:pt x="3645457" y="1705181"/>
                </a:lnTo>
                <a:cubicBezTo>
                  <a:pt x="3645457" y="1747033"/>
                  <a:pt x="3611529" y="1780960"/>
                  <a:pt x="3569677" y="1780960"/>
                </a:cubicBezTo>
                <a:lnTo>
                  <a:pt x="34448" y="1780960"/>
                </a:lnTo>
                <a:cubicBezTo>
                  <a:pt x="15423" y="1780960"/>
                  <a:pt x="0" y="1765538"/>
                  <a:pt x="0" y="1746512"/>
                </a:cubicBezTo>
                <a:lnTo>
                  <a:pt x="0" y="34448"/>
                </a:lnTo>
                <a:cubicBezTo>
                  <a:pt x="0" y="15436"/>
                  <a:pt x="15436" y="0"/>
                  <a:pt x="34448" y="0"/>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66" name="Shape 8"/>
          <p:cNvSpPr/>
          <p:nvPr/>
        </p:nvSpPr>
        <p:spPr>
          <a:xfrm>
            <a:off x="8170920" y="1288440"/>
            <a:ext cx="34200" cy="1780560"/>
          </a:xfrm>
          <a:custGeom>
            <a:avLst/>
            <a:gdLst>
              <a:gd name="textAreaLeft" fmla="*/ 0 w 34200"/>
              <a:gd name="textAreaRight" fmla="*/ 34560 w 34200"/>
              <a:gd name="textAreaTop" fmla="*/ 0 h 1780560"/>
              <a:gd name="textAreaBottom" fmla="*/ 1780920 h 1780560"/>
            </a:gdLst>
            <a:ahLst/>
            <a:rect l="textAreaLeft" t="textAreaTop" r="textAreaRight" b="textAreaBottom"/>
            <a:pathLst>
              <a:path w="34448" h="1780960">
                <a:moveTo>
                  <a:pt x="34448" y="0"/>
                </a:moveTo>
                <a:lnTo>
                  <a:pt x="34448" y="0"/>
                </a:lnTo>
                <a:lnTo>
                  <a:pt x="34448" y="1780960"/>
                </a:lnTo>
                <a:lnTo>
                  <a:pt x="34448" y="1780960"/>
                </a:lnTo>
                <a:cubicBezTo>
                  <a:pt x="15423" y="1780960"/>
                  <a:pt x="0" y="1765538"/>
                  <a:pt x="0" y="1746512"/>
                </a:cubicBezTo>
                <a:lnTo>
                  <a:pt x="0" y="34448"/>
                </a:lnTo>
                <a:cubicBezTo>
                  <a:pt x="0" y="15436"/>
                  <a:pt x="15436" y="0"/>
                  <a:pt x="34448"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67" name="Text 9"/>
          <p:cNvSpPr/>
          <p:nvPr/>
        </p:nvSpPr>
        <p:spPr>
          <a:xfrm>
            <a:off x="8415720" y="1515600"/>
            <a:ext cx="3267720" cy="26496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490" spc="-1" strike="noStrike">
                <a:solidFill>
                  <a:srgbClr val="2e3440"/>
                </a:solidFill>
                <a:latin typeface="Liter"/>
                <a:ea typeface="Liter"/>
              </a:rPr>
              <a:t>Target</a:t>
            </a:r>
            <a:endParaRPr b="0" lang="it-IT" sz="1490" spc="-1" strike="noStrike">
              <a:solidFill>
                <a:srgbClr val="000000"/>
              </a:solidFill>
              <a:latin typeface="Arial"/>
            </a:endParaRPr>
          </a:p>
        </p:txBody>
      </p:sp>
      <p:sp>
        <p:nvSpPr>
          <p:cNvPr id="68" name="Shape 10"/>
          <p:cNvSpPr/>
          <p:nvPr/>
        </p:nvSpPr>
        <p:spPr>
          <a:xfrm>
            <a:off x="8415720" y="2008440"/>
            <a:ext cx="75600" cy="75600"/>
          </a:xfrm>
          <a:custGeom>
            <a:avLst/>
            <a:gdLst>
              <a:gd name="textAreaLeft" fmla="*/ 0 w 75600"/>
              <a:gd name="textAreaRight" fmla="*/ 75960 w 75600"/>
              <a:gd name="textAreaTop" fmla="*/ 0 h 75600"/>
              <a:gd name="textAreaBottom" fmla="*/ 75960 h 75600"/>
            </a:gdLst>
            <a:ahLst/>
            <a:rect l="textAreaLeft" t="textAreaTop" r="textAreaRight" b="textAreaBottom"/>
            <a:pathLst>
              <a:path w="75786" h="75786">
                <a:moveTo>
                  <a:pt x="37893" y="0"/>
                </a:moveTo>
                <a:lnTo>
                  <a:pt x="37893" y="0"/>
                </a:lnTo>
                <a:cubicBezTo>
                  <a:pt x="58820" y="0"/>
                  <a:pt x="75786" y="16965"/>
                  <a:pt x="75786" y="37893"/>
                </a:cubicBezTo>
                <a:lnTo>
                  <a:pt x="75786" y="37893"/>
                </a:lnTo>
                <a:cubicBezTo>
                  <a:pt x="75786" y="58820"/>
                  <a:pt x="58820" y="75786"/>
                  <a:pt x="37893" y="75786"/>
                </a:cubicBezTo>
                <a:lnTo>
                  <a:pt x="37893" y="75786"/>
                </a:lnTo>
                <a:cubicBezTo>
                  <a:pt x="16965" y="75786"/>
                  <a:pt x="0" y="58820"/>
                  <a:pt x="0" y="37893"/>
                </a:cubicBezTo>
                <a:lnTo>
                  <a:pt x="0" y="37893"/>
                </a:lnTo>
                <a:cubicBezTo>
                  <a:pt x="0" y="16965"/>
                  <a:pt x="16965" y="0"/>
                  <a:pt x="37893" y="0"/>
                </a:cubicBezTo>
                <a:close/>
              </a:path>
            </a:pathLst>
          </a:custGeom>
          <a:solidFill>
            <a:srgbClr val="88c0d0"/>
          </a:solidFill>
          <a:ln w="0">
            <a:noFill/>
          </a:ln>
        </p:spPr>
        <p:style>
          <a:lnRef idx="0"/>
          <a:fillRef idx="0"/>
          <a:effectRef idx="0"/>
          <a:fontRef idx="minor"/>
        </p:style>
        <p:txBody>
          <a:bodyPr lIns="90000" rIns="90000" tIns="30960" bIns="30960" anchor="t">
            <a:noAutofit/>
          </a:bodyPr>
          <a:p>
            <a:endParaRPr b="0" lang="it-IT" sz="1800" spc="-1" strike="noStrike">
              <a:solidFill>
                <a:srgbClr val="000000"/>
              </a:solidFill>
              <a:latin typeface="Arial"/>
            </a:endParaRPr>
          </a:p>
        </p:txBody>
      </p:sp>
      <p:sp>
        <p:nvSpPr>
          <p:cNvPr id="69" name="Text 11"/>
          <p:cNvSpPr/>
          <p:nvPr/>
        </p:nvSpPr>
        <p:spPr>
          <a:xfrm>
            <a:off x="8605080" y="1932480"/>
            <a:ext cx="1174320" cy="2271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Riduzione tempo</a:t>
            </a:r>
            <a:endParaRPr b="0" lang="it-IT" sz="1200" spc="-1" strike="noStrike">
              <a:solidFill>
                <a:srgbClr val="000000"/>
              </a:solidFill>
              <a:latin typeface="Arial"/>
            </a:endParaRPr>
          </a:p>
        </p:txBody>
      </p:sp>
      <p:sp>
        <p:nvSpPr>
          <p:cNvPr id="70" name="Shape 12"/>
          <p:cNvSpPr/>
          <p:nvPr/>
        </p:nvSpPr>
        <p:spPr>
          <a:xfrm>
            <a:off x="8415720" y="2349360"/>
            <a:ext cx="75600" cy="75600"/>
          </a:xfrm>
          <a:custGeom>
            <a:avLst/>
            <a:gdLst>
              <a:gd name="textAreaLeft" fmla="*/ 0 w 75600"/>
              <a:gd name="textAreaRight" fmla="*/ 75960 w 75600"/>
              <a:gd name="textAreaTop" fmla="*/ 0 h 75600"/>
              <a:gd name="textAreaBottom" fmla="*/ 75960 h 75600"/>
            </a:gdLst>
            <a:ahLst/>
            <a:rect l="textAreaLeft" t="textAreaTop" r="textAreaRight" b="textAreaBottom"/>
            <a:pathLst>
              <a:path w="75786" h="75786">
                <a:moveTo>
                  <a:pt x="37893" y="0"/>
                </a:moveTo>
                <a:lnTo>
                  <a:pt x="37893" y="0"/>
                </a:lnTo>
                <a:cubicBezTo>
                  <a:pt x="58820" y="0"/>
                  <a:pt x="75786" y="16965"/>
                  <a:pt x="75786" y="37893"/>
                </a:cubicBezTo>
                <a:lnTo>
                  <a:pt x="75786" y="37893"/>
                </a:lnTo>
                <a:cubicBezTo>
                  <a:pt x="75786" y="58820"/>
                  <a:pt x="58820" y="75786"/>
                  <a:pt x="37893" y="75786"/>
                </a:cubicBezTo>
                <a:lnTo>
                  <a:pt x="37893" y="75786"/>
                </a:lnTo>
                <a:cubicBezTo>
                  <a:pt x="16965" y="75786"/>
                  <a:pt x="0" y="58820"/>
                  <a:pt x="0" y="37893"/>
                </a:cubicBezTo>
                <a:lnTo>
                  <a:pt x="0" y="37893"/>
                </a:lnTo>
                <a:cubicBezTo>
                  <a:pt x="0" y="16965"/>
                  <a:pt x="16965" y="0"/>
                  <a:pt x="37893" y="0"/>
                </a:cubicBezTo>
                <a:close/>
              </a:path>
            </a:pathLst>
          </a:custGeom>
          <a:solidFill>
            <a:srgbClr val="88c0d0"/>
          </a:solidFill>
          <a:ln w="0">
            <a:noFill/>
          </a:ln>
        </p:spPr>
        <p:style>
          <a:lnRef idx="0"/>
          <a:fillRef idx="0"/>
          <a:effectRef idx="0"/>
          <a:fontRef idx="minor"/>
        </p:style>
        <p:txBody>
          <a:bodyPr lIns="90000" rIns="90000" tIns="30960" bIns="30960" anchor="t">
            <a:noAutofit/>
          </a:bodyPr>
          <a:p>
            <a:endParaRPr b="0" lang="it-IT" sz="1800" spc="-1" strike="noStrike">
              <a:solidFill>
                <a:srgbClr val="000000"/>
              </a:solidFill>
              <a:latin typeface="Arial"/>
            </a:endParaRPr>
          </a:p>
        </p:txBody>
      </p:sp>
      <p:sp>
        <p:nvSpPr>
          <p:cNvPr id="71" name="Text 13"/>
          <p:cNvSpPr/>
          <p:nvPr/>
        </p:nvSpPr>
        <p:spPr>
          <a:xfrm>
            <a:off x="8605080" y="2273400"/>
            <a:ext cx="956520" cy="2271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Speedup &gt; 5x</a:t>
            </a:r>
            <a:endParaRPr b="0" lang="it-IT" sz="1200" spc="-1" strike="noStrike">
              <a:solidFill>
                <a:srgbClr val="000000"/>
              </a:solidFill>
              <a:latin typeface="Arial"/>
            </a:endParaRPr>
          </a:p>
        </p:txBody>
      </p:sp>
      <p:sp>
        <p:nvSpPr>
          <p:cNvPr id="72" name="Shape 14"/>
          <p:cNvSpPr/>
          <p:nvPr/>
        </p:nvSpPr>
        <p:spPr>
          <a:xfrm>
            <a:off x="8415720" y="2690280"/>
            <a:ext cx="75600" cy="75600"/>
          </a:xfrm>
          <a:custGeom>
            <a:avLst/>
            <a:gdLst>
              <a:gd name="textAreaLeft" fmla="*/ 0 w 75600"/>
              <a:gd name="textAreaRight" fmla="*/ 75960 w 75600"/>
              <a:gd name="textAreaTop" fmla="*/ 0 h 75600"/>
              <a:gd name="textAreaBottom" fmla="*/ 75960 h 75600"/>
            </a:gdLst>
            <a:ahLst/>
            <a:rect l="textAreaLeft" t="textAreaTop" r="textAreaRight" b="textAreaBottom"/>
            <a:pathLst>
              <a:path w="75786" h="75786">
                <a:moveTo>
                  <a:pt x="37893" y="0"/>
                </a:moveTo>
                <a:lnTo>
                  <a:pt x="37893" y="0"/>
                </a:lnTo>
                <a:cubicBezTo>
                  <a:pt x="58820" y="0"/>
                  <a:pt x="75786" y="16965"/>
                  <a:pt x="75786" y="37893"/>
                </a:cubicBezTo>
                <a:lnTo>
                  <a:pt x="75786" y="37893"/>
                </a:lnTo>
                <a:cubicBezTo>
                  <a:pt x="75786" y="58820"/>
                  <a:pt x="58820" y="75786"/>
                  <a:pt x="37893" y="75786"/>
                </a:cubicBezTo>
                <a:lnTo>
                  <a:pt x="37893" y="75786"/>
                </a:lnTo>
                <a:cubicBezTo>
                  <a:pt x="16965" y="75786"/>
                  <a:pt x="0" y="58820"/>
                  <a:pt x="0" y="37893"/>
                </a:cubicBezTo>
                <a:lnTo>
                  <a:pt x="0" y="37893"/>
                </a:lnTo>
                <a:cubicBezTo>
                  <a:pt x="0" y="16965"/>
                  <a:pt x="16965" y="0"/>
                  <a:pt x="37893" y="0"/>
                </a:cubicBezTo>
                <a:close/>
              </a:path>
            </a:pathLst>
          </a:custGeom>
          <a:solidFill>
            <a:srgbClr val="88c0d0"/>
          </a:solidFill>
          <a:ln w="0">
            <a:noFill/>
          </a:ln>
        </p:spPr>
        <p:style>
          <a:lnRef idx="0"/>
          <a:fillRef idx="0"/>
          <a:effectRef idx="0"/>
          <a:fontRef idx="minor"/>
        </p:style>
        <p:txBody>
          <a:bodyPr lIns="90000" rIns="90000" tIns="30960" bIns="30960" anchor="t">
            <a:noAutofit/>
          </a:bodyPr>
          <a:p>
            <a:endParaRPr b="0" lang="it-IT" sz="1800" spc="-1" strike="noStrike">
              <a:solidFill>
                <a:srgbClr val="000000"/>
              </a:solidFill>
              <a:latin typeface="Arial"/>
            </a:endParaRPr>
          </a:p>
        </p:txBody>
      </p:sp>
      <p:sp>
        <p:nvSpPr>
          <p:cNvPr id="73" name="Text 15"/>
          <p:cNvSpPr/>
          <p:nvPr/>
        </p:nvSpPr>
        <p:spPr>
          <a:xfrm>
            <a:off x="8605080" y="2614680"/>
            <a:ext cx="1212120" cy="2271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Scalabilità lineare</a:t>
            </a:r>
            <a:endParaRPr b="0" lang="it-IT" sz="1200" spc="-1" strike="noStrike">
              <a:solidFill>
                <a:srgbClr val="000000"/>
              </a:solidFill>
              <a:latin typeface="Arial"/>
            </a:endParaRPr>
          </a:p>
        </p:txBody>
      </p:sp>
      <p:sp>
        <p:nvSpPr>
          <p:cNvPr id="74" name="Shape 16"/>
          <p:cNvSpPr/>
          <p:nvPr/>
        </p:nvSpPr>
        <p:spPr>
          <a:xfrm>
            <a:off x="379080" y="3220920"/>
            <a:ext cx="11433960" cy="2652120"/>
          </a:xfrm>
          <a:custGeom>
            <a:avLst/>
            <a:gdLst>
              <a:gd name="textAreaLeft" fmla="*/ 0 w 11433960"/>
              <a:gd name="textAreaRight" fmla="*/ 11434320 w 11433960"/>
              <a:gd name="textAreaTop" fmla="*/ 0 h 2652120"/>
              <a:gd name="textAreaBottom" fmla="*/ 2652480 h 2652120"/>
            </a:gdLst>
            <a:ahLst/>
            <a:rect l="textAreaLeft" t="textAreaTop" r="textAreaRight" b="textAreaBottom"/>
            <a:pathLst>
              <a:path w="11434145" h="2652494">
                <a:moveTo>
                  <a:pt x="75782" y="0"/>
                </a:moveTo>
                <a:lnTo>
                  <a:pt x="11358363" y="0"/>
                </a:lnTo>
                <a:cubicBezTo>
                  <a:pt x="11400216" y="0"/>
                  <a:pt x="11434145" y="33929"/>
                  <a:pt x="11434145" y="75782"/>
                </a:cubicBezTo>
                <a:lnTo>
                  <a:pt x="11434145" y="2576712"/>
                </a:lnTo>
                <a:cubicBezTo>
                  <a:pt x="11434145" y="2618566"/>
                  <a:pt x="11400216" y="2652494"/>
                  <a:pt x="11358363" y="2652494"/>
                </a:cubicBezTo>
                <a:lnTo>
                  <a:pt x="75782" y="2652494"/>
                </a:lnTo>
                <a:cubicBezTo>
                  <a:pt x="33929" y="2652494"/>
                  <a:pt x="0" y="2618566"/>
                  <a:pt x="0" y="2576712"/>
                </a:cubicBezTo>
                <a:lnTo>
                  <a:pt x="0" y="75782"/>
                </a:lnTo>
                <a:cubicBezTo>
                  <a:pt x="0" y="33957"/>
                  <a:pt x="33957" y="0"/>
                  <a:pt x="75782" y="0"/>
                </a:cubicBezTo>
                <a:close/>
              </a:path>
            </a:pathLst>
          </a:custGeom>
          <a:solidFill>
            <a:srgbClr val="5e81ac">
              <a:alpha val="5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75" name="Text 17"/>
          <p:cNvSpPr/>
          <p:nvPr/>
        </p:nvSpPr>
        <p:spPr>
          <a:xfrm>
            <a:off x="530640" y="3372480"/>
            <a:ext cx="11244240" cy="3027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790" spc="-1" strike="noStrike">
                <a:solidFill>
                  <a:srgbClr val="2e3440"/>
                </a:solidFill>
                <a:latin typeface="Liter"/>
                <a:ea typeface="Liter"/>
              </a:rPr>
              <a:t>Obiettivi Specifici</a:t>
            </a:r>
            <a:endParaRPr b="0" lang="it-IT" sz="1790" spc="-1" strike="noStrike">
              <a:solidFill>
                <a:srgbClr val="000000"/>
              </a:solidFill>
              <a:latin typeface="Arial"/>
            </a:endParaRPr>
          </a:p>
        </p:txBody>
      </p:sp>
      <p:sp>
        <p:nvSpPr>
          <p:cNvPr id="76" name="Shape 18"/>
          <p:cNvSpPr/>
          <p:nvPr/>
        </p:nvSpPr>
        <p:spPr>
          <a:xfrm>
            <a:off x="530640" y="3827160"/>
            <a:ext cx="2671200" cy="1894320"/>
          </a:xfrm>
          <a:custGeom>
            <a:avLst/>
            <a:gdLst>
              <a:gd name="textAreaLeft" fmla="*/ 0 w 2671200"/>
              <a:gd name="textAreaRight" fmla="*/ 2671560 w 2671200"/>
              <a:gd name="textAreaTop" fmla="*/ 0 h 1894320"/>
              <a:gd name="textAreaBottom" fmla="*/ 1894680 h 1894320"/>
            </a:gdLst>
            <a:ahLst/>
            <a:rect l="textAreaLeft" t="textAreaTop" r="textAreaRight" b="textAreaBottom"/>
            <a:pathLst>
              <a:path w="2671441" h="1894639">
                <a:moveTo>
                  <a:pt x="75786" y="0"/>
                </a:moveTo>
                <a:lnTo>
                  <a:pt x="2595655" y="0"/>
                </a:lnTo>
                <a:cubicBezTo>
                  <a:pt x="2637510" y="0"/>
                  <a:pt x="2671441" y="33930"/>
                  <a:pt x="2671441" y="75786"/>
                </a:cubicBezTo>
                <a:lnTo>
                  <a:pt x="2671441" y="1818853"/>
                </a:lnTo>
                <a:cubicBezTo>
                  <a:pt x="2671441" y="1860708"/>
                  <a:pt x="2637510" y="1894639"/>
                  <a:pt x="2595655" y="1894639"/>
                </a:cubicBezTo>
                <a:lnTo>
                  <a:pt x="75786" y="1894639"/>
                </a:lnTo>
                <a:cubicBezTo>
                  <a:pt x="33930" y="1894639"/>
                  <a:pt x="0" y="1860708"/>
                  <a:pt x="0" y="1818853"/>
                </a:cubicBezTo>
                <a:lnTo>
                  <a:pt x="0" y="75786"/>
                </a:lnTo>
                <a:cubicBezTo>
                  <a:pt x="0" y="33930"/>
                  <a:pt x="33930" y="0"/>
                  <a:pt x="75786"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77" name="Shape 19"/>
          <p:cNvSpPr/>
          <p:nvPr/>
        </p:nvSpPr>
        <p:spPr>
          <a:xfrm>
            <a:off x="682200" y="3978720"/>
            <a:ext cx="454320" cy="454320"/>
          </a:xfrm>
          <a:custGeom>
            <a:avLst/>
            <a:gdLst>
              <a:gd name="textAreaLeft" fmla="*/ 0 w 454320"/>
              <a:gd name="textAreaRight" fmla="*/ 454680 w 454320"/>
              <a:gd name="textAreaTop" fmla="*/ 0 h 454320"/>
              <a:gd name="textAreaBottom" fmla="*/ 454680 h 454320"/>
            </a:gdLst>
            <a:ahLst/>
            <a:rect l="textAreaLeft" t="textAreaTop" r="textAreaRight" b="textAreaBottom"/>
            <a:pathLst>
              <a:path w="454713" h="454713">
                <a:moveTo>
                  <a:pt x="227357" y="0"/>
                </a:moveTo>
                <a:lnTo>
                  <a:pt x="227357" y="0"/>
                </a:lnTo>
                <a:cubicBezTo>
                  <a:pt x="352838" y="0"/>
                  <a:pt x="454713" y="101875"/>
                  <a:pt x="454713" y="227357"/>
                </a:cubicBezTo>
                <a:lnTo>
                  <a:pt x="454713" y="227357"/>
                </a:lnTo>
                <a:cubicBezTo>
                  <a:pt x="454713" y="352838"/>
                  <a:pt x="352838" y="454713"/>
                  <a:pt x="227357" y="454713"/>
                </a:cubicBezTo>
                <a:lnTo>
                  <a:pt x="227357" y="454713"/>
                </a:lnTo>
                <a:cubicBezTo>
                  <a:pt x="101875" y="454713"/>
                  <a:pt x="0" y="352838"/>
                  <a:pt x="0" y="227357"/>
                </a:cubicBezTo>
                <a:lnTo>
                  <a:pt x="0" y="227357"/>
                </a:lnTo>
                <a:cubicBezTo>
                  <a:pt x="0" y="101875"/>
                  <a:pt x="101875" y="0"/>
                  <a:pt x="227357"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78" name="Shape 20"/>
          <p:cNvSpPr/>
          <p:nvPr/>
        </p:nvSpPr>
        <p:spPr>
          <a:xfrm>
            <a:off x="826560" y="4111200"/>
            <a:ext cx="165600" cy="189000"/>
          </a:xfrm>
          <a:custGeom>
            <a:avLst/>
            <a:gdLst>
              <a:gd name="textAreaLeft" fmla="*/ 0 w 165600"/>
              <a:gd name="textAreaRight" fmla="*/ 165960 w 165600"/>
              <a:gd name="textAreaTop" fmla="*/ 0 h 189000"/>
              <a:gd name="textAreaBottom" fmla="*/ 189360 h 189000"/>
            </a:gdLst>
            <a:ahLst/>
            <a:rect l="textAreaLeft" t="textAreaTop" r="textAreaRight" b="textAreaBottom"/>
            <a:pathLst>
              <a:path w="165781" h="189464">
                <a:moveTo>
                  <a:pt x="29604" y="38485"/>
                </a:moveTo>
                <a:cubicBezTo>
                  <a:pt x="34505" y="38485"/>
                  <a:pt x="38485" y="34505"/>
                  <a:pt x="38485" y="29604"/>
                </a:cubicBezTo>
                <a:cubicBezTo>
                  <a:pt x="38485" y="24702"/>
                  <a:pt x="34505" y="20723"/>
                  <a:pt x="29604" y="20723"/>
                </a:cubicBezTo>
                <a:cubicBezTo>
                  <a:pt x="24702" y="20723"/>
                  <a:pt x="20723" y="24702"/>
                  <a:pt x="20723" y="29604"/>
                </a:cubicBezTo>
                <a:cubicBezTo>
                  <a:pt x="20723" y="34505"/>
                  <a:pt x="24702" y="38485"/>
                  <a:pt x="29604" y="38485"/>
                </a:cubicBezTo>
                <a:close/>
                <a:moveTo>
                  <a:pt x="59207" y="29604"/>
                </a:moveTo>
                <a:cubicBezTo>
                  <a:pt x="59207" y="41741"/>
                  <a:pt x="51918" y="52177"/>
                  <a:pt x="41445" y="56728"/>
                </a:cubicBezTo>
                <a:lnTo>
                  <a:pt x="41445" y="82890"/>
                </a:lnTo>
                <a:lnTo>
                  <a:pt x="106573" y="82890"/>
                </a:lnTo>
                <a:cubicBezTo>
                  <a:pt x="116380" y="82890"/>
                  <a:pt x="124336" y="74934"/>
                  <a:pt x="124336" y="65128"/>
                </a:cubicBezTo>
                <a:lnTo>
                  <a:pt x="124336" y="56728"/>
                </a:lnTo>
                <a:cubicBezTo>
                  <a:pt x="113863" y="52177"/>
                  <a:pt x="106573" y="41741"/>
                  <a:pt x="106573" y="29604"/>
                </a:cubicBezTo>
                <a:cubicBezTo>
                  <a:pt x="106573" y="13248"/>
                  <a:pt x="119821" y="0"/>
                  <a:pt x="136177" y="0"/>
                </a:cubicBezTo>
                <a:cubicBezTo>
                  <a:pt x="152533" y="0"/>
                  <a:pt x="165781" y="13248"/>
                  <a:pt x="165781" y="29604"/>
                </a:cubicBezTo>
                <a:cubicBezTo>
                  <a:pt x="165781" y="41741"/>
                  <a:pt x="158491" y="52177"/>
                  <a:pt x="148019" y="56728"/>
                </a:cubicBezTo>
                <a:lnTo>
                  <a:pt x="148019" y="65128"/>
                </a:lnTo>
                <a:cubicBezTo>
                  <a:pt x="148019" y="88034"/>
                  <a:pt x="129479" y="106573"/>
                  <a:pt x="106573" y="106573"/>
                </a:cubicBezTo>
                <a:lnTo>
                  <a:pt x="41445" y="106573"/>
                </a:lnTo>
                <a:lnTo>
                  <a:pt x="41445" y="132736"/>
                </a:lnTo>
                <a:cubicBezTo>
                  <a:pt x="51918" y="137287"/>
                  <a:pt x="59207" y="147723"/>
                  <a:pt x="59207" y="159860"/>
                </a:cubicBezTo>
                <a:cubicBezTo>
                  <a:pt x="59207" y="176216"/>
                  <a:pt x="45960" y="189464"/>
                  <a:pt x="29604" y="189464"/>
                </a:cubicBezTo>
                <a:cubicBezTo>
                  <a:pt x="13248" y="189464"/>
                  <a:pt x="0" y="176216"/>
                  <a:pt x="0" y="159860"/>
                </a:cubicBezTo>
                <a:cubicBezTo>
                  <a:pt x="0" y="147723"/>
                  <a:pt x="7290" y="137287"/>
                  <a:pt x="17762" y="132736"/>
                </a:cubicBezTo>
                <a:lnTo>
                  <a:pt x="17762" y="56765"/>
                </a:lnTo>
                <a:cubicBezTo>
                  <a:pt x="7290" y="52177"/>
                  <a:pt x="0" y="41741"/>
                  <a:pt x="0" y="29604"/>
                </a:cubicBezTo>
                <a:cubicBezTo>
                  <a:pt x="0" y="13248"/>
                  <a:pt x="13248" y="0"/>
                  <a:pt x="29604" y="0"/>
                </a:cubicBezTo>
                <a:cubicBezTo>
                  <a:pt x="45960" y="0"/>
                  <a:pt x="59207" y="13248"/>
                  <a:pt x="59207" y="29604"/>
                </a:cubicBezTo>
                <a:close/>
                <a:moveTo>
                  <a:pt x="145058" y="29604"/>
                </a:moveTo>
                <a:cubicBezTo>
                  <a:pt x="145058" y="24702"/>
                  <a:pt x="141079" y="20723"/>
                  <a:pt x="136177" y="20723"/>
                </a:cubicBezTo>
                <a:cubicBezTo>
                  <a:pt x="131276" y="20723"/>
                  <a:pt x="127296" y="24702"/>
                  <a:pt x="127296" y="29604"/>
                </a:cubicBezTo>
                <a:cubicBezTo>
                  <a:pt x="127296" y="34505"/>
                  <a:pt x="131276" y="38485"/>
                  <a:pt x="136177" y="38485"/>
                </a:cubicBezTo>
                <a:cubicBezTo>
                  <a:pt x="141079" y="38485"/>
                  <a:pt x="145058" y="34505"/>
                  <a:pt x="145058" y="29604"/>
                </a:cubicBezTo>
                <a:close/>
                <a:moveTo>
                  <a:pt x="29604" y="168741"/>
                </a:moveTo>
                <a:cubicBezTo>
                  <a:pt x="34505" y="168741"/>
                  <a:pt x="38485" y="164762"/>
                  <a:pt x="38485" y="159860"/>
                </a:cubicBezTo>
                <a:cubicBezTo>
                  <a:pt x="38485" y="154959"/>
                  <a:pt x="34505" y="150979"/>
                  <a:pt x="29604" y="150979"/>
                </a:cubicBezTo>
                <a:cubicBezTo>
                  <a:pt x="24702" y="150979"/>
                  <a:pt x="20723" y="154959"/>
                  <a:pt x="20723" y="159860"/>
                </a:cubicBezTo>
                <a:cubicBezTo>
                  <a:pt x="20723" y="164762"/>
                  <a:pt x="24702" y="168741"/>
                  <a:pt x="29604" y="168741"/>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79" name="Text 21"/>
          <p:cNvSpPr/>
          <p:nvPr/>
        </p:nvSpPr>
        <p:spPr>
          <a:xfrm>
            <a:off x="682200" y="4547160"/>
            <a:ext cx="2453040" cy="2649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40" spc="-1" strike="noStrike">
                <a:solidFill>
                  <a:srgbClr val="2e3440"/>
                </a:solidFill>
                <a:latin typeface="Liter"/>
                <a:ea typeface="Liter"/>
              </a:rPr>
              <a:t>OpenMP</a:t>
            </a:r>
            <a:endParaRPr b="0" lang="it-IT" sz="1340" spc="-1" strike="noStrike">
              <a:solidFill>
                <a:srgbClr val="000000"/>
              </a:solidFill>
              <a:latin typeface="Arial"/>
            </a:endParaRPr>
          </a:p>
        </p:txBody>
      </p:sp>
      <p:sp>
        <p:nvSpPr>
          <p:cNvPr id="80" name="Text 22"/>
          <p:cNvSpPr/>
          <p:nvPr/>
        </p:nvSpPr>
        <p:spPr>
          <a:xfrm>
            <a:off x="682200" y="4888080"/>
            <a:ext cx="2443680" cy="681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Implementare versione parallela con direttive OpenMP per il multithreading</a:t>
            </a:r>
            <a:endParaRPr b="0" lang="it-IT" sz="1200" spc="-1" strike="noStrike">
              <a:solidFill>
                <a:srgbClr val="000000"/>
              </a:solidFill>
              <a:latin typeface="Arial"/>
            </a:endParaRPr>
          </a:p>
        </p:txBody>
      </p:sp>
      <p:sp>
        <p:nvSpPr>
          <p:cNvPr id="81" name="Shape 23"/>
          <p:cNvSpPr/>
          <p:nvPr/>
        </p:nvSpPr>
        <p:spPr>
          <a:xfrm>
            <a:off x="3351240" y="3827160"/>
            <a:ext cx="2671200" cy="1894320"/>
          </a:xfrm>
          <a:custGeom>
            <a:avLst/>
            <a:gdLst>
              <a:gd name="textAreaLeft" fmla="*/ 0 w 2671200"/>
              <a:gd name="textAreaRight" fmla="*/ 2671560 w 2671200"/>
              <a:gd name="textAreaTop" fmla="*/ 0 h 1894320"/>
              <a:gd name="textAreaBottom" fmla="*/ 1894680 h 1894320"/>
            </a:gdLst>
            <a:ahLst/>
            <a:rect l="textAreaLeft" t="textAreaTop" r="textAreaRight" b="textAreaBottom"/>
            <a:pathLst>
              <a:path w="2671441" h="1894639">
                <a:moveTo>
                  <a:pt x="75786" y="0"/>
                </a:moveTo>
                <a:lnTo>
                  <a:pt x="2595655" y="0"/>
                </a:lnTo>
                <a:cubicBezTo>
                  <a:pt x="2637510" y="0"/>
                  <a:pt x="2671441" y="33930"/>
                  <a:pt x="2671441" y="75786"/>
                </a:cubicBezTo>
                <a:lnTo>
                  <a:pt x="2671441" y="1818853"/>
                </a:lnTo>
                <a:cubicBezTo>
                  <a:pt x="2671441" y="1860708"/>
                  <a:pt x="2637510" y="1894639"/>
                  <a:pt x="2595655" y="1894639"/>
                </a:cubicBezTo>
                <a:lnTo>
                  <a:pt x="75786" y="1894639"/>
                </a:lnTo>
                <a:cubicBezTo>
                  <a:pt x="33930" y="1894639"/>
                  <a:pt x="0" y="1860708"/>
                  <a:pt x="0" y="1818853"/>
                </a:cubicBezTo>
                <a:lnTo>
                  <a:pt x="0" y="75786"/>
                </a:lnTo>
                <a:cubicBezTo>
                  <a:pt x="0" y="33930"/>
                  <a:pt x="33930" y="0"/>
                  <a:pt x="75786"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82" name="Shape 24"/>
          <p:cNvSpPr/>
          <p:nvPr/>
        </p:nvSpPr>
        <p:spPr>
          <a:xfrm>
            <a:off x="3502800" y="3978720"/>
            <a:ext cx="454320" cy="454320"/>
          </a:xfrm>
          <a:custGeom>
            <a:avLst/>
            <a:gdLst>
              <a:gd name="textAreaLeft" fmla="*/ 0 w 454320"/>
              <a:gd name="textAreaRight" fmla="*/ 454680 w 454320"/>
              <a:gd name="textAreaTop" fmla="*/ 0 h 454320"/>
              <a:gd name="textAreaBottom" fmla="*/ 454680 h 454320"/>
            </a:gdLst>
            <a:ahLst/>
            <a:rect l="textAreaLeft" t="textAreaTop" r="textAreaRight" b="textAreaBottom"/>
            <a:pathLst>
              <a:path w="454713" h="454713">
                <a:moveTo>
                  <a:pt x="227357" y="0"/>
                </a:moveTo>
                <a:lnTo>
                  <a:pt x="227357" y="0"/>
                </a:lnTo>
                <a:cubicBezTo>
                  <a:pt x="352838" y="0"/>
                  <a:pt x="454713" y="101875"/>
                  <a:pt x="454713" y="227357"/>
                </a:cubicBezTo>
                <a:lnTo>
                  <a:pt x="454713" y="227357"/>
                </a:lnTo>
                <a:cubicBezTo>
                  <a:pt x="454713" y="352838"/>
                  <a:pt x="352838" y="454713"/>
                  <a:pt x="227357" y="454713"/>
                </a:cubicBezTo>
                <a:lnTo>
                  <a:pt x="227357" y="454713"/>
                </a:lnTo>
                <a:cubicBezTo>
                  <a:pt x="101875" y="454713"/>
                  <a:pt x="0" y="352838"/>
                  <a:pt x="0" y="227357"/>
                </a:cubicBezTo>
                <a:lnTo>
                  <a:pt x="0" y="227357"/>
                </a:lnTo>
                <a:cubicBezTo>
                  <a:pt x="0" y="101875"/>
                  <a:pt x="101875" y="0"/>
                  <a:pt x="227357"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83" name="Shape 25"/>
          <p:cNvSpPr/>
          <p:nvPr/>
        </p:nvSpPr>
        <p:spPr>
          <a:xfrm>
            <a:off x="3635640" y="4111200"/>
            <a:ext cx="189000" cy="189000"/>
          </a:xfrm>
          <a:custGeom>
            <a:avLst/>
            <a:gdLst>
              <a:gd name="textAreaLeft" fmla="*/ 0 w 189000"/>
              <a:gd name="textAreaRight" fmla="*/ 189360 w 189000"/>
              <a:gd name="textAreaTop" fmla="*/ 0 h 189000"/>
              <a:gd name="textAreaBottom" fmla="*/ 189360 h 189000"/>
            </a:gdLst>
            <a:ahLst/>
            <a:rect l="textAreaLeft" t="textAreaTop" r="textAreaRight" b="textAreaBottom"/>
            <a:pathLst>
              <a:path w="189464" h="189464">
                <a:moveTo>
                  <a:pt x="86036" y="1924"/>
                </a:moveTo>
                <a:cubicBezTo>
                  <a:pt x="91550" y="-629"/>
                  <a:pt x="97914" y="-629"/>
                  <a:pt x="103428" y="1924"/>
                </a:cubicBezTo>
                <a:lnTo>
                  <a:pt x="184320" y="39299"/>
                </a:lnTo>
                <a:cubicBezTo>
                  <a:pt x="187466" y="40742"/>
                  <a:pt x="189464" y="43888"/>
                  <a:pt x="189464" y="47366"/>
                </a:cubicBezTo>
                <a:cubicBezTo>
                  <a:pt x="189464" y="50844"/>
                  <a:pt x="187466" y="53990"/>
                  <a:pt x="184320" y="55433"/>
                </a:cubicBezTo>
                <a:lnTo>
                  <a:pt x="103428" y="92808"/>
                </a:lnTo>
                <a:cubicBezTo>
                  <a:pt x="97914" y="95361"/>
                  <a:pt x="91550" y="95361"/>
                  <a:pt x="86036" y="92808"/>
                </a:cubicBezTo>
                <a:lnTo>
                  <a:pt x="5144" y="55433"/>
                </a:lnTo>
                <a:cubicBezTo>
                  <a:pt x="1998" y="53953"/>
                  <a:pt x="0" y="50807"/>
                  <a:pt x="0" y="47366"/>
                </a:cubicBezTo>
                <a:cubicBezTo>
                  <a:pt x="0" y="43925"/>
                  <a:pt x="1998" y="40742"/>
                  <a:pt x="5144" y="39299"/>
                </a:cubicBezTo>
                <a:lnTo>
                  <a:pt x="86036" y="1924"/>
                </a:lnTo>
                <a:close/>
                <a:moveTo>
                  <a:pt x="17799" y="80818"/>
                </a:moveTo>
                <a:lnTo>
                  <a:pt x="78598" y="108905"/>
                </a:lnTo>
                <a:cubicBezTo>
                  <a:pt x="88848" y="113641"/>
                  <a:pt x="100653" y="113641"/>
                  <a:pt x="110903" y="108905"/>
                </a:cubicBezTo>
                <a:lnTo>
                  <a:pt x="171702" y="80818"/>
                </a:lnTo>
                <a:lnTo>
                  <a:pt x="184320" y="86665"/>
                </a:lnTo>
                <a:cubicBezTo>
                  <a:pt x="187466" y="88108"/>
                  <a:pt x="189464" y="91253"/>
                  <a:pt x="189464" y="94732"/>
                </a:cubicBezTo>
                <a:cubicBezTo>
                  <a:pt x="189464" y="98210"/>
                  <a:pt x="187466" y="101356"/>
                  <a:pt x="184320" y="102799"/>
                </a:cubicBezTo>
                <a:lnTo>
                  <a:pt x="103428" y="140174"/>
                </a:lnTo>
                <a:cubicBezTo>
                  <a:pt x="97914" y="142727"/>
                  <a:pt x="91550" y="142727"/>
                  <a:pt x="86036" y="140174"/>
                </a:cubicBezTo>
                <a:lnTo>
                  <a:pt x="5144" y="102799"/>
                </a:lnTo>
                <a:cubicBezTo>
                  <a:pt x="1998" y="101319"/>
                  <a:pt x="0" y="98173"/>
                  <a:pt x="0" y="94732"/>
                </a:cubicBezTo>
                <a:cubicBezTo>
                  <a:pt x="0" y="91291"/>
                  <a:pt x="1998" y="88108"/>
                  <a:pt x="5144" y="86665"/>
                </a:cubicBezTo>
                <a:lnTo>
                  <a:pt x="17762" y="80818"/>
                </a:lnTo>
                <a:close/>
                <a:moveTo>
                  <a:pt x="5144" y="134031"/>
                </a:moveTo>
                <a:lnTo>
                  <a:pt x="17762" y="128184"/>
                </a:lnTo>
                <a:lnTo>
                  <a:pt x="78561" y="156271"/>
                </a:lnTo>
                <a:cubicBezTo>
                  <a:pt x="88811" y="161007"/>
                  <a:pt x="100616" y="161007"/>
                  <a:pt x="110866" y="156271"/>
                </a:cubicBezTo>
                <a:lnTo>
                  <a:pt x="171665" y="128184"/>
                </a:lnTo>
                <a:lnTo>
                  <a:pt x="184283" y="134031"/>
                </a:lnTo>
                <a:cubicBezTo>
                  <a:pt x="187429" y="135474"/>
                  <a:pt x="189427" y="138619"/>
                  <a:pt x="189427" y="142098"/>
                </a:cubicBezTo>
                <a:cubicBezTo>
                  <a:pt x="189427" y="145576"/>
                  <a:pt x="187429" y="148722"/>
                  <a:pt x="184283" y="150165"/>
                </a:cubicBezTo>
                <a:lnTo>
                  <a:pt x="103391" y="187540"/>
                </a:lnTo>
                <a:cubicBezTo>
                  <a:pt x="97877" y="190093"/>
                  <a:pt x="91513" y="190093"/>
                  <a:pt x="85999" y="187540"/>
                </a:cubicBezTo>
                <a:lnTo>
                  <a:pt x="5144" y="150165"/>
                </a:lnTo>
                <a:cubicBezTo>
                  <a:pt x="1998" y="148685"/>
                  <a:pt x="0" y="145539"/>
                  <a:pt x="0" y="142098"/>
                </a:cubicBezTo>
                <a:cubicBezTo>
                  <a:pt x="0" y="138656"/>
                  <a:pt x="1998" y="135474"/>
                  <a:pt x="5144" y="134031"/>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84" name="Text 26"/>
          <p:cNvSpPr/>
          <p:nvPr/>
        </p:nvSpPr>
        <p:spPr>
          <a:xfrm>
            <a:off x="3502800" y="4547160"/>
            <a:ext cx="2453040" cy="2649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40" spc="-1" strike="noStrike">
                <a:solidFill>
                  <a:srgbClr val="2e3440"/>
                </a:solidFill>
                <a:latin typeface="Liter"/>
                <a:ea typeface="Liter"/>
              </a:rPr>
              <a:t>SIMD</a:t>
            </a:r>
            <a:endParaRPr b="0" lang="it-IT" sz="1340" spc="-1" strike="noStrike">
              <a:solidFill>
                <a:srgbClr val="000000"/>
              </a:solidFill>
              <a:latin typeface="Arial"/>
            </a:endParaRPr>
          </a:p>
        </p:txBody>
      </p:sp>
      <p:sp>
        <p:nvSpPr>
          <p:cNvPr id="85" name="Text 27"/>
          <p:cNvSpPr/>
          <p:nvPr/>
        </p:nvSpPr>
        <p:spPr>
          <a:xfrm>
            <a:off x="3502800" y="4888080"/>
            <a:ext cx="2443680" cy="681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Sfruttare istruzioni vettoriali AVX/AVX2 per calcolo parallelo sui dati</a:t>
            </a:r>
            <a:endParaRPr b="0" lang="it-IT" sz="1200" spc="-1" strike="noStrike">
              <a:solidFill>
                <a:srgbClr val="000000"/>
              </a:solidFill>
              <a:latin typeface="Arial"/>
            </a:endParaRPr>
          </a:p>
        </p:txBody>
      </p:sp>
      <p:sp>
        <p:nvSpPr>
          <p:cNvPr id="86" name="Shape 28"/>
          <p:cNvSpPr/>
          <p:nvPr/>
        </p:nvSpPr>
        <p:spPr>
          <a:xfrm>
            <a:off x="6172200" y="3827160"/>
            <a:ext cx="2671200" cy="1894320"/>
          </a:xfrm>
          <a:custGeom>
            <a:avLst/>
            <a:gdLst>
              <a:gd name="textAreaLeft" fmla="*/ 0 w 2671200"/>
              <a:gd name="textAreaRight" fmla="*/ 2671560 w 2671200"/>
              <a:gd name="textAreaTop" fmla="*/ 0 h 1894320"/>
              <a:gd name="textAreaBottom" fmla="*/ 1894680 h 1894320"/>
            </a:gdLst>
            <a:ahLst/>
            <a:rect l="textAreaLeft" t="textAreaTop" r="textAreaRight" b="textAreaBottom"/>
            <a:pathLst>
              <a:path w="2671441" h="1894639">
                <a:moveTo>
                  <a:pt x="75786" y="0"/>
                </a:moveTo>
                <a:lnTo>
                  <a:pt x="2595655" y="0"/>
                </a:lnTo>
                <a:cubicBezTo>
                  <a:pt x="2637510" y="0"/>
                  <a:pt x="2671441" y="33930"/>
                  <a:pt x="2671441" y="75786"/>
                </a:cubicBezTo>
                <a:lnTo>
                  <a:pt x="2671441" y="1818853"/>
                </a:lnTo>
                <a:cubicBezTo>
                  <a:pt x="2671441" y="1860708"/>
                  <a:pt x="2637510" y="1894639"/>
                  <a:pt x="2595655" y="1894639"/>
                </a:cubicBezTo>
                <a:lnTo>
                  <a:pt x="75786" y="1894639"/>
                </a:lnTo>
                <a:cubicBezTo>
                  <a:pt x="33930" y="1894639"/>
                  <a:pt x="0" y="1860708"/>
                  <a:pt x="0" y="1818853"/>
                </a:cubicBezTo>
                <a:lnTo>
                  <a:pt x="0" y="75786"/>
                </a:lnTo>
                <a:cubicBezTo>
                  <a:pt x="0" y="33930"/>
                  <a:pt x="33930" y="0"/>
                  <a:pt x="75786"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87" name="Shape 29"/>
          <p:cNvSpPr/>
          <p:nvPr/>
        </p:nvSpPr>
        <p:spPr>
          <a:xfrm>
            <a:off x="6323760" y="3978720"/>
            <a:ext cx="454320" cy="454320"/>
          </a:xfrm>
          <a:custGeom>
            <a:avLst/>
            <a:gdLst>
              <a:gd name="textAreaLeft" fmla="*/ 0 w 454320"/>
              <a:gd name="textAreaRight" fmla="*/ 454680 w 454320"/>
              <a:gd name="textAreaTop" fmla="*/ 0 h 454320"/>
              <a:gd name="textAreaBottom" fmla="*/ 454680 h 454320"/>
            </a:gdLst>
            <a:ahLst/>
            <a:rect l="textAreaLeft" t="textAreaTop" r="textAreaRight" b="textAreaBottom"/>
            <a:pathLst>
              <a:path w="454713" h="454713">
                <a:moveTo>
                  <a:pt x="227357" y="0"/>
                </a:moveTo>
                <a:lnTo>
                  <a:pt x="227357" y="0"/>
                </a:lnTo>
                <a:cubicBezTo>
                  <a:pt x="352838" y="0"/>
                  <a:pt x="454713" y="101875"/>
                  <a:pt x="454713" y="227357"/>
                </a:cubicBezTo>
                <a:lnTo>
                  <a:pt x="454713" y="227357"/>
                </a:lnTo>
                <a:cubicBezTo>
                  <a:pt x="454713" y="352838"/>
                  <a:pt x="352838" y="454713"/>
                  <a:pt x="227357" y="454713"/>
                </a:cubicBezTo>
                <a:lnTo>
                  <a:pt x="227357" y="454713"/>
                </a:lnTo>
                <a:cubicBezTo>
                  <a:pt x="101875" y="454713"/>
                  <a:pt x="0" y="352838"/>
                  <a:pt x="0" y="227357"/>
                </a:cubicBezTo>
                <a:lnTo>
                  <a:pt x="0" y="227357"/>
                </a:lnTo>
                <a:cubicBezTo>
                  <a:pt x="0" y="101875"/>
                  <a:pt x="101875" y="0"/>
                  <a:pt x="227357"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88" name="Shape 30"/>
          <p:cNvSpPr/>
          <p:nvPr/>
        </p:nvSpPr>
        <p:spPr>
          <a:xfrm>
            <a:off x="6456240" y="4111200"/>
            <a:ext cx="189000" cy="189000"/>
          </a:xfrm>
          <a:custGeom>
            <a:avLst/>
            <a:gdLst>
              <a:gd name="textAreaLeft" fmla="*/ 0 w 189000"/>
              <a:gd name="textAreaRight" fmla="*/ 189360 w 189000"/>
              <a:gd name="textAreaTop" fmla="*/ 0 h 189000"/>
              <a:gd name="textAreaBottom" fmla="*/ 189360 h 189000"/>
            </a:gdLst>
            <a:ahLst/>
            <a:rect l="textAreaLeft" t="textAreaTop" r="textAreaRight" b="textAreaBottom"/>
            <a:pathLst>
              <a:path w="189464" h="189464">
                <a:moveTo>
                  <a:pt x="11841" y="11841"/>
                </a:moveTo>
                <a:cubicBezTo>
                  <a:pt x="18391" y="11841"/>
                  <a:pt x="23683" y="17133"/>
                  <a:pt x="23683" y="23683"/>
                </a:cubicBezTo>
                <a:lnTo>
                  <a:pt x="23683" y="148019"/>
                </a:lnTo>
                <a:cubicBezTo>
                  <a:pt x="23683" y="151275"/>
                  <a:pt x="26347" y="153939"/>
                  <a:pt x="29604" y="153939"/>
                </a:cubicBezTo>
                <a:lnTo>
                  <a:pt x="177622" y="153939"/>
                </a:lnTo>
                <a:cubicBezTo>
                  <a:pt x="184172" y="153939"/>
                  <a:pt x="189464" y="159231"/>
                  <a:pt x="189464" y="165781"/>
                </a:cubicBezTo>
                <a:cubicBezTo>
                  <a:pt x="189464" y="172331"/>
                  <a:pt x="184172" y="177622"/>
                  <a:pt x="177622" y="177622"/>
                </a:cubicBezTo>
                <a:lnTo>
                  <a:pt x="29604" y="177622"/>
                </a:lnTo>
                <a:cubicBezTo>
                  <a:pt x="13248" y="177622"/>
                  <a:pt x="0" y="164375"/>
                  <a:pt x="0" y="148019"/>
                </a:cubicBezTo>
                <a:lnTo>
                  <a:pt x="0" y="23683"/>
                </a:lnTo>
                <a:cubicBezTo>
                  <a:pt x="0" y="17133"/>
                  <a:pt x="5292" y="11841"/>
                  <a:pt x="11841" y="11841"/>
                </a:cubicBezTo>
                <a:close/>
                <a:moveTo>
                  <a:pt x="47366" y="35524"/>
                </a:moveTo>
                <a:cubicBezTo>
                  <a:pt x="47366" y="28975"/>
                  <a:pt x="52658" y="23683"/>
                  <a:pt x="59207" y="23683"/>
                </a:cubicBezTo>
                <a:lnTo>
                  <a:pt x="130256" y="23683"/>
                </a:lnTo>
                <a:cubicBezTo>
                  <a:pt x="136806" y="23683"/>
                  <a:pt x="142098" y="28975"/>
                  <a:pt x="142098" y="35524"/>
                </a:cubicBezTo>
                <a:cubicBezTo>
                  <a:pt x="142098" y="42074"/>
                  <a:pt x="136806" y="47366"/>
                  <a:pt x="130256" y="47366"/>
                </a:cubicBezTo>
                <a:lnTo>
                  <a:pt x="59207" y="47366"/>
                </a:lnTo>
                <a:cubicBezTo>
                  <a:pt x="52658" y="47366"/>
                  <a:pt x="47366" y="42074"/>
                  <a:pt x="47366" y="35524"/>
                </a:cubicBezTo>
                <a:close/>
                <a:moveTo>
                  <a:pt x="59207" y="65128"/>
                </a:moveTo>
                <a:lnTo>
                  <a:pt x="106573" y="65128"/>
                </a:lnTo>
                <a:cubicBezTo>
                  <a:pt x="113123" y="65128"/>
                  <a:pt x="118415" y="70420"/>
                  <a:pt x="118415" y="76970"/>
                </a:cubicBezTo>
                <a:cubicBezTo>
                  <a:pt x="118415" y="83520"/>
                  <a:pt x="113123" y="88811"/>
                  <a:pt x="106573" y="88811"/>
                </a:cubicBezTo>
                <a:lnTo>
                  <a:pt x="59207" y="88811"/>
                </a:lnTo>
                <a:cubicBezTo>
                  <a:pt x="52658" y="88811"/>
                  <a:pt x="47366" y="83520"/>
                  <a:pt x="47366" y="76970"/>
                </a:cubicBezTo>
                <a:cubicBezTo>
                  <a:pt x="47366" y="70420"/>
                  <a:pt x="52658" y="65128"/>
                  <a:pt x="59207" y="65128"/>
                </a:cubicBezTo>
                <a:close/>
                <a:moveTo>
                  <a:pt x="59207" y="106573"/>
                </a:moveTo>
                <a:lnTo>
                  <a:pt x="153939" y="106573"/>
                </a:lnTo>
                <a:cubicBezTo>
                  <a:pt x="160489" y="106573"/>
                  <a:pt x="165781" y="111865"/>
                  <a:pt x="165781" y="118415"/>
                </a:cubicBezTo>
                <a:cubicBezTo>
                  <a:pt x="165781" y="124965"/>
                  <a:pt x="160489" y="130256"/>
                  <a:pt x="153939" y="130256"/>
                </a:cubicBezTo>
                <a:lnTo>
                  <a:pt x="59207" y="130256"/>
                </a:lnTo>
                <a:cubicBezTo>
                  <a:pt x="52658" y="130256"/>
                  <a:pt x="47366" y="124965"/>
                  <a:pt x="47366" y="118415"/>
                </a:cubicBezTo>
                <a:cubicBezTo>
                  <a:pt x="47366" y="111865"/>
                  <a:pt x="52658" y="106573"/>
                  <a:pt x="59207" y="106573"/>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89" name="Text 31"/>
          <p:cNvSpPr/>
          <p:nvPr/>
        </p:nvSpPr>
        <p:spPr>
          <a:xfrm>
            <a:off x="6323760" y="4547160"/>
            <a:ext cx="2453040" cy="2649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40" spc="-1" strike="noStrike">
                <a:solidFill>
                  <a:srgbClr val="2e3440"/>
                </a:solidFill>
                <a:latin typeface="Liter"/>
                <a:ea typeface="Liter"/>
              </a:rPr>
              <a:t>Benchmark</a:t>
            </a:r>
            <a:endParaRPr b="0" lang="it-IT" sz="1340" spc="-1" strike="noStrike">
              <a:solidFill>
                <a:srgbClr val="000000"/>
              </a:solidFill>
              <a:latin typeface="Arial"/>
            </a:endParaRPr>
          </a:p>
        </p:txBody>
      </p:sp>
      <p:sp>
        <p:nvSpPr>
          <p:cNvPr id="90" name="Text 32"/>
          <p:cNvSpPr/>
          <p:nvPr/>
        </p:nvSpPr>
        <p:spPr>
          <a:xfrm>
            <a:off x="6323760" y="4888080"/>
            <a:ext cx="2443680" cy="4543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Misurare tempo di esecuzione e speedup con protocollo rigoroso</a:t>
            </a:r>
            <a:endParaRPr b="0" lang="it-IT" sz="1200" spc="-1" strike="noStrike">
              <a:solidFill>
                <a:srgbClr val="000000"/>
              </a:solidFill>
              <a:latin typeface="Arial"/>
            </a:endParaRPr>
          </a:p>
        </p:txBody>
      </p:sp>
      <p:sp>
        <p:nvSpPr>
          <p:cNvPr id="91" name="Shape 33"/>
          <p:cNvSpPr/>
          <p:nvPr/>
        </p:nvSpPr>
        <p:spPr>
          <a:xfrm>
            <a:off x="8993160" y="3827160"/>
            <a:ext cx="2671200" cy="1894320"/>
          </a:xfrm>
          <a:custGeom>
            <a:avLst/>
            <a:gdLst>
              <a:gd name="textAreaLeft" fmla="*/ 0 w 2671200"/>
              <a:gd name="textAreaRight" fmla="*/ 2671560 w 2671200"/>
              <a:gd name="textAreaTop" fmla="*/ 0 h 1894320"/>
              <a:gd name="textAreaBottom" fmla="*/ 1894680 h 1894320"/>
            </a:gdLst>
            <a:ahLst/>
            <a:rect l="textAreaLeft" t="textAreaTop" r="textAreaRight" b="textAreaBottom"/>
            <a:pathLst>
              <a:path w="2671441" h="1894639">
                <a:moveTo>
                  <a:pt x="75786" y="0"/>
                </a:moveTo>
                <a:lnTo>
                  <a:pt x="2595655" y="0"/>
                </a:lnTo>
                <a:cubicBezTo>
                  <a:pt x="2637510" y="0"/>
                  <a:pt x="2671441" y="33930"/>
                  <a:pt x="2671441" y="75786"/>
                </a:cubicBezTo>
                <a:lnTo>
                  <a:pt x="2671441" y="1818853"/>
                </a:lnTo>
                <a:cubicBezTo>
                  <a:pt x="2671441" y="1860708"/>
                  <a:pt x="2637510" y="1894639"/>
                  <a:pt x="2595655" y="1894639"/>
                </a:cubicBezTo>
                <a:lnTo>
                  <a:pt x="75786" y="1894639"/>
                </a:lnTo>
                <a:cubicBezTo>
                  <a:pt x="33930" y="1894639"/>
                  <a:pt x="0" y="1860708"/>
                  <a:pt x="0" y="1818853"/>
                </a:cubicBezTo>
                <a:lnTo>
                  <a:pt x="0" y="75786"/>
                </a:lnTo>
                <a:cubicBezTo>
                  <a:pt x="0" y="33930"/>
                  <a:pt x="33930" y="0"/>
                  <a:pt x="75786"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92" name="Shape 34"/>
          <p:cNvSpPr/>
          <p:nvPr/>
        </p:nvSpPr>
        <p:spPr>
          <a:xfrm>
            <a:off x="9144720" y="3978720"/>
            <a:ext cx="454320" cy="454320"/>
          </a:xfrm>
          <a:custGeom>
            <a:avLst/>
            <a:gdLst>
              <a:gd name="textAreaLeft" fmla="*/ 0 w 454320"/>
              <a:gd name="textAreaRight" fmla="*/ 454680 w 454320"/>
              <a:gd name="textAreaTop" fmla="*/ 0 h 454320"/>
              <a:gd name="textAreaBottom" fmla="*/ 454680 h 454320"/>
            </a:gdLst>
            <a:ahLst/>
            <a:rect l="textAreaLeft" t="textAreaTop" r="textAreaRight" b="textAreaBottom"/>
            <a:pathLst>
              <a:path w="454713" h="454713">
                <a:moveTo>
                  <a:pt x="227357" y="0"/>
                </a:moveTo>
                <a:lnTo>
                  <a:pt x="227357" y="0"/>
                </a:lnTo>
                <a:cubicBezTo>
                  <a:pt x="352838" y="0"/>
                  <a:pt x="454713" y="101875"/>
                  <a:pt x="454713" y="227357"/>
                </a:cubicBezTo>
                <a:lnTo>
                  <a:pt x="454713" y="227357"/>
                </a:lnTo>
                <a:cubicBezTo>
                  <a:pt x="454713" y="352838"/>
                  <a:pt x="352838" y="454713"/>
                  <a:pt x="227357" y="454713"/>
                </a:cubicBezTo>
                <a:lnTo>
                  <a:pt x="227357" y="454713"/>
                </a:lnTo>
                <a:cubicBezTo>
                  <a:pt x="101875" y="454713"/>
                  <a:pt x="0" y="352838"/>
                  <a:pt x="0" y="227357"/>
                </a:cubicBezTo>
                <a:lnTo>
                  <a:pt x="0" y="227357"/>
                </a:lnTo>
                <a:cubicBezTo>
                  <a:pt x="0" y="101875"/>
                  <a:pt x="101875" y="0"/>
                  <a:pt x="227357"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93" name="Shape 35"/>
          <p:cNvSpPr/>
          <p:nvPr/>
        </p:nvSpPr>
        <p:spPr>
          <a:xfrm>
            <a:off x="9277200" y="4111200"/>
            <a:ext cx="189000" cy="189000"/>
          </a:xfrm>
          <a:custGeom>
            <a:avLst/>
            <a:gdLst>
              <a:gd name="textAreaLeft" fmla="*/ 0 w 189000"/>
              <a:gd name="textAreaRight" fmla="*/ 189360 w 189000"/>
              <a:gd name="textAreaTop" fmla="*/ 0 h 189000"/>
              <a:gd name="textAreaBottom" fmla="*/ 189360 h 189000"/>
            </a:gdLst>
            <a:ahLst/>
            <a:rect l="textAreaLeft" t="textAreaTop" r="textAreaRight" b="textAreaBottom"/>
            <a:pathLst>
              <a:path w="189464" h="189464">
                <a:moveTo>
                  <a:pt x="23683" y="23683"/>
                </a:moveTo>
                <a:cubicBezTo>
                  <a:pt x="23683" y="17133"/>
                  <a:pt x="18391" y="11841"/>
                  <a:pt x="11841" y="11841"/>
                </a:cubicBezTo>
                <a:cubicBezTo>
                  <a:pt x="5292" y="11841"/>
                  <a:pt x="0" y="17133"/>
                  <a:pt x="0" y="23683"/>
                </a:cubicBezTo>
                <a:lnTo>
                  <a:pt x="0" y="148019"/>
                </a:lnTo>
                <a:cubicBezTo>
                  <a:pt x="0" y="164375"/>
                  <a:pt x="13248" y="177622"/>
                  <a:pt x="29604" y="177622"/>
                </a:cubicBezTo>
                <a:lnTo>
                  <a:pt x="177622" y="177622"/>
                </a:lnTo>
                <a:cubicBezTo>
                  <a:pt x="184172" y="177622"/>
                  <a:pt x="189464" y="172331"/>
                  <a:pt x="189464" y="165781"/>
                </a:cubicBezTo>
                <a:cubicBezTo>
                  <a:pt x="189464" y="159231"/>
                  <a:pt x="184172" y="153939"/>
                  <a:pt x="177622" y="153939"/>
                </a:cubicBezTo>
                <a:lnTo>
                  <a:pt x="29604" y="153939"/>
                </a:lnTo>
                <a:cubicBezTo>
                  <a:pt x="26347" y="153939"/>
                  <a:pt x="23683" y="151275"/>
                  <a:pt x="23683" y="148019"/>
                </a:cubicBezTo>
                <a:lnTo>
                  <a:pt x="23683" y="23683"/>
                </a:lnTo>
                <a:close/>
                <a:moveTo>
                  <a:pt x="174144" y="55729"/>
                </a:moveTo>
                <a:cubicBezTo>
                  <a:pt x="178770" y="51103"/>
                  <a:pt x="178770" y="43591"/>
                  <a:pt x="174144" y="38966"/>
                </a:cubicBezTo>
                <a:cubicBezTo>
                  <a:pt x="169518" y="34340"/>
                  <a:pt x="162006" y="34340"/>
                  <a:pt x="157381" y="38966"/>
                </a:cubicBezTo>
                <a:lnTo>
                  <a:pt x="118415" y="77969"/>
                </a:lnTo>
                <a:lnTo>
                  <a:pt x="97174" y="56765"/>
                </a:lnTo>
                <a:cubicBezTo>
                  <a:pt x="92549" y="52140"/>
                  <a:pt x="85037" y="52140"/>
                  <a:pt x="80411" y="56765"/>
                </a:cubicBezTo>
                <a:lnTo>
                  <a:pt x="44887" y="92290"/>
                </a:lnTo>
                <a:cubicBezTo>
                  <a:pt x="40261" y="96915"/>
                  <a:pt x="40261" y="104427"/>
                  <a:pt x="44887" y="109053"/>
                </a:cubicBezTo>
                <a:cubicBezTo>
                  <a:pt x="49512" y="113678"/>
                  <a:pt x="57024" y="113678"/>
                  <a:pt x="61650" y="109053"/>
                </a:cubicBezTo>
                <a:lnTo>
                  <a:pt x="88811" y="81891"/>
                </a:lnTo>
                <a:lnTo>
                  <a:pt x="110052" y="103132"/>
                </a:lnTo>
                <a:cubicBezTo>
                  <a:pt x="114677" y="107758"/>
                  <a:pt x="122189" y="107758"/>
                  <a:pt x="126815" y="103132"/>
                </a:cubicBezTo>
                <a:lnTo>
                  <a:pt x="174181" y="55766"/>
                </a:ln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94" name="Text 36"/>
          <p:cNvSpPr/>
          <p:nvPr/>
        </p:nvSpPr>
        <p:spPr>
          <a:xfrm>
            <a:off x="9144720" y="4547160"/>
            <a:ext cx="2453040" cy="2649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40" spc="-1" strike="noStrike">
                <a:solidFill>
                  <a:srgbClr val="2e3440"/>
                </a:solidFill>
                <a:latin typeface="Liter"/>
                <a:ea typeface="Liter"/>
              </a:rPr>
              <a:t>Scalabilità</a:t>
            </a:r>
            <a:endParaRPr b="0" lang="it-IT" sz="1340" spc="-1" strike="noStrike">
              <a:solidFill>
                <a:srgbClr val="000000"/>
              </a:solidFill>
              <a:latin typeface="Arial"/>
            </a:endParaRPr>
          </a:p>
        </p:txBody>
      </p:sp>
      <p:sp>
        <p:nvSpPr>
          <p:cNvPr id="95" name="Text 37"/>
          <p:cNvSpPr/>
          <p:nvPr/>
        </p:nvSpPr>
        <p:spPr>
          <a:xfrm>
            <a:off x="9144720" y="4888080"/>
            <a:ext cx="2443680" cy="4543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Analizzare limiti con Legge di Amdahl e identificare plateau</a:t>
            </a:r>
            <a:endParaRPr b="0" lang="it-IT" sz="1200" spc="-1" strike="noStrike">
              <a:solidFill>
                <a:srgbClr val="000000"/>
              </a:solidFill>
              <a:latin typeface="Arial"/>
            </a:endParaRPr>
          </a:p>
        </p:txBody>
      </p:sp>
      <p:sp>
        <p:nvSpPr>
          <p:cNvPr id="96" name="Shape 38"/>
          <p:cNvSpPr/>
          <p:nvPr/>
        </p:nvSpPr>
        <p:spPr>
          <a:xfrm>
            <a:off x="396000" y="6024960"/>
            <a:ext cx="11413080" cy="454320"/>
          </a:xfrm>
          <a:custGeom>
            <a:avLst/>
            <a:gdLst>
              <a:gd name="textAreaLeft" fmla="*/ 0 w 11413080"/>
              <a:gd name="textAreaRight" fmla="*/ 11413440 w 11413080"/>
              <a:gd name="textAreaTop" fmla="*/ 0 h 454320"/>
              <a:gd name="textAreaBottom" fmla="*/ 454680 h 454320"/>
            </a:gdLst>
            <a:ahLst/>
            <a:rect l="textAreaLeft" t="textAreaTop" r="textAreaRight" b="textAreaBottom"/>
            <a:pathLst>
              <a:path w="11413476" h="454713">
                <a:moveTo>
                  <a:pt x="34448" y="0"/>
                </a:moveTo>
                <a:lnTo>
                  <a:pt x="11337689" y="0"/>
                </a:lnTo>
                <a:cubicBezTo>
                  <a:pt x="11379545" y="0"/>
                  <a:pt x="11413476" y="33931"/>
                  <a:pt x="11413476" y="75787"/>
                </a:cubicBezTo>
                <a:lnTo>
                  <a:pt x="11413476" y="378926"/>
                </a:lnTo>
                <a:cubicBezTo>
                  <a:pt x="11413476" y="420782"/>
                  <a:pt x="11379545" y="454713"/>
                  <a:pt x="11337689" y="454713"/>
                </a:cubicBezTo>
                <a:lnTo>
                  <a:pt x="34448" y="454713"/>
                </a:lnTo>
                <a:cubicBezTo>
                  <a:pt x="15423" y="454713"/>
                  <a:pt x="0" y="439290"/>
                  <a:pt x="0" y="420265"/>
                </a:cubicBezTo>
                <a:lnTo>
                  <a:pt x="0" y="34448"/>
                </a:lnTo>
                <a:cubicBezTo>
                  <a:pt x="0" y="15436"/>
                  <a:pt x="15436" y="0"/>
                  <a:pt x="34448"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97" name="Shape 39"/>
          <p:cNvSpPr/>
          <p:nvPr/>
        </p:nvSpPr>
        <p:spPr>
          <a:xfrm>
            <a:off x="396000" y="6024960"/>
            <a:ext cx="34200" cy="454320"/>
          </a:xfrm>
          <a:custGeom>
            <a:avLst/>
            <a:gdLst>
              <a:gd name="textAreaLeft" fmla="*/ 0 w 34200"/>
              <a:gd name="textAreaRight" fmla="*/ 34560 w 34200"/>
              <a:gd name="textAreaTop" fmla="*/ 0 h 454320"/>
              <a:gd name="textAreaBottom" fmla="*/ 454680 h 454320"/>
            </a:gdLst>
            <a:ahLst/>
            <a:rect l="textAreaLeft" t="textAreaTop" r="textAreaRight" b="textAreaBottom"/>
            <a:pathLst>
              <a:path w="34448" h="454713">
                <a:moveTo>
                  <a:pt x="34448" y="0"/>
                </a:moveTo>
                <a:lnTo>
                  <a:pt x="34448" y="0"/>
                </a:lnTo>
                <a:lnTo>
                  <a:pt x="34448" y="454713"/>
                </a:lnTo>
                <a:lnTo>
                  <a:pt x="34448" y="454713"/>
                </a:lnTo>
                <a:cubicBezTo>
                  <a:pt x="15423" y="454713"/>
                  <a:pt x="0" y="439290"/>
                  <a:pt x="0" y="420265"/>
                </a:cubicBezTo>
                <a:lnTo>
                  <a:pt x="0" y="34448"/>
                </a:lnTo>
                <a:cubicBezTo>
                  <a:pt x="0" y="15436"/>
                  <a:pt x="15436" y="0"/>
                  <a:pt x="34448"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98" name="Text 40"/>
          <p:cNvSpPr/>
          <p:nvPr/>
        </p:nvSpPr>
        <p:spPr>
          <a:xfrm>
            <a:off x="527040" y="6138720"/>
            <a:ext cx="11244240" cy="2271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Challenge Tecnica:</a:t>
            </a:r>
            <a:r>
              <a:rPr b="0" lang="en-US" sz="1200" spc="-1" strike="noStrike">
                <a:solidFill>
                  <a:srgbClr val="2e3440"/>
                </a:solidFill>
                <a:latin typeface="Quattrocento Sans"/>
                <a:ea typeface="Quattrocento Sans"/>
              </a:rPr>
              <a:t> Bilanciare parallelismo, overhead e risorse hardware per massimizzare le prestazioni reali su architetture multi-core moderne.</a:t>
            </a:r>
            <a:endParaRPr b="0" lang="it-IT" sz="1200" spc="-1" strike="noStrike">
              <a:solidFill>
                <a:srgbClr val="000000"/>
              </a:solidFill>
              <a:latin typeface="Arial"/>
            </a:endParaRPr>
          </a:p>
        </p:txBody>
      </p:sp>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99"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17" strike="noStrike">
                <a:solidFill>
                  <a:srgbClr val="5e81ac"/>
                </a:solidFill>
                <a:latin typeface="Quattrocento Sans"/>
                <a:ea typeface="Quattrocento Sans"/>
              </a:rPr>
              <a:t>Metodologia</a:t>
            </a:r>
            <a:endParaRPr b="0" lang="it-IT" sz="1200" spc="-1" strike="noStrike">
              <a:solidFill>
                <a:srgbClr val="000000"/>
              </a:solidFill>
              <a:latin typeface="Arial"/>
            </a:endParaRPr>
          </a:p>
        </p:txBody>
      </p:sp>
      <p:sp>
        <p:nvSpPr>
          <p:cNvPr id="100"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600" spc="-1" strike="noStrike">
                <a:solidFill>
                  <a:srgbClr val="2e3440"/>
                </a:solidFill>
                <a:latin typeface="Liter"/>
                <a:ea typeface="Liter"/>
              </a:rPr>
              <a:t>Setup Sperimentale</a:t>
            </a:r>
            <a:endParaRPr b="0" lang="it-IT" sz="3600" spc="-1" strike="noStrike">
              <a:solidFill>
                <a:srgbClr val="000000"/>
              </a:solidFill>
              <a:latin typeface="Arial"/>
            </a:endParaRPr>
          </a:p>
        </p:txBody>
      </p:sp>
      <p:sp>
        <p:nvSpPr>
          <p:cNvPr id="101" name="Shape 2"/>
          <p:cNvSpPr/>
          <p:nvPr/>
        </p:nvSpPr>
        <p:spPr>
          <a:xfrm>
            <a:off x="380880" y="1312560"/>
            <a:ext cx="4476240" cy="2474280"/>
          </a:xfrm>
          <a:custGeom>
            <a:avLst/>
            <a:gdLst>
              <a:gd name="textAreaLeft" fmla="*/ 0 w 4476240"/>
              <a:gd name="textAreaRight" fmla="*/ 4476600 w 4476240"/>
              <a:gd name="textAreaTop" fmla="*/ 0 h 2474280"/>
              <a:gd name="textAreaBottom" fmla="*/ 2474640 h 2474280"/>
            </a:gdLst>
            <a:ahLst/>
            <a:rect l="textAreaLeft" t="textAreaTop" r="textAreaRight" b="textAreaBottom"/>
            <a:pathLst>
              <a:path w="4476750" h="2474768">
                <a:moveTo>
                  <a:pt x="34636" y="0"/>
                </a:moveTo>
                <a:lnTo>
                  <a:pt x="4442114" y="0"/>
                </a:lnTo>
                <a:cubicBezTo>
                  <a:pt x="4461243" y="0"/>
                  <a:pt x="4476750" y="15507"/>
                  <a:pt x="4476750" y="34636"/>
                </a:cubicBezTo>
                <a:lnTo>
                  <a:pt x="4476750" y="2398570"/>
                </a:lnTo>
                <a:cubicBezTo>
                  <a:pt x="4476750" y="2440625"/>
                  <a:pt x="4442607" y="2474768"/>
                  <a:pt x="4400552" y="2474768"/>
                </a:cubicBezTo>
                <a:lnTo>
                  <a:pt x="76198" y="2474768"/>
                </a:lnTo>
                <a:cubicBezTo>
                  <a:pt x="34143" y="2474768"/>
                  <a:pt x="0" y="2440625"/>
                  <a:pt x="0" y="2398570"/>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02" name="Shape 3"/>
          <p:cNvSpPr/>
          <p:nvPr/>
        </p:nvSpPr>
        <p:spPr>
          <a:xfrm>
            <a:off x="380880" y="1312560"/>
            <a:ext cx="4476240" cy="34200"/>
          </a:xfrm>
          <a:custGeom>
            <a:avLst/>
            <a:gdLst>
              <a:gd name="textAreaLeft" fmla="*/ 0 w 4476240"/>
              <a:gd name="textAreaRight" fmla="*/ 4476600 w 4476240"/>
              <a:gd name="textAreaTop" fmla="*/ 0 h 34200"/>
              <a:gd name="textAreaBottom" fmla="*/ 34560 h 34200"/>
            </a:gdLst>
            <a:ahLst/>
            <a:rect l="textAreaLeft" t="textAreaTop" r="textAreaRight" b="textAreaBottom"/>
            <a:pathLst>
              <a:path w="4476750" h="34636">
                <a:moveTo>
                  <a:pt x="34636" y="0"/>
                </a:moveTo>
                <a:lnTo>
                  <a:pt x="4442114" y="0"/>
                </a:lnTo>
                <a:cubicBezTo>
                  <a:pt x="4461243" y="0"/>
                  <a:pt x="4476750" y="15507"/>
                  <a:pt x="4476750" y="34636"/>
                </a:cubicBezTo>
                <a:lnTo>
                  <a:pt x="4476750" y="34636"/>
                </a:lnTo>
                <a:lnTo>
                  <a:pt x="0" y="34636"/>
                </a:ln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10440" bIns="-10440" anchor="t">
            <a:noAutofit/>
          </a:bodyPr>
          <a:p>
            <a:endParaRPr b="0" lang="it-IT" sz="1800" spc="-1" strike="noStrike">
              <a:solidFill>
                <a:srgbClr val="000000"/>
              </a:solidFill>
              <a:latin typeface="Arial"/>
            </a:endParaRPr>
          </a:p>
        </p:txBody>
      </p:sp>
      <p:sp>
        <p:nvSpPr>
          <p:cNvPr id="103" name="Shape 4"/>
          <p:cNvSpPr/>
          <p:nvPr/>
        </p:nvSpPr>
        <p:spPr>
          <a:xfrm>
            <a:off x="571680" y="1520640"/>
            <a:ext cx="456840" cy="456840"/>
          </a:xfrm>
          <a:custGeom>
            <a:avLst/>
            <a:gdLst>
              <a:gd name="textAreaLeft" fmla="*/ 0 w 456840"/>
              <a:gd name="textAreaRight" fmla="*/ 457200 w 456840"/>
              <a:gd name="textAreaTop" fmla="*/ 0 h 456840"/>
              <a:gd name="textAreaBottom" fmla="*/ 457200 h 456840"/>
            </a:gdLst>
            <a:ahLst/>
            <a:rect l="textAreaLeft" t="textAreaTop" r="textAreaRight" b="textAreaBottom"/>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04" name="Shape 5"/>
          <p:cNvSpPr/>
          <p:nvPr/>
        </p:nvSpPr>
        <p:spPr>
          <a:xfrm>
            <a:off x="704880" y="1653840"/>
            <a:ext cx="190080" cy="190080"/>
          </a:xfrm>
          <a:custGeom>
            <a:avLst/>
            <a:gdLst>
              <a:gd name="textAreaLeft" fmla="*/ 0 w 190080"/>
              <a:gd name="textAreaRight" fmla="*/ 190440 w 190080"/>
              <a:gd name="textAreaTop" fmla="*/ 0 h 190080"/>
              <a:gd name="textAreaBottom" fmla="*/ 190440 h 190080"/>
            </a:gdLst>
            <a:ahLst/>
            <a:rect l="textAreaLeft" t="textAreaTop" r="textAreaRight" b="textAreaBottom"/>
            <a:pathLst>
              <a:path w="190500" h="190500">
                <a:moveTo>
                  <a:pt x="65484" y="8930"/>
                </a:moveTo>
                <a:cubicBezTo>
                  <a:pt x="65484" y="3981"/>
                  <a:pt x="61503" y="0"/>
                  <a:pt x="56555" y="0"/>
                </a:cubicBezTo>
                <a:cubicBezTo>
                  <a:pt x="51606" y="0"/>
                  <a:pt x="47625" y="3981"/>
                  <a:pt x="47625" y="8930"/>
                </a:cubicBezTo>
                <a:lnTo>
                  <a:pt x="47625" y="23812"/>
                </a:lnTo>
                <a:cubicBezTo>
                  <a:pt x="34491" y="23812"/>
                  <a:pt x="23812" y="34491"/>
                  <a:pt x="23812" y="47625"/>
                </a:cubicBezTo>
                <a:lnTo>
                  <a:pt x="8930" y="47625"/>
                </a:lnTo>
                <a:cubicBezTo>
                  <a:pt x="3981" y="47625"/>
                  <a:pt x="0" y="51606"/>
                  <a:pt x="0" y="56555"/>
                </a:cubicBezTo>
                <a:cubicBezTo>
                  <a:pt x="0" y="61503"/>
                  <a:pt x="3981" y="65484"/>
                  <a:pt x="8930" y="65484"/>
                </a:cubicBezTo>
                <a:lnTo>
                  <a:pt x="23812" y="65484"/>
                </a:lnTo>
                <a:lnTo>
                  <a:pt x="23812" y="86320"/>
                </a:lnTo>
                <a:lnTo>
                  <a:pt x="8930" y="86320"/>
                </a:lnTo>
                <a:cubicBezTo>
                  <a:pt x="3981" y="86320"/>
                  <a:pt x="0" y="90301"/>
                  <a:pt x="0" y="95250"/>
                </a:cubicBezTo>
                <a:cubicBezTo>
                  <a:pt x="0" y="100199"/>
                  <a:pt x="3981" y="104180"/>
                  <a:pt x="8930" y="104180"/>
                </a:cubicBezTo>
                <a:lnTo>
                  <a:pt x="23812" y="104180"/>
                </a:lnTo>
                <a:lnTo>
                  <a:pt x="23812" y="125016"/>
                </a:lnTo>
                <a:lnTo>
                  <a:pt x="8930" y="125016"/>
                </a:lnTo>
                <a:cubicBezTo>
                  <a:pt x="3981" y="125016"/>
                  <a:pt x="0" y="128997"/>
                  <a:pt x="0" y="133945"/>
                </a:cubicBezTo>
                <a:cubicBezTo>
                  <a:pt x="0" y="138894"/>
                  <a:pt x="3981" y="142875"/>
                  <a:pt x="8930" y="142875"/>
                </a:cubicBezTo>
                <a:lnTo>
                  <a:pt x="23812" y="142875"/>
                </a:lnTo>
                <a:cubicBezTo>
                  <a:pt x="23812" y="156009"/>
                  <a:pt x="34491" y="166688"/>
                  <a:pt x="47625" y="166688"/>
                </a:cubicBezTo>
                <a:lnTo>
                  <a:pt x="47625" y="181570"/>
                </a:lnTo>
                <a:cubicBezTo>
                  <a:pt x="47625" y="186519"/>
                  <a:pt x="51606" y="190500"/>
                  <a:pt x="56555" y="190500"/>
                </a:cubicBezTo>
                <a:cubicBezTo>
                  <a:pt x="61503" y="190500"/>
                  <a:pt x="65484" y="186519"/>
                  <a:pt x="65484" y="181570"/>
                </a:cubicBezTo>
                <a:lnTo>
                  <a:pt x="65484" y="166688"/>
                </a:lnTo>
                <a:lnTo>
                  <a:pt x="86320" y="166688"/>
                </a:lnTo>
                <a:lnTo>
                  <a:pt x="86320" y="181570"/>
                </a:lnTo>
                <a:cubicBezTo>
                  <a:pt x="86320" y="186519"/>
                  <a:pt x="90301" y="190500"/>
                  <a:pt x="95250" y="190500"/>
                </a:cubicBezTo>
                <a:cubicBezTo>
                  <a:pt x="100199" y="190500"/>
                  <a:pt x="104180" y="186519"/>
                  <a:pt x="104180" y="181570"/>
                </a:cubicBezTo>
                <a:lnTo>
                  <a:pt x="104180" y="166688"/>
                </a:lnTo>
                <a:lnTo>
                  <a:pt x="125016" y="166688"/>
                </a:lnTo>
                <a:lnTo>
                  <a:pt x="125016" y="181570"/>
                </a:lnTo>
                <a:cubicBezTo>
                  <a:pt x="125016" y="186519"/>
                  <a:pt x="128997" y="190500"/>
                  <a:pt x="133945" y="190500"/>
                </a:cubicBezTo>
                <a:cubicBezTo>
                  <a:pt x="138894" y="190500"/>
                  <a:pt x="142875" y="186519"/>
                  <a:pt x="142875" y="181570"/>
                </a:cubicBezTo>
                <a:lnTo>
                  <a:pt x="142875" y="166688"/>
                </a:lnTo>
                <a:cubicBezTo>
                  <a:pt x="156009" y="166688"/>
                  <a:pt x="166688" y="156009"/>
                  <a:pt x="166688" y="142875"/>
                </a:cubicBezTo>
                <a:lnTo>
                  <a:pt x="181570" y="142875"/>
                </a:lnTo>
                <a:cubicBezTo>
                  <a:pt x="186519" y="142875"/>
                  <a:pt x="190500" y="138894"/>
                  <a:pt x="190500" y="133945"/>
                </a:cubicBezTo>
                <a:cubicBezTo>
                  <a:pt x="190500" y="128997"/>
                  <a:pt x="186519" y="125016"/>
                  <a:pt x="181570" y="125016"/>
                </a:cubicBezTo>
                <a:lnTo>
                  <a:pt x="166688" y="125016"/>
                </a:lnTo>
                <a:lnTo>
                  <a:pt x="166688" y="104180"/>
                </a:lnTo>
                <a:lnTo>
                  <a:pt x="181570" y="104180"/>
                </a:lnTo>
                <a:cubicBezTo>
                  <a:pt x="186519" y="104180"/>
                  <a:pt x="190500" y="100199"/>
                  <a:pt x="190500" y="95250"/>
                </a:cubicBezTo>
                <a:cubicBezTo>
                  <a:pt x="190500" y="90301"/>
                  <a:pt x="186519" y="86320"/>
                  <a:pt x="181570" y="86320"/>
                </a:cubicBezTo>
                <a:lnTo>
                  <a:pt x="166688" y="86320"/>
                </a:lnTo>
                <a:lnTo>
                  <a:pt x="166688" y="65484"/>
                </a:lnTo>
                <a:lnTo>
                  <a:pt x="181570" y="65484"/>
                </a:lnTo>
                <a:cubicBezTo>
                  <a:pt x="186519" y="65484"/>
                  <a:pt x="190500" y="61503"/>
                  <a:pt x="190500" y="56555"/>
                </a:cubicBezTo>
                <a:cubicBezTo>
                  <a:pt x="190500" y="51606"/>
                  <a:pt x="186519" y="47625"/>
                  <a:pt x="181570" y="47625"/>
                </a:cubicBezTo>
                <a:lnTo>
                  <a:pt x="166688" y="47625"/>
                </a:lnTo>
                <a:cubicBezTo>
                  <a:pt x="166688" y="34491"/>
                  <a:pt x="156009" y="23812"/>
                  <a:pt x="142875" y="23812"/>
                </a:cubicBezTo>
                <a:lnTo>
                  <a:pt x="142875" y="8930"/>
                </a:lnTo>
                <a:cubicBezTo>
                  <a:pt x="142875" y="3981"/>
                  <a:pt x="138894" y="0"/>
                  <a:pt x="133945" y="0"/>
                </a:cubicBezTo>
                <a:cubicBezTo>
                  <a:pt x="128997" y="0"/>
                  <a:pt x="125016" y="3981"/>
                  <a:pt x="125016" y="8930"/>
                </a:cubicBezTo>
                <a:lnTo>
                  <a:pt x="125016" y="23812"/>
                </a:lnTo>
                <a:lnTo>
                  <a:pt x="104180" y="23812"/>
                </a:lnTo>
                <a:lnTo>
                  <a:pt x="104180" y="8930"/>
                </a:lnTo>
                <a:cubicBezTo>
                  <a:pt x="104180" y="3981"/>
                  <a:pt x="100199" y="0"/>
                  <a:pt x="95250" y="0"/>
                </a:cubicBezTo>
                <a:cubicBezTo>
                  <a:pt x="90301" y="0"/>
                  <a:pt x="86320" y="3981"/>
                  <a:pt x="86320" y="8930"/>
                </a:cubicBezTo>
                <a:lnTo>
                  <a:pt x="86320" y="23812"/>
                </a:lnTo>
                <a:lnTo>
                  <a:pt x="65484" y="23812"/>
                </a:lnTo>
                <a:lnTo>
                  <a:pt x="65484" y="8930"/>
                </a:lnTo>
                <a:close/>
                <a:moveTo>
                  <a:pt x="59531" y="47625"/>
                </a:moveTo>
                <a:lnTo>
                  <a:pt x="130969" y="47625"/>
                </a:lnTo>
                <a:cubicBezTo>
                  <a:pt x="137554" y="47625"/>
                  <a:pt x="142875" y="52946"/>
                  <a:pt x="142875" y="59531"/>
                </a:cubicBezTo>
                <a:lnTo>
                  <a:pt x="142875" y="130969"/>
                </a:lnTo>
                <a:cubicBezTo>
                  <a:pt x="142875" y="137554"/>
                  <a:pt x="137554" y="142875"/>
                  <a:pt x="130969" y="142875"/>
                </a:cubicBezTo>
                <a:lnTo>
                  <a:pt x="59531" y="142875"/>
                </a:lnTo>
                <a:cubicBezTo>
                  <a:pt x="52946" y="142875"/>
                  <a:pt x="47625" y="137554"/>
                  <a:pt x="47625" y="130969"/>
                </a:cubicBezTo>
                <a:lnTo>
                  <a:pt x="47625" y="59531"/>
                </a:lnTo>
                <a:cubicBezTo>
                  <a:pt x="47625" y="52946"/>
                  <a:pt x="52946" y="47625"/>
                  <a:pt x="59531" y="47625"/>
                </a:cubicBezTo>
                <a:close/>
                <a:moveTo>
                  <a:pt x="65484" y="65484"/>
                </a:moveTo>
                <a:lnTo>
                  <a:pt x="65484" y="125016"/>
                </a:lnTo>
                <a:lnTo>
                  <a:pt x="125016" y="125016"/>
                </a:lnTo>
                <a:lnTo>
                  <a:pt x="125016" y="65484"/>
                </a:lnTo>
                <a:lnTo>
                  <a:pt x="65484" y="65484"/>
                </a:ln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05" name="Text 6"/>
          <p:cNvSpPr/>
          <p:nvPr/>
        </p:nvSpPr>
        <p:spPr>
          <a:xfrm>
            <a:off x="1143000" y="1596600"/>
            <a:ext cx="155700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2e3440"/>
                </a:solidFill>
                <a:latin typeface="Liter"/>
                <a:ea typeface="Liter"/>
              </a:rPr>
              <a:t>Hardware</a:t>
            </a:r>
            <a:endParaRPr b="0" lang="it-IT" sz="1800" spc="-1" strike="noStrike">
              <a:solidFill>
                <a:srgbClr val="000000"/>
              </a:solidFill>
              <a:latin typeface="Arial"/>
            </a:endParaRPr>
          </a:p>
        </p:txBody>
      </p:sp>
      <p:sp>
        <p:nvSpPr>
          <p:cNvPr id="106" name="Shape 7"/>
          <p:cNvSpPr/>
          <p:nvPr/>
        </p:nvSpPr>
        <p:spPr>
          <a:xfrm>
            <a:off x="571680" y="2438280"/>
            <a:ext cx="4095360" cy="6480"/>
          </a:xfrm>
          <a:custGeom>
            <a:avLst/>
            <a:gdLst>
              <a:gd name="textAreaLeft" fmla="*/ 0 w 4095360"/>
              <a:gd name="textAreaRight" fmla="*/ 4095720 w 4095360"/>
              <a:gd name="textAreaTop" fmla="*/ 0 h 6480"/>
              <a:gd name="textAreaBottom" fmla="*/ 6840 h 6480"/>
            </a:gdLst>
            <a:ahLst/>
            <a:rect l="textAreaLeft" t="textAreaTop" r="textAreaRight" b="textAreaBottom"/>
            <a:pathLst>
              <a:path w="4095750" h="6927">
                <a:moveTo>
                  <a:pt x="0" y="0"/>
                </a:moveTo>
                <a:lnTo>
                  <a:pt x="4095750" y="0"/>
                </a:lnTo>
                <a:lnTo>
                  <a:pt x="4095750" y="6927"/>
                </a:lnTo>
                <a:lnTo>
                  <a:pt x="0" y="6927"/>
                </a:lnTo>
                <a:lnTo>
                  <a:pt x="0" y="0"/>
                </a:lnTo>
                <a:close/>
              </a:path>
            </a:pathLst>
          </a:custGeom>
          <a:solidFill>
            <a:srgbClr val="2e3440">
              <a:alpha val="10000"/>
            </a:srgbClr>
          </a:solidFill>
          <a:ln w="0">
            <a:noFill/>
          </a:ln>
        </p:spPr>
        <p:style>
          <a:lnRef idx="0"/>
          <a:fillRef idx="0"/>
          <a:effectRef idx="0"/>
          <a:fontRef idx="minor"/>
        </p:style>
        <p:txBody>
          <a:bodyPr lIns="90000" rIns="90000" tIns="-38160" bIns="-38160" anchor="t">
            <a:noAutofit/>
          </a:bodyPr>
          <a:p>
            <a:endParaRPr b="0" lang="it-IT" sz="1800" spc="-1" strike="noStrike">
              <a:solidFill>
                <a:srgbClr val="ffffff"/>
              </a:solidFill>
              <a:latin typeface="Arial"/>
            </a:endParaRPr>
          </a:p>
        </p:txBody>
      </p:sp>
      <p:sp>
        <p:nvSpPr>
          <p:cNvPr id="107" name="Text 8"/>
          <p:cNvSpPr/>
          <p:nvPr/>
        </p:nvSpPr>
        <p:spPr>
          <a:xfrm>
            <a:off x="571680" y="2168280"/>
            <a:ext cx="3614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CPU</a:t>
            </a:r>
            <a:endParaRPr b="0" lang="it-IT" sz="1200" spc="-1" strike="noStrike">
              <a:solidFill>
                <a:srgbClr val="000000"/>
              </a:solidFill>
              <a:latin typeface="Arial"/>
            </a:endParaRPr>
          </a:p>
        </p:txBody>
      </p:sp>
      <p:sp>
        <p:nvSpPr>
          <p:cNvPr id="108" name="Text 9"/>
          <p:cNvSpPr/>
          <p:nvPr/>
        </p:nvSpPr>
        <p:spPr>
          <a:xfrm>
            <a:off x="2340000" y="2168280"/>
            <a:ext cx="24098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Intel Core i7-1185G7</a:t>
            </a:r>
            <a:endParaRPr b="0" lang="it-IT" sz="1200" spc="-1" strike="noStrike">
              <a:solidFill>
                <a:srgbClr val="000000"/>
              </a:solidFill>
              <a:latin typeface="Arial"/>
            </a:endParaRPr>
          </a:p>
        </p:txBody>
      </p:sp>
      <p:sp>
        <p:nvSpPr>
          <p:cNvPr id="109" name="Shape 10"/>
          <p:cNvSpPr/>
          <p:nvPr/>
        </p:nvSpPr>
        <p:spPr>
          <a:xfrm>
            <a:off x="571680" y="2826360"/>
            <a:ext cx="4095360" cy="6480"/>
          </a:xfrm>
          <a:custGeom>
            <a:avLst/>
            <a:gdLst>
              <a:gd name="textAreaLeft" fmla="*/ 0 w 4095360"/>
              <a:gd name="textAreaRight" fmla="*/ 4095720 w 4095360"/>
              <a:gd name="textAreaTop" fmla="*/ 0 h 6480"/>
              <a:gd name="textAreaBottom" fmla="*/ 6840 h 6480"/>
            </a:gdLst>
            <a:ahLst/>
            <a:rect l="textAreaLeft" t="textAreaTop" r="textAreaRight" b="textAreaBottom"/>
            <a:pathLst>
              <a:path w="4095750" h="6927">
                <a:moveTo>
                  <a:pt x="0" y="0"/>
                </a:moveTo>
                <a:lnTo>
                  <a:pt x="4095750" y="0"/>
                </a:lnTo>
                <a:lnTo>
                  <a:pt x="4095750" y="6927"/>
                </a:lnTo>
                <a:lnTo>
                  <a:pt x="0" y="6927"/>
                </a:lnTo>
                <a:lnTo>
                  <a:pt x="0" y="0"/>
                </a:lnTo>
                <a:close/>
              </a:path>
            </a:pathLst>
          </a:custGeom>
          <a:solidFill>
            <a:srgbClr val="2e3440">
              <a:alpha val="10000"/>
            </a:srgbClr>
          </a:solidFill>
          <a:ln w="0">
            <a:noFill/>
          </a:ln>
        </p:spPr>
        <p:style>
          <a:lnRef idx="0"/>
          <a:fillRef idx="0"/>
          <a:effectRef idx="0"/>
          <a:fontRef idx="minor"/>
        </p:style>
        <p:txBody>
          <a:bodyPr lIns="90000" rIns="90000" tIns="-38160" bIns="-38160" anchor="t">
            <a:noAutofit/>
          </a:bodyPr>
          <a:p>
            <a:endParaRPr b="0" lang="it-IT" sz="1800" spc="-1" strike="noStrike">
              <a:solidFill>
                <a:srgbClr val="ffffff"/>
              </a:solidFill>
              <a:latin typeface="Arial"/>
            </a:endParaRPr>
          </a:p>
        </p:txBody>
      </p:sp>
      <p:sp>
        <p:nvSpPr>
          <p:cNvPr id="110" name="Text 11"/>
          <p:cNvSpPr/>
          <p:nvPr/>
        </p:nvSpPr>
        <p:spPr>
          <a:xfrm>
            <a:off x="571680" y="2556000"/>
            <a:ext cx="85680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Architettura</a:t>
            </a:r>
            <a:endParaRPr b="0" lang="it-IT" sz="1200" spc="-1" strike="noStrike">
              <a:solidFill>
                <a:srgbClr val="000000"/>
              </a:solidFill>
              <a:latin typeface="Arial"/>
            </a:endParaRPr>
          </a:p>
        </p:txBody>
      </p:sp>
      <p:sp>
        <p:nvSpPr>
          <p:cNvPr id="111" name="Text 12"/>
          <p:cNvSpPr/>
          <p:nvPr/>
        </p:nvSpPr>
        <p:spPr>
          <a:xfrm>
            <a:off x="2340000" y="2556000"/>
            <a:ext cx="24051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4 Core / 8 Thread</a:t>
            </a:r>
            <a:endParaRPr b="0" lang="it-IT" sz="1200" spc="-1" strike="noStrike">
              <a:solidFill>
                <a:srgbClr val="000000"/>
              </a:solidFill>
              <a:latin typeface="Arial"/>
            </a:endParaRPr>
          </a:p>
        </p:txBody>
      </p:sp>
      <p:sp>
        <p:nvSpPr>
          <p:cNvPr id="112" name="Shape 13"/>
          <p:cNvSpPr/>
          <p:nvPr/>
        </p:nvSpPr>
        <p:spPr>
          <a:xfrm>
            <a:off x="571680" y="3214080"/>
            <a:ext cx="4095360" cy="6480"/>
          </a:xfrm>
          <a:custGeom>
            <a:avLst/>
            <a:gdLst>
              <a:gd name="textAreaLeft" fmla="*/ 0 w 4095360"/>
              <a:gd name="textAreaRight" fmla="*/ 4095720 w 4095360"/>
              <a:gd name="textAreaTop" fmla="*/ 0 h 6480"/>
              <a:gd name="textAreaBottom" fmla="*/ 6840 h 6480"/>
            </a:gdLst>
            <a:ahLst/>
            <a:rect l="textAreaLeft" t="textAreaTop" r="textAreaRight" b="textAreaBottom"/>
            <a:pathLst>
              <a:path w="4095750" h="6927">
                <a:moveTo>
                  <a:pt x="0" y="0"/>
                </a:moveTo>
                <a:lnTo>
                  <a:pt x="4095750" y="0"/>
                </a:lnTo>
                <a:lnTo>
                  <a:pt x="4095750" y="6927"/>
                </a:lnTo>
                <a:lnTo>
                  <a:pt x="0" y="6927"/>
                </a:lnTo>
                <a:lnTo>
                  <a:pt x="0" y="0"/>
                </a:lnTo>
                <a:close/>
              </a:path>
            </a:pathLst>
          </a:custGeom>
          <a:solidFill>
            <a:srgbClr val="2e3440">
              <a:alpha val="10000"/>
            </a:srgbClr>
          </a:solidFill>
          <a:ln w="0">
            <a:noFill/>
          </a:ln>
        </p:spPr>
        <p:style>
          <a:lnRef idx="0"/>
          <a:fillRef idx="0"/>
          <a:effectRef idx="0"/>
          <a:fontRef idx="minor"/>
        </p:style>
        <p:txBody>
          <a:bodyPr lIns="90000" rIns="90000" tIns="-38160" bIns="-38160" anchor="t">
            <a:noAutofit/>
          </a:bodyPr>
          <a:p>
            <a:endParaRPr b="0" lang="it-IT" sz="1800" spc="-1" strike="noStrike">
              <a:solidFill>
                <a:srgbClr val="ffffff"/>
              </a:solidFill>
              <a:latin typeface="Arial"/>
            </a:endParaRPr>
          </a:p>
        </p:txBody>
      </p:sp>
      <p:sp>
        <p:nvSpPr>
          <p:cNvPr id="113" name="Text 14"/>
          <p:cNvSpPr/>
          <p:nvPr/>
        </p:nvSpPr>
        <p:spPr>
          <a:xfrm>
            <a:off x="571680" y="2944080"/>
            <a:ext cx="3902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RAM</a:t>
            </a:r>
            <a:endParaRPr b="0" lang="it-IT" sz="1200" spc="-1" strike="noStrike">
              <a:solidFill>
                <a:srgbClr val="000000"/>
              </a:solidFill>
              <a:latin typeface="Arial"/>
            </a:endParaRPr>
          </a:p>
        </p:txBody>
      </p:sp>
      <p:sp>
        <p:nvSpPr>
          <p:cNvPr id="114" name="Text 15"/>
          <p:cNvSpPr/>
          <p:nvPr/>
        </p:nvSpPr>
        <p:spPr>
          <a:xfrm>
            <a:off x="2340000" y="2944080"/>
            <a:ext cx="240588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16 GB LPDDR4x</a:t>
            </a:r>
            <a:endParaRPr b="0" lang="it-IT" sz="1200" spc="-1" strike="noStrike">
              <a:solidFill>
                <a:srgbClr val="000000"/>
              </a:solidFill>
              <a:latin typeface="Arial"/>
            </a:endParaRPr>
          </a:p>
        </p:txBody>
      </p:sp>
      <p:sp>
        <p:nvSpPr>
          <p:cNvPr id="115" name="Text 16"/>
          <p:cNvSpPr/>
          <p:nvPr/>
        </p:nvSpPr>
        <p:spPr>
          <a:xfrm>
            <a:off x="571680" y="3332160"/>
            <a:ext cx="122832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Frequenza</a:t>
            </a:r>
            <a:endParaRPr b="0" lang="it-IT" sz="1200" spc="-1" strike="noStrike">
              <a:solidFill>
                <a:srgbClr val="000000"/>
              </a:solidFill>
              <a:latin typeface="Arial"/>
            </a:endParaRPr>
          </a:p>
        </p:txBody>
      </p:sp>
      <p:sp>
        <p:nvSpPr>
          <p:cNvPr id="116" name="Text 17"/>
          <p:cNvSpPr/>
          <p:nvPr/>
        </p:nvSpPr>
        <p:spPr>
          <a:xfrm>
            <a:off x="2340000" y="3332160"/>
            <a:ext cx="24098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3.00 GHz</a:t>
            </a:r>
            <a:endParaRPr b="0" lang="it-IT" sz="1200" spc="-1" strike="noStrike">
              <a:solidFill>
                <a:srgbClr val="000000"/>
              </a:solidFill>
              <a:latin typeface="Arial"/>
            </a:endParaRPr>
          </a:p>
        </p:txBody>
      </p:sp>
      <p:sp>
        <p:nvSpPr>
          <p:cNvPr id="117" name="Shape 18"/>
          <p:cNvSpPr/>
          <p:nvPr/>
        </p:nvSpPr>
        <p:spPr>
          <a:xfrm>
            <a:off x="380880" y="3958920"/>
            <a:ext cx="4476240" cy="2084040"/>
          </a:xfrm>
          <a:custGeom>
            <a:avLst/>
            <a:gdLst>
              <a:gd name="textAreaLeft" fmla="*/ 0 w 4476240"/>
              <a:gd name="textAreaRight" fmla="*/ 4476600 w 4476240"/>
              <a:gd name="textAreaTop" fmla="*/ 0 h 2084040"/>
              <a:gd name="textAreaBottom" fmla="*/ 2084400 h 2084040"/>
            </a:gdLst>
            <a:ahLst/>
            <a:rect l="textAreaLeft" t="textAreaTop" r="textAreaRight" b="textAreaBottom"/>
            <a:pathLst>
              <a:path w="4476750" h="2084243">
                <a:moveTo>
                  <a:pt x="34636" y="0"/>
                </a:moveTo>
                <a:lnTo>
                  <a:pt x="4442114" y="0"/>
                </a:lnTo>
                <a:cubicBezTo>
                  <a:pt x="4461243" y="0"/>
                  <a:pt x="4476750" y="15507"/>
                  <a:pt x="4476750" y="34636"/>
                </a:cubicBezTo>
                <a:lnTo>
                  <a:pt x="4476750" y="2008043"/>
                </a:lnTo>
                <a:cubicBezTo>
                  <a:pt x="4476750" y="2050127"/>
                  <a:pt x="4442634" y="2084243"/>
                  <a:pt x="4400550" y="2084243"/>
                </a:cubicBezTo>
                <a:lnTo>
                  <a:pt x="76200" y="2084243"/>
                </a:lnTo>
                <a:cubicBezTo>
                  <a:pt x="34116" y="2084243"/>
                  <a:pt x="0" y="2050127"/>
                  <a:pt x="0" y="2008043"/>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18" name="Shape 19"/>
          <p:cNvSpPr/>
          <p:nvPr/>
        </p:nvSpPr>
        <p:spPr>
          <a:xfrm>
            <a:off x="380880" y="3958920"/>
            <a:ext cx="4476240" cy="34200"/>
          </a:xfrm>
          <a:custGeom>
            <a:avLst/>
            <a:gdLst>
              <a:gd name="textAreaLeft" fmla="*/ 0 w 4476240"/>
              <a:gd name="textAreaRight" fmla="*/ 4476600 w 4476240"/>
              <a:gd name="textAreaTop" fmla="*/ 0 h 34200"/>
              <a:gd name="textAreaBottom" fmla="*/ 34560 h 34200"/>
            </a:gdLst>
            <a:ahLst/>
            <a:rect l="textAreaLeft" t="textAreaTop" r="textAreaRight" b="textAreaBottom"/>
            <a:pathLst>
              <a:path w="4476750" h="34636">
                <a:moveTo>
                  <a:pt x="34636" y="0"/>
                </a:moveTo>
                <a:lnTo>
                  <a:pt x="4442114" y="0"/>
                </a:lnTo>
                <a:cubicBezTo>
                  <a:pt x="4461243" y="0"/>
                  <a:pt x="4476750" y="15507"/>
                  <a:pt x="4476750" y="34636"/>
                </a:cubicBezTo>
                <a:lnTo>
                  <a:pt x="4476750" y="34636"/>
                </a:lnTo>
                <a:lnTo>
                  <a:pt x="0" y="34636"/>
                </a:ln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10440" bIns="-10440" anchor="t">
            <a:noAutofit/>
          </a:bodyPr>
          <a:p>
            <a:endParaRPr b="0" lang="it-IT" sz="1800" spc="-1" strike="noStrike">
              <a:solidFill>
                <a:srgbClr val="000000"/>
              </a:solidFill>
              <a:latin typeface="Arial"/>
            </a:endParaRPr>
          </a:p>
        </p:txBody>
      </p:sp>
      <p:sp>
        <p:nvSpPr>
          <p:cNvPr id="119" name="Shape 20"/>
          <p:cNvSpPr/>
          <p:nvPr/>
        </p:nvSpPr>
        <p:spPr>
          <a:xfrm>
            <a:off x="571680" y="4166640"/>
            <a:ext cx="456840" cy="456840"/>
          </a:xfrm>
          <a:custGeom>
            <a:avLst/>
            <a:gdLst>
              <a:gd name="textAreaLeft" fmla="*/ 0 w 456840"/>
              <a:gd name="textAreaRight" fmla="*/ 457200 w 456840"/>
              <a:gd name="textAreaTop" fmla="*/ 0 h 456840"/>
              <a:gd name="textAreaBottom" fmla="*/ 457200 h 456840"/>
            </a:gdLst>
            <a:ahLst/>
            <a:rect l="textAreaLeft" t="textAreaTop" r="textAreaRight" b="textAreaBottom"/>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20" name="Shape 21"/>
          <p:cNvSpPr/>
          <p:nvPr/>
        </p:nvSpPr>
        <p:spPr>
          <a:xfrm>
            <a:off x="693000" y="4300200"/>
            <a:ext cx="213840" cy="190080"/>
          </a:xfrm>
          <a:custGeom>
            <a:avLst/>
            <a:gdLst>
              <a:gd name="textAreaLeft" fmla="*/ 0 w 213840"/>
              <a:gd name="textAreaRight" fmla="*/ 214200 w 213840"/>
              <a:gd name="textAreaTop" fmla="*/ 0 h 190080"/>
              <a:gd name="textAreaBottom" fmla="*/ 190440 h 190080"/>
            </a:gdLst>
            <a:ahLst/>
            <a:rect l="textAreaLeft" t="textAreaTop" r="textAreaRight" b="textAreaBottom"/>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21" name="Text 22"/>
          <p:cNvSpPr/>
          <p:nvPr/>
        </p:nvSpPr>
        <p:spPr>
          <a:xfrm>
            <a:off x="1143000" y="4242960"/>
            <a:ext cx="155700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2e3440"/>
                </a:solidFill>
                <a:latin typeface="Liter"/>
                <a:ea typeface="Liter"/>
              </a:rPr>
              <a:t>Software</a:t>
            </a:r>
            <a:endParaRPr b="0" lang="it-IT" sz="1800" spc="-1" strike="noStrike">
              <a:solidFill>
                <a:srgbClr val="000000"/>
              </a:solidFill>
              <a:latin typeface="Arial"/>
            </a:endParaRPr>
          </a:p>
        </p:txBody>
      </p:sp>
      <p:sp>
        <p:nvSpPr>
          <p:cNvPr id="122" name="Shape 23"/>
          <p:cNvSpPr/>
          <p:nvPr/>
        </p:nvSpPr>
        <p:spPr>
          <a:xfrm>
            <a:off x="571680" y="5084640"/>
            <a:ext cx="4095360" cy="6480"/>
          </a:xfrm>
          <a:custGeom>
            <a:avLst/>
            <a:gdLst>
              <a:gd name="textAreaLeft" fmla="*/ 0 w 4095360"/>
              <a:gd name="textAreaRight" fmla="*/ 4095720 w 4095360"/>
              <a:gd name="textAreaTop" fmla="*/ 0 h 6480"/>
              <a:gd name="textAreaBottom" fmla="*/ 6840 h 6480"/>
            </a:gdLst>
            <a:ahLst/>
            <a:rect l="textAreaLeft" t="textAreaTop" r="textAreaRight" b="textAreaBottom"/>
            <a:pathLst>
              <a:path w="4095750" h="6927">
                <a:moveTo>
                  <a:pt x="0" y="0"/>
                </a:moveTo>
                <a:lnTo>
                  <a:pt x="4095750" y="0"/>
                </a:lnTo>
                <a:lnTo>
                  <a:pt x="4095750" y="6927"/>
                </a:lnTo>
                <a:lnTo>
                  <a:pt x="0" y="6927"/>
                </a:lnTo>
                <a:lnTo>
                  <a:pt x="0" y="0"/>
                </a:lnTo>
                <a:close/>
              </a:path>
            </a:pathLst>
          </a:custGeom>
          <a:solidFill>
            <a:srgbClr val="2e3440">
              <a:alpha val="10000"/>
            </a:srgbClr>
          </a:solidFill>
          <a:ln w="0">
            <a:noFill/>
          </a:ln>
        </p:spPr>
        <p:style>
          <a:lnRef idx="0"/>
          <a:fillRef idx="0"/>
          <a:effectRef idx="0"/>
          <a:fontRef idx="minor"/>
        </p:style>
        <p:txBody>
          <a:bodyPr lIns="90000" rIns="90000" tIns="-38160" bIns="-38160" anchor="t">
            <a:noAutofit/>
          </a:bodyPr>
          <a:p>
            <a:endParaRPr b="0" lang="it-IT" sz="1800" spc="-1" strike="noStrike">
              <a:solidFill>
                <a:srgbClr val="ffffff"/>
              </a:solidFill>
              <a:latin typeface="Arial"/>
            </a:endParaRPr>
          </a:p>
        </p:txBody>
      </p:sp>
      <p:sp>
        <p:nvSpPr>
          <p:cNvPr id="123" name="Text 24"/>
          <p:cNvSpPr/>
          <p:nvPr/>
        </p:nvSpPr>
        <p:spPr>
          <a:xfrm>
            <a:off x="571680" y="4814280"/>
            <a:ext cx="2757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OS</a:t>
            </a:r>
            <a:endParaRPr b="0" lang="it-IT" sz="1200" spc="-1" strike="noStrike">
              <a:solidFill>
                <a:srgbClr val="000000"/>
              </a:solidFill>
              <a:latin typeface="Arial"/>
            </a:endParaRPr>
          </a:p>
        </p:txBody>
      </p:sp>
      <p:sp>
        <p:nvSpPr>
          <p:cNvPr id="124" name="Text 25"/>
          <p:cNvSpPr/>
          <p:nvPr/>
        </p:nvSpPr>
        <p:spPr>
          <a:xfrm>
            <a:off x="3060000" y="4860000"/>
            <a:ext cx="1685520" cy="1825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Windows 11 Pro</a:t>
            </a:r>
            <a:endParaRPr b="0" lang="it-IT" sz="1200" spc="-1" strike="noStrike">
              <a:solidFill>
                <a:srgbClr val="000000"/>
              </a:solidFill>
              <a:latin typeface="Arial"/>
            </a:endParaRPr>
          </a:p>
        </p:txBody>
      </p:sp>
      <p:sp>
        <p:nvSpPr>
          <p:cNvPr id="125" name="Shape 26"/>
          <p:cNvSpPr/>
          <p:nvPr/>
        </p:nvSpPr>
        <p:spPr>
          <a:xfrm>
            <a:off x="571680" y="5472720"/>
            <a:ext cx="4095360" cy="6480"/>
          </a:xfrm>
          <a:custGeom>
            <a:avLst/>
            <a:gdLst>
              <a:gd name="textAreaLeft" fmla="*/ 0 w 4095360"/>
              <a:gd name="textAreaRight" fmla="*/ 4095720 w 4095360"/>
              <a:gd name="textAreaTop" fmla="*/ 0 h 6480"/>
              <a:gd name="textAreaBottom" fmla="*/ 6840 h 6480"/>
            </a:gdLst>
            <a:ahLst/>
            <a:rect l="textAreaLeft" t="textAreaTop" r="textAreaRight" b="textAreaBottom"/>
            <a:pathLst>
              <a:path w="4095750" h="6927">
                <a:moveTo>
                  <a:pt x="0" y="0"/>
                </a:moveTo>
                <a:lnTo>
                  <a:pt x="4095750" y="0"/>
                </a:lnTo>
                <a:lnTo>
                  <a:pt x="4095750" y="6927"/>
                </a:lnTo>
                <a:lnTo>
                  <a:pt x="0" y="6927"/>
                </a:lnTo>
                <a:lnTo>
                  <a:pt x="0" y="0"/>
                </a:lnTo>
                <a:close/>
              </a:path>
            </a:pathLst>
          </a:custGeom>
          <a:solidFill>
            <a:srgbClr val="2e3440">
              <a:alpha val="10000"/>
            </a:srgbClr>
          </a:solidFill>
          <a:ln w="0">
            <a:noFill/>
          </a:ln>
        </p:spPr>
        <p:style>
          <a:lnRef idx="0"/>
          <a:fillRef idx="0"/>
          <a:effectRef idx="0"/>
          <a:fontRef idx="minor"/>
        </p:style>
        <p:txBody>
          <a:bodyPr lIns="90000" rIns="90000" tIns="-38160" bIns="-38160" anchor="t">
            <a:noAutofit/>
          </a:bodyPr>
          <a:p>
            <a:endParaRPr b="0" lang="it-IT" sz="1800" spc="-1" strike="noStrike">
              <a:solidFill>
                <a:srgbClr val="ffffff"/>
              </a:solidFill>
              <a:latin typeface="Arial"/>
            </a:endParaRPr>
          </a:p>
        </p:txBody>
      </p:sp>
      <p:sp>
        <p:nvSpPr>
          <p:cNvPr id="126" name="Text 27"/>
          <p:cNvSpPr/>
          <p:nvPr/>
        </p:nvSpPr>
        <p:spPr>
          <a:xfrm>
            <a:off x="571680" y="5202360"/>
            <a:ext cx="140832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Compilatore</a:t>
            </a:r>
            <a:endParaRPr b="0" lang="it-IT" sz="1200" spc="-1" strike="noStrike">
              <a:solidFill>
                <a:srgbClr val="000000"/>
              </a:solidFill>
              <a:latin typeface="Arial"/>
            </a:endParaRPr>
          </a:p>
        </p:txBody>
      </p:sp>
      <p:sp>
        <p:nvSpPr>
          <p:cNvPr id="127" name="Text 28"/>
          <p:cNvSpPr/>
          <p:nvPr/>
        </p:nvSpPr>
        <p:spPr>
          <a:xfrm>
            <a:off x="3060000" y="5202360"/>
            <a:ext cx="168300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GCC 14.1.0</a:t>
            </a:r>
            <a:endParaRPr b="0" lang="it-IT" sz="1200" spc="-1" strike="noStrike">
              <a:solidFill>
                <a:srgbClr val="000000"/>
              </a:solidFill>
              <a:latin typeface="Arial"/>
            </a:endParaRPr>
          </a:p>
        </p:txBody>
      </p:sp>
      <p:sp>
        <p:nvSpPr>
          <p:cNvPr id="128" name="Text 29"/>
          <p:cNvSpPr/>
          <p:nvPr/>
        </p:nvSpPr>
        <p:spPr>
          <a:xfrm>
            <a:off x="571680" y="5590440"/>
            <a:ext cx="68832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Flags</a:t>
            </a:r>
            <a:endParaRPr b="0" lang="it-IT" sz="1200" spc="-1" strike="noStrike">
              <a:solidFill>
                <a:srgbClr val="000000"/>
              </a:solidFill>
              <a:latin typeface="Arial"/>
            </a:endParaRPr>
          </a:p>
        </p:txBody>
      </p:sp>
      <p:sp>
        <p:nvSpPr>
          <p:cNvPr id="129" name="Text 30"/>
          <p:cNvSpPr/>
          <p:nvPr/>
        </p:nvSpPr>
        <p:spPr>
          <a:xfrm>
            <a:off x="3060000" y="5590440"/>
            <a:ext cx="168552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MiSans"/>
                <a:ea typeface="MiSans"/>
              </a:rPr>
              <a:t>-O3 -fopenmp -mavx2</a:t>
            </a:r>
            <a:endParaRPr b="0" lang="it-IT" sz="1200" spc="-1" strike="noStrike">
              <a:solidFill>
                <a:srgbClr val="000000"/>
              </a:solidFill>
              <a:latin typeface="Arial"/>
            </a:endParaRPr>
          </a:p>
        </p:txBody>
      </p:sp>
      <p:sp>
        <p:nvSpPr>
          <p:cNvPr id="130" name="Shape 31"/>
          <p:cNvSpPr/>
          <p:nvPr/>
        </p:nvSpPr>
        <p:spPr>
          <a:xfrm>
            <a:off x="5014080" y="1295280"/>
            <a:ext cx="6800400" cy="4752720"/>
          </a:xfrm>
          <a:custGeom>
            <a:avLst/>
            <a:gdLst>
              <a:gd name="textAreaLeft" fmla="*/ 0 w 6800400"/>
              <a:gd name="textAreaRight" fmla="*/ 6800760 w 6800400"/>
              <a:gd name="textAreaTop" fmla="*/ 0 h 4752720"/>
              <a:gd name="textAreaBottom" fmla="*/ 4753080 h 4752720"/>
            </a:gdLst>
            <a:ahLst/>
            <a:rect l="textAreaLeft" t="textAreaTop" r="textAreaRight" b="textAreaBottom"/>
            <a:pathLst>
              <a:path w="6800850" h="4752975">
                <a:moveTo>
                  <a:pt x="76190" y="0"/>
                </a:moveTo>
                <a:lnTo>
                  <a:pt x="6724660" y="0"/>
                </a:lnTo>
                <a:cubicBezTo>
                  <a:pt x="6766738" y="0"/>
                  <a:pt x="6800850" y="34112"/>
                  <a:pt x="6800850" y="76190"/>
                </a:cubicBezTo>
                <a:lnTo>
                  <a:pt x="6800850" y="4676785"/>
                </a:lnTo>
                <a:cubicBezTo>
                  <a:pt x="6800850" y="4718863"/>
                  <a:pt x="6766738" y="4752975"/>
                  <a:pt x="6724660" y="4752975"/>
                </a:cubicBezTo>
                <a:lnTo>
                  <a:pt x="76190" y="4752975"/>
                </a:lnTo>
                <a:cubicBezTo>
                  <a:pt x="34112" y="4752975"/>
                  <a:pt x="0" y="4718863"/>
                  <a:pt x="0" y="4676785"/>
                </a:cubicBezTo>
                <a:lnTo>
                  <a:pt x="0" y="76190"/>
                </a:lnTo>
                <a:cubicBezTo>
                  <a:pt x="0" y="34140"/>
                  <a:pt x="34140" y="0"/>
                  <a:pt x="76190" y="0"/>
                </a:cubicBezTo>
                <a:close/>
              </a:path>
            </a:pathLst>
          </a:custGeom>
          <a:gradFill rotWithShape="0">
            <a:gsLst>
              <a:gs pos="0">
                <a:srgbClr val="2e344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31" name="Shape 32"/>
          <p:cNvSpPr/>
          <p:nvPr/>
        </p:nvSpPr>
        <p:spPr>
          <a:xfrm>
            <a:off x="5204520" y="1486080"/>
            <a:ext cx="456840" cy="456840"/>
          </a:xfrm>
          <a:custGeom>
            <a:avLst/>
            <a:gdLst>
              <a:gd name="textAreaLeft" fmla="*/ 0 w 456840"/>
              <a:gd name="textAreaRight" fmla="*/ 457200 w 456840"/>
              <a:gd name="textAreaTop" fmla="*/ 0 h 456840"/>
              <a:gd name="textAreaBottom" fmla="*/ 457200 h 456840"/>
            </a:gdLst>
            <a:ahLst/>
            <a:rect l="textAreaLeft" t="textAreaTop" r="textAreaRight" b="textAreaBottom"/>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32" name="Shape 33"/>
          <p:cNvSpPr/>
          <p:nvPr/>
        </p:nvSpPr>
        <p:spPr>
          <a:xfrm>
            <a:off x="5349600" y="1619280"/>
            <a:ext cx="166320" cy="190080"/>
          </a:xfrm>
          <a:custGeom>
            <a:avLst/>
            <a:gdLst>
              <a:gd name="textAreaLeft" fmla="*/ 0 w 166320"/>
              <a:gd name="textAreaRight" fmla="*/ 166680 w 166320"/>
              <a:gd name="textAreaTop" fmla="*/ 0 h 190080"/>
              <a:gd name="textAreaBottom" fmla="*/ 190440 h 190080"/>
            </a:gdLst>
            <a:ahLst/>
            <a:rect l="textAreaLeft" t="textAreaTop" r="textAreaRight" b="textAreaBottom"/>
            <a:pathLst>
              <a:path w="166688" h="190500">
                <a:moveTo>
                  <a:pt x="107156" y="0"/>
                </a:moveTo>
                <a:lnTo>
                  <a:pt x="47625" y="0"/>
                </a:lnTo>
                <a:cubicBezTo>
                  <a:pt x="41039" y="0"/>
                  <a:pt x="35719" y="5321"/>
                  <a:pt x="35719" y="11906"/>
                </a:cubicBezTo>
                <a:cubicBezTo>
                  <a:pt x="35719" y="18492"/>
                  <a:pt x="41039" y="23812"/>
                  <a:pt x="47625" y="23812"/>
                </a:cubicBezTo>
                <a:lnTo>
                  <a:pt x="47625" y="80181"/>
                </a:lnTo>
                <a:lnTo>
                  <a:pt x="2791" y="158614"/>
                </a:lnTo>
                <a:cubicBezTo>
                  <a:pt x="967" y="161851"/>
                  <a:pt x="0" y="165460"/>
                  <a:pt x="0" y="169180"/>
                </a:cubicBezTo>
                <a:cubicBezTo>
                  <a:pt x="0" y="180975"/>
                  <a:pt x="9525" y="190500"/>
                  <a:pt x="21320" y="190500"/>
                </a:cubicBezTo>
                <a:lnTo>
                  <a:pt x="145368" y="190500"/>
                </a:lnTo>
                <a:cubicBezTo>
                  <a:pt x="157125" y="190500"/>
                  <a:pt x="166688" y="180975"/>
                  <a:pt x="166688" y="169180"/>
                </a:cubicBezTo>
                <a:cubicBezTo>
                  <a:pt x="166688" y="165460"/>
                  <a:pt x="165720" y="161813"/>
                  <a:pt x="163897" y="158614"/>
                </a:cubicBezTo>
                <a:lnTo>
                  <a:pt x="119063" y="80181"/>
                </a:lnTo>
                <a:lnTo>
                  <a:pt x="119063" y="23812"/>
                </a:lnTo>
                <a:cubicBezTo>
                  <a:pt x="125648" y="23812"/>
                  <a:pt x="130969" y="18492"/>
                  <a:pt x="130969" y="11906"/>
                </a:cubicBezTo>
                <a:cubicBezTo>
                  <a:pt x="130969" y="5321"/>
                  <a:pt x="125648" y="0"/>
                  <a:pt x="119063" y="0"/>
                </a:cubicBezTo>
                <a:lnTo>
                  <a:pt x="107156" y="0"/>
                </a:lnTo>
                <a:close/>
                <a:moveTo>
                  <a:pt x="71438" y="80181"/>
                </a:moveTo>
                <a:lnTo>
                  <a:pt x="71438" y="23812"/>
                </a:lnTo>
                <a:lnTo>
                  <a:pt x="95250" y="23812"/>
                </a:lnTo>
                <a:lnTo>
                  <a:pt x="95250" y="80181"/>
                </a:lnTo>
                <a:cubicBezTo>
                  <a:pt x="95250" y="84311"/>
                  <a:pt x="96329" y="88404"/>
                  <a:pt x="98375" y="92013"/>
                </a:cubicBezTo>
                <a:lnTo>
                  <a:pt x="113854" y="119063"/>
                </a:lnTo>
                <a:lnTo>
                  <a:pt x="52834" y="119063"/>
                </a:lnTo>
                <a:lnTo>
                  <a:pt x="68312" y="92013"/>
                </a:lnTo>
                <a:cubicBezTo>
                  <a:pt x="70358" y="88404"/>
                  <a:pt x="71438" y="84348"/>
                  <a:pt x="71438" y="80181"/>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33" name="Text 34"/>
          <p:cNvSpPr/>
          <p:nvPr/>
        </p:nvSpPr>
        <p:spPr>
          <a:xfrm>
            <a:off x="5775840" y="1562040"/>
            <a:ext cx="538416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ffffff"/>
                </a:solidFill>
                <a:latin typeface="Liter"/>
                <a:ea typeface="Liter"/>
              </a:rPr>
              <a:t>Metodologia di Benchmark</a:t>
            </a:r>
            <a:endParaRPr b="0" lang="it-IT" sz="1800" spc="-1" strike="noStrike">
              <a:solidFill>
                <a:srgbClr val="000000"/>
              </a:solidFill>
              <a:latin typeface="Arial"/>
            </a:endParaRPr>
          </a:p>
        </p:txBody>
      </p:sp>
      <p:sp>
        <p:nvSpPr>
          <p:cNvPr id="134" name="Shape 35"/>
          <p:cNvSpPr/>
          <p:nvPr/>
        </p:nvSpPr>
        <p:spPr>
          <a:xfrm>
            <a:off x="5204520" y="2095560"/>
            <a:ext cx="3133440" cy="1104480"/>
          </a:xfrm>
          <a:custGeom>
            <a:avLst/>
            <a:gdLst>
              <a:gd name="textAreaLeft" fmla="*/ 0 w 3133440"/>
              <a:gd name="textAreaRight" fmla="*/ 3133800 w 3133440"/>
              <a:gd name="textAreaTop" fmla="*/ 0 h 1104480"/>
              <a:gd name="textAreaBottom" fmla="*/ 1104840 h 1104480"/>
            </a:gdLst>
            <a:ahLst/>
            <a:rect l="textAreaLeft" t="textAreaTop" r="textAreaRight" b="textAreaBottom"/>
            <a:pathLst>
              <a:path w="3133725" h="1104900">
                <a:moveTo>
                  <a:pt x="76205" y="0"/>
                </a:moveTo>
                <a:lnTo>
                  <a:pt x="3057520" y="0"/>
                </a:lnTo>
                <a:cubicBezTo>
                  <a:pt x="3099607" y="0"/>
                  <a:pt x="3133725" y="34118"/>
                  <a:pt x="3133725" y="76205"/>
                </a:cubicBezTo>
                <a:lnTo>
                  <a:pt x="3133725" y="1028695"/>
                </a:lnTo>
                <a:cubicBezTo>
                  <a:pt x="3133725" y="1070782"/>
                  <a:pt x="3099607" y="1104900"/>
                  <a:pt x="3057520" y="1104900"/>
                </a:cubicBezTo>
                <a:lnTo>
                  <a:pt x="76205" y="1104900"/>
                </a:lnTo>
                <a:cubicBezTo>
                  <a:pt x="34118" y="1104900"/>
                  <a:pt x="0" y="1070782"/>
                  <a:pt x="0" y="1028695"/>
                </a:cubicBezTo>
                <a:lnTo>
                  <a:pt x="0" y="76205"/>
                </a:lnTo>
                <a:cubicBezTo>
                  <a:pt x="0" y="34146"/>
                  <a:pt x="34146" y="0"/>
                  <a:pt x="76205"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35" name="Shape 36"/>
          <p:cNvSpPr/>
          <p:nvPr/>
        </p:nvSpPr>
        <p:spPr>
          <a:xfrm>
            <a:off x="5385240" y="2266920"/>
            <a:ext cx="228240" cy="228240"/>
          </a:xfrm>
          <a:custGeom>
            <a:avLst/>
            <a:gdLst>
              <a:gd name="textAreaLeft" fmla="*/ 0 w 228240"/>
              <a:gd name="textAreaRight" fmla="*/ 228600 w 228240"/>
              <a:gd name="textAreaTop" fmla="*/ 0 h 228240"/>
              <a:gd name="textAreaBottom" fmla="*/ 228600 h 228240"/>
            </a:gdLst>
            <a:ahLst/>
            <a:rect l="textAreaLeft" t="textAreaTop" r="textAreaRight" b="textAreaBottom"/>
            <a:pathLst>
              <a:path w="228600" h="228600">
                <a:moveTo>
                  <a:pt x="114300" y="0"/>
                </a:moveTo>
                <a:cubicBezTo>
                  <a:pt x="177384" y="0"/>
                  <a:pt x="228600" y="51216"/>
                  <a:pt x="228600" y="114300"/>
                </a:cubicBezTo>
                <a:cubicBezTo>
                  <a:pt x="228600" y="177384"/>
                  <a:pt x="177384" y="228600"/>
                  <a:pt x="114300" y="228600"/>
                </a:cubicBezTo>
                <a:cubicBezTo>
                  <a:pt x="51216" y="228600"/>
                  <a:pt x="0" y="177384"/>
                  <a:pt x="0" y="114300"/>
                </a:cubicBezTo>
                <a:cubicBezTo>
                  <a:pt x="0" y="51216"/>
                  <a:pt x="51216" y="0"/>
                  <a:pt x="114300" y="0"/>
                </a:cubicBezTo>
                <a:close/>
                <a:moveTo>
                  <a:pt x="103584" y="53578"/>
                </a:moveTo>
                <a:lnTo>
                  <a:pt x="103584" y="114300"/>
                </a:lnTo>
                <a:cubicBezTo>
                  <a:pt x="103584" y="117872"/>
                  <a:pt x="105370" y="121221"/>
                  <a:pt x="108362" y="123230"/>
                </a:cubicBezTo>
                <a:lnTo>
                  <a:pt x="151224" y="151805"/>
                </a:lnTo>
                <a:cubicBezTo>
                  <a:pt x="156136" y="155109"/>
                  <a:pt x="162788" y="153769"/>
                  <a:pt x="166092" y="148813"/>
                </a:cubicBezTo>
                <a:cubicBezTo>
                  <a:pt x="169396" y="143857"/>
                  <a:pt x="168057" y="137249"/>
                  <a:pt x="163101" y="133945"/>
                </a:cubicBezTo>
                <a:lnTo>
                  <a:pt x="125016" y="108585"/>
                </a:lnTo>
                <a:lnTo>
                  <a:pt x="125016" y="53578"/>
                </a:lnTo>
                <a:cubicBezTo>
                  <a:pt x="125016" y="47640"/>
                  <a:pt x="120238" y="42863"/>
                  <a:pt x="114300" y="42863"/>
                </a:cubicBezTo>
                <a:cubicBezTo>
                  <a:pt x="108362" y="42863"/>
                  <a:pt x="103584" y="47640"/>
                  <a:pt x="103584" y="53578"/>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36" name="Text 37"/>
          <p:cNvSpPr/>
          <p:nvPr/>
        </p:nvSpPr>
        <p:spPr>
          <a:xfrm>
            <a:off x="5756760" y="2247840"/>
            <a:ext cx="126324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ffffff"/>
                </a:solidFill>
                <a:latin typeface="Liter"/>
                <a:ea typeface="Liter"/>
              </a:rPr>
              <a:t>Baseline</a:t>
            </a:r>
            <a:endParaRPr b="0" lang="it-IT" sz="1350" spc="-1" strike="noStrike">
              <a:solidFill>
                <a:srgbClr val="000000"/>
              </a:solidFill>
              <a:latin typeface="Arial"/>
            </a:endParaRPr>
          </a:p>
        </p:txBody>
      </p:sp>
      <p:sp>
        <p:nvSpPr>
          <p:cNvPr id="137" name="Text 38"/>
          <p:cNvSpPr/>
          <p:nvPr/>
        </p:nvSpPr>
        <p:spPr>
          <a:xfrm>
            <a:off x="5356800" y="2590920"/>
            <a:ext cx="290484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Tempo sequenziale </a:t>
            </a:r>
            <a:r>
              <a:rPr b="1" lang="en-US" sz="1200" spc="-1" strike="noStrike">
                <a:solidFill>
                  <a:srgbClr val="ffffff"/>
                </a:solidFill>
                <a:latin typeface="Quattrocento Sans"/>
                <a:ea typeface="Quattrocento Sans"/>
              </a:rPr>
              <a:t>8-10 secondi</a:t>
            </a:r>
            <a:r>
              <a:rPr b="0" lang="en-US" sz="1200" spc="-1" strike="noStrike">
                <a:solidFill>
                  <a:srgbClr val="ffffff"/>
                </a:solidFill>
                <a:latin typeface="Quattrocento Sans"/>
                <a:ea typeface="Quattrocento Sans"/>
              </a:rPr>
              <a:t> per ridurre rumore di sistema</a:t>
            </a:r>
            <a:endParaRPr b="0" lang="it-IT" sz="1200" spc="-1" strike="noStrike">
              <a:solidFill>
                <a:srgbClr val="000000"/>
              </a:solidFill>
              <a:latin typeface="Arial"/>
            </a:endParaRPr>
          </a:p>
        </p:txBody>
      </p:sp>
      <p:sp>
        <p:nvSpPr>
          <p:cNvPr id="138" name="Shape 39"/>
          <p:cNvSpPr/>
          <p:nvPr/>
        </p:nvSpPr>
        <p:spPr>
          <a:xfrm>
            <a:off x="8488440" y="2095560"/>
            <a:ext cx="3133440" cy="1104480"/>
          </a:xfrm>
          <a:custGeom>
            <a:avLst/>
            <a:gdLst>
              <a:gd name="textAreaLeft" fmla="*/ 0 w 3133440"/>
              <a:gd name="textAreaRight" fmla="*/ 3133800 w 3133440"/>
              <a:gd name="textAreaTop" fmla="*/ 0 h 1104480"/>
              <a:gd name="textAreaBottom" fmla="*/ 1104840 h 1104480"/>
            </a:gdLst>
            <a:ahLst/>
            <a:rect l="textAreaLeft" t="textAreaTop" r="textAreaRight" b="textAreaBottom"/>
            <a:pathLst>
              <a:path w="3133725" h="1104900">
                <a:moveTo>
                  <a:pt x="76205" y="0"/>
                </a:moveTo>
                <a:lnTo>
                  <a:pt x="3057520" y="0"/>
                </a:lnTo>
                <a:cubicBezTo>
                  <a:pt x="3099607" y="0"/>
                  <a:pt x="3133725" y="34118"/>
                  <a:pt x="3133725" y="76205"/>
                </a:cubicBezTo>
                <a:lnTo>
                  <a:pt x="3133725" y="1028695"/>
                </a:lnTo>
                <a:cubicBezTo>
                  <a:pt x="3133725" y="1070782"/>
                  <a:pt x="3099607" y="1104900"/>
                  <a:pt x="3057520" y="1104900"/>
                </a:cubicBezTo>
                <a:lnTo>
                  <a:pt x="76205" y="1104900"/>
                </a:lnTo>
                <a:cubicBezTo>
                  <a:pt x="34118" y="1104900"/>
                  <a:pt x="0" y="1070782"/>
                  <a:pt x="0" y="1028695"/>
                </a:cubicBezTo>
                <a:lnTo>
                  <a:pt x="0" y="76205"/>
                </a:lnTo>
                <a:cubicBezTo>
                  <a:pt x="0" y="34146"/>
                  <a:pt x="34146" y="0"/>
                  <a:pt x="76205"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39" name="Shape 40"/>
          <p:cNvSpPr/>
          <p:nvPr/>
        </p:nvSpPr>
        <p:spPr>
          <a:xfrm>
            <a:off x="8683920" y="2266920"/>
            <a:ext cx="199800" cy="228240"/>
          </a:xfrm>
          <a:custGeom>
            <a:avLst/>
            <a:gdLst>
              <a:gd name="textAreaLeft" fmla="*/ 0 w 199800"/>
              <a:gd name="textAreaRight" fmla="*/ 200160 w 199800"/>
              <a:gd name="textAreaTop" fmla="*/ 0 h 228240"/>
              <a:gd name="textAreaBottom" fmla="*/ 228600 h 228240"/>
            </a:gdLst>
            <a:ahLst/>
            <a:rect l="textAreaLeft" t="textAreaTop" r="textAreaRight" b="textAreaBottom"/>
            <a:pathLst>
              <a:path w="200025" h="228600">
                <a:moveTo>
                  <a:pt x="71661" y="-11787"/>
                </a:moveTo>
                <a:cubicBezTo>
                  <a:pt x="75813" y="-15270"/>
                  <a:pt x="81930" y="-15136"/>
                  <a:pt x="85904" y="-11385"/>
                </a:cubicBezTo>
                <a:cubicBezTo>
                  <a:pt x="91395" y="-6206"/>
                  <a:pt x="96307" y="-491"/>
                  <a:pt x="101039" y="5313"/>
                </a:cubicBezTo>
                <a:cubicBezTo>
                  <a:pt x="107067" y="12680"/>
                  <a:pt x="114300" y="22414"/>
                  <a:pt x="121265" y="33977"/>
                </a:cubicBezTo>
                <a:cubicBezTo>
                  <a:pt x="123587" y="30941"/>
                  <a:pt x="125730" y="28262"/>
                  <a:pt x="127605" y="25985"/>
                </a:cubicBezTo>
                <a:cubicBezTo>
                  <a:pt x="128096" y="25405"/>
                  <a:pt x="128588" y="24780"/>
                  <a:pt x="129079" y="24155"/>
                </a:cubicBezTo>
                <a:cubicBezTo>
                  <a:pt x="132606" y="19779"/>
                  <a:pt x="136981" y="14287"/>
                  <a:pt x="142830" y="14287"/>
                </a:cubicBezTo>
                <a:cubicBezTo>
                  <a:pt x="148813" y="14287"/>
                  <a:pt x="153010" y="19601"/>
                  <a:pt x="156582" y="24155"/>
                </a:cubicBezTo>
                <a:cubicBezTo>
                  <a:pt x="157163" y="24914"/>
                  <a:pt x="157743" y="25628"/>
                  <a:pt x="158323" y="26298"/>
                </a:cubicBezTo>
                <a:cubicBezTo>
                  <a:pt x="162922" y="31834"/>
                  <a:pt x="169039" y="39826"/>
                  <a:pt x="175156" y="49694"/>
                </a:cubicBezTo>
                <a:cubicBezTo>
                  <a:pt x="187300" y="69294"/>
                  <a:pt x="199980" y="97200"/>
                  <a:pt x="199980" y="128543"/>
                </a:cubicBezTo>
                <a:cubicBezTo>
                  <a:pt x="199980" y="183773"/>
                  <a:pt x="155198" y="228555"/>
                  <a:pt x="99968" y="228555"/>
                </a:cubicBezTo>
                <a:cubicBezTo>
                  <a:pt x="44738" y="228555"/>
                  <a:pt x="0" y="183818"/>
                  <a:pt x="0" y="128588"/>
                </a:cubicBezTo>
                <a:cubicBezTo>
                  <a:pt x="0" y="87913"/>
                  <a:pt x="18351" y="52685"/>
                  <a:pt x="35942" y="28129"/>
                </a:cubicBezTo>
                <a:cubicBezTo>
                  <a:pt x="44827" y="15761"/>
                  <a:pt x="53667" y="5849"/>
                  <a:pt x="60320" y="-938"/>
                </a:cubicBezTo>
                <a:cubicBezTo>
                  <a:pt x="63981" y="-4688"/>
                  <a:pt x="67687" y="-8394"/>
                  <a:pt x="71705" y="-11743"/>
                </a:cubicBezTo>
                <a:close/>
                <a:moveTo>
                  <a:pt x="100772" y="185738"/>
                </a:moveTo>
                <a:cubicBezTo>
                  <a:pt x="112068" y="185738"/>
                  <a:pt x="122069" y="182612"/>
                  <a:pt x="131490" y="176361"/>
                </a:cubicBezTo>
                <a:cubicBezTo>
                  <a:pt x="150287" y="163235"/>
                  <a:pt x="155332" y="136981"/>
                  <a:pt x="144036" y="116354"/>
                </a:cubicBezTo>
                <a:cubicBezTo>
                  <a:pt x="142027" y="112335"/>
                  <a:pt x="136892" y="112068"/>
                  <a:pt x="133990" y="115461"/>
                </a:cubicBezTo>
                <a:lnTo>
                  <a:pt x="122739" y="128543"/>
                </a:lnTo>
                <a:cubicBezTo>
                  <a:pt x="119792" y="131936"/>
                  <a:pt x="114479" y="131847"/>
                  <a:pt x="111710" y="128320"/>
                </a:cubicBezTo>
                <a:cubicBezTo>
                  <a:pt x="103986" y="118452"/>
                  <a:pt x="89788" y="100459"/>
                  <a:pt x="82555" y="91261"/>
                </a:cubicBezTo>
                <a:cubicBezTo>
                  <a:pt x="80144" y="88181"/>
                  <a:pt x="75768" y="87690"/>
                  <a:pt x="72956" y="90413"/>
                </a:cubicBezTo>
                <a:cubicBezTo>
                  <a:pt x="64785" y="98361"/>
                  <a:pt x="49962" y="115773"/>
                  <a:pt x="49962" y="136981"/>
                </a:cubicBezTo>
                <a:cubicBezTo>
                  <a:pt x="49962" y="167610"/>
                  <a:pt x="72554" y="185738"/>
                  <a:pt x="100727" y="185738"/>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40" name="Text 41"/>
          <p:cNvSpPr/>
          <p:nvPr/>
        </p:nvSpPr>
        <p:spPr>
          <a:xfrm>
            <a:off x="9041040" y="2247840"/>
            <a:ext cx="139896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ffffff"/>
                </a:solidFill>
                <a:latin typeface="Liter"/>
                <a:ea typeface="Liter"/>
              </a:rPr>
              <a:t>Warm-up</a:t>
            </a:r>
            <a:endParaRPr b="0" lang="it-IT" sz="1350" spc="-1" strike="noStrike">
              <a:solidFill>
                <a:srgbClr val="000000"/>
              </a:solidFill>
              <a:latin typeface="Arial"/>
            </a:endParaRPr>
          </a:p>
        </p:txBody>
      </p:sp>
      <p:sp>
        <p:nvSpPr>
          <p:cNvPr id="141" name="Text 42"/>
          <p:cNvSpPr/>
          <p:nvPr/>
        </p:nvSpPr>
        <p:spPr>
          <a:xfrm>
            <a:off x="8641080" y="2590920"/>
            <a:ext cx="290484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Ciclo di caricamento cache e stabilizzazione CPU prima di ogni misura</a:t>
            </a:r>
            <a:endParaRPr b="0" lang="it-IT" sz="1200" spc="-1" strike="noStrike">
              <a:solidFill>
                <a:srgbClr val="000000"/>
              </a:solidFill>
              <a:latin typeface="Arial"/>
            </a:endParaRPr>
          </a:p>
        </p:txBody>
      </p:sp>
      <p:sp>
        <p:nvSpPr>
          <p:cNvPr id="142" name="Shape 43"/>
          <p:cNvSpPr/>
          <p:nvPr/>
        </p:nvSpPr>
        <p:spPr>
          <a:xfrm>
            <a:off x="5204520" y="3352680"/>
            <a:ext cx="3133440" cy="1104480"/>
          </a:xfrm>
          <a:custGeom>
            <a:avLst/>
            <a:gdLst>
              <a:gd name="textAreaLeft" fmla="*/ 0 w 3133440"/>
              <a:gd name="textAreaRight" fmla="*/ 3133800 w 3133440"/>
              <a:gd name="textAreaTop" fmla="*/ 0 h 1104480"/>
              <a:gd name="textAreaBottom" fmla="*/ 1104840 h 1104480"/>
            </a:gdLst>
            <a:ahLst/>
            <a:rect l="textAreaLeft" t="textAreaTop" r="textAreaRight" b="textAreaBottom"/>
            <a:pathLst>
              <a:path w="3133725" h="1104900">
                <a:moveTo>
                  <a:pt x="76205" y="0"/>
                </a:moveTo>
                <a:lnTo>
                  <a:pt x="3057520" y="0"/>
                </a:lnTo>
                <a:cubicBezTo>
                  <a:pt x="3099607" y="0"/>
                  <a:pt x="3133725" y="34118"/>
                  <a:pt x="3133725" y="76205"/>
                </a:cubicBezTo>
                <a:lnTo>
                  <a:pt x="3133725" y="1028695"/>
                </a:lnTo>
                <a:cubicBezTo>
                  <a:pt x="3133725" y="1070782"/>
                  <a:pt x="3099607" y="1104900"/>
                  <a:pt x="3057520" y="1104900"/>
                </a:cubicBezTo>
                <a:lnTo>
                  <a:pt x="76205" y="1104900"/>
                </a:lnTo>
                <a:cubicBezTo>
                  <a:pt x="34118" y="1104900"/>
                  <a:pt x="0" y="1070782"/>
                  <a:pt x="0" y="1028695"/>
                </a:cubicBezTo>
                <a:lnTo>
                  <a:pt x="0" y="76205"/>
                </a:lnTo>
                <a:cubicBezTo>
                  <a:pt x="0" y="34146"/>
                  <a:pt x="34146" y="0"/>
                  <a:pt x="76205"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43" name="Shape 44"/>
          <p:cNvSpPr/>
          <p:nvPr/>
        </p:nvSpPr>
        <p:spPr>
          <a:xfrm>
            <a:off x="5385240" y="3524400"/>
            <a:ext cx="228240" cy="228240"/>
          </a:xfrm>
          <a:custGeom>
            <a:avLst/>
            <a:gdLst>
              <a:gd name="textAreaLeft" fmla="*/ 0 w 228240"/>
              <a:gd name="textAreaRight" fmla="*/ 228600 w 228240"/>
              <a:gd name="textAreaTop" fmla="*/ 0 h 228240"/>
              <a:gd name="textAreaBottom" fmla="*/ 228600 h 228240"/>
            </a:gdLst>
            <a:ahLst/>
            <a:rect l="textAreaLeft" t="textAreaTop" r="textAreaRight" b="textAreaBottom"/>
            <a:pathLst>
              <a:path w="228600" h="228600">
                <a:moveTo>
                  <a:pt x="194980" y="33352"/>
                </a:moveTo>
                <a:lnTo>
                  <a:pt x="200025" y="38130"/>
                </a:lnTo>
                <a:lnTo>
                  <a:pt x="200025" y="14288"/>
                </a:lnTo>
                <a:cubicBezTo>
                  <a:pt x="200025" y="6385"/>
                  <a:pt x="206410" y="0"/>
                  <a:pt x="214313" y="0"/>
                </a:cubicBezTo>
                <a:cubicBezTo>
                  <a:pt x="222215" y="0"/>
                  <a:pt x="228600" y="6385"/>
                  <a:pt x="228600" y="14288"/>
                </a:cubicBezTo>
                <a:lnTo>
                  <a:pt x="228600" y="71438"/>
                </a:lnTo>
                <a:cubicBezTo>
                  <a:pt x="228600" y="79340"/>
                  <a:pt x="222215" y="85725"/>
                  <a:pt x="214313" y="85725"/>
                </a:cubicBezTo>
                <a:lnTo>
                  <a:pt x="157163" y="85725"/>
                </a:lnTo>
                <a:cubicBezTo>
                  <a:pt x="149260" y="85725"/>
                  <a:pt x="142875" y="79340"/>
                  <a:pt x="142875" y="71438"/>
                </a:cubicBezTo>
                <a:cubicBezTo>
                  <a:pt x="142875" y="63535"/>
                  <a:pt x="149260" y="57150"/>
                  <a:pt x="157163" y="57150"/>
                </a:cubicBezTo>
                <a:lnTo>
                  <a:pt x="178549" y="57150"/>
                </a:lnTo>
                <a:lnTo>
                  <a:pt x="175156" y="53935"/>
                </a:lnTo>
                <a:cubicBezTo>
                  <a:pt x="175067" y="53846"/>
                  <a:pt x="174977" y="53757"/>
                  <a:pt x="174888" y="53667"/>
                </a:cubicBezTo>
                <a:cubicBezTo>
                  <a:pt x="141402" y="20181"/>
                  <a:pt x="87154" y="20181"/>
                  <a:pt x="53667" y="53667"/>
                </a:cubicBezTo>
                <a:cubicBezTo>
                  <a:pt x="20181" y="87154"/>
                  <a:pt x="20181" y="141402"/>
                  <a:pt x="53667" y="174888"/>
                </a:cubicBezTo>
                <a:cubicBezTo>
                  <a:pt x="87154" y="208374"/>
                  <a:pt x="141402" y="208374"/>
                  <a:pt x="174888" y="174888"/>
                </a:cubicBezTo>
                <a:cubicBezTo>
                  <a:pt x="178549" y="171227"/>
                  <a:pt x="181808" y="167342"/>
                  <a:pt x="184666" y="163235"/>
                </a:cubicBezTo>
                <a:cubicBezTo>
                  <a:pt x="189175" y="156761"/>
                  <a:pt x="198105" y="155198"/>
                  <a:pt x="204579" y="159707"/>
                </a:cubicBezTo>
                <a:cubicBezTo>
                  <a:pt x="211053" y="164217"/>
                  <a:pt x="212616" y="173147"/>
                  <a:pt x="208106" y="179621"/>
                </a:cubicBezTo>
                <a:cubicBezTo>
                  <a:pt x="204311" y="185068"/>
                  <a:pt x="199980" y="190247"/>
                  <a:pt x="195114" y="195114"/>
                </a:cubicBezTo>
                <a:cubicBezTo>
                  <a:pt x="150465" y="239762"/>
                  <a:pt x="78090" y="239762"/>
                  <a:pt x="33486" y="195114"/>
                </a:cubicBezTo>
                <a:cubicBezTo>
                  <a:pt x="-11117" y="150465"/>
                  <a:pt x="-11162" y="78135"/>
                  <a:pt x="33486" y="33486"/>
                </a:cubicBezTo>
                <a:cubicBezTo>
                  <a:pt x="78090" y="-11117"/>
                  <a:pt x="150331" y="-11162"/>
                  <a:pt x="194980" y="33352"/>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44" name="Text 45"/>
          <p:cNvSpPr/>
          <p:nvPr/>
        </p:nvSpPr>
        <p:spPr>
          <a:xfrm>
            <a:off x="5756760" y="3505320"/>
            <a:ext cx="126324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ffffff"/>
                </a:solidFill>
                <a:latin typeface="Liter"/>
                <a:ea typeface="Liter"/>
              </a:rPr>
              <a:t>Ripetizioni</a:t>
            </a:r>
            <a:endParaRPr b="0" lang="it-IT" sz="1350" spc="-1" strike="noStrike">
              <a:solidFill>
                <a:srgbClr val="000000"/>
              </a:solidFill>
              <a:latin typeface="Arial"/>
            </a:endParaRPr>
          </a:p>
        </p:txBody>
      </p:sp>
      <p:sp>
        <p:nvSpPr>
          <p:cNvPr id="145" name="Text 46"/>
          <p:cNvSpPr/>
          <p:nvPr/>
        </p:nvSpPr>
        <p:spPr>
          <a:xfrm>
            <a:off x="5356800" y="3848040"/>
            <a:ext cx="290484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10 esecuzioni</a:t>
            </a:r>
            <a:r>
              <a:rPr b="0" lang="en-US" sz="1200" spc="-1" strike="noStrike">
                <a:solidFill>
                  <a:srgbClr val="ffffff"/>
                </a:solidFill>
                <a:latin typeface="Quattrocento Sans"/>
                <a:ea typeface="Quattrocento Sans"/>
              </a:rPr>
              <a:t> per ogni configurazione (1, 2, 4, 8, 12, 16, 24, 32, 64 thread)</a:t>
            </a:r>
            <a:endParaRPr b="0" lang="it-IT" sz="1200" spc="-1" strike="noStrike">
              <a:solidFill>
                <a:srgbClr val="000000"/>
              </a:solidFill>
              <a:latin typeface="Arial"/>
            </a:endParaRPr>
          </a:p>
        </p:txBody>
      </p:sp>
      <p:sp>
        <p:nvSpPr>
          <p:cNvPr id="146" name="Shape 47"/>
          <p:cNvSpPr/>
          <p:nvPr/>
        </p:nvSpPr>
        <p:spPr>
          <a:xfrm>
            <a:off x="8488440" y="3352680"/>
            <a:ext cx="3133440" cy="1104480"/>
          </a:xfrm>
          <a:custGeom>
            <a:avLst/>
            <a:gdLst>
              <a:gd name="textAreaLeft" fmla="*/ 0 w 3133440"/>
              <a:gd name="textAreaRight" fmla="*/ 3133800 w 3133440"/>
              <a:gd name="textAreaTop" fmla="*/ 0 h 1104480"/>
              <a:gd name="textAreaBottom" fmla="*/ 1104840 h 1104480"/>
            </a:gdLst>
            <a:ahLst/>
            <a:rect l="textAreaLeft" t="textAreaTop" r="textAreaRight" b="textAreaBottom"/>
            <a:pathLst>
              <a:path w="3133725" h="1104900">
                <a:moveTo>
                  <a:pt x="76205" y="0"/>
                </a:moveTo>
                <a:lnTo>
                  <a:pt x="3057520" y="0"/>
                </a:lnTo>
                <a:cubicBezTo>
                  <a:pt x="3099607" y="0"/>
                  <a:pt x="3133725" y="34118"/>
                  <a:pt x="3133725" y="76205"/>
                </a:cubicBezTo>
                <a:lnTo>
                  <a:pt x="3133725" y="1028695"/>
                </a:lnTo>
                <a:cubicBezTo>
                  <a:pt x="3133725" y="1070782"/>
                  <a:pt x="3099607" y="1104900"/>
                  <a:pt x="3057520" y="1104900"/>
                </a:cubicBezTo>
                <a:lnTo>
                  <a:pt x="76205" y="1104900"/>
                </a:lnTo>
                <a:cubicBezTo>
                  <a:pt x="34118" y="1104900"/>
                  <a:pt x="0" y="1070782"/>
                  <a:pt x="0" y="1028695"/>
                </a:cubicBezTo>
                <a:lnTo>
                  <a:pt x="0" y="76205"/>
                </a:lnTo>
                <a:cubicBezTo>
                  <a:pt x="0" y="34146"/>
                  <a:pt x="34146" y="0"/>
                  <a:pt x="76205"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47" name="Shape 48"/>
          <p:cNvSpPr/>
          <p:nvPr/>
        </p:nvSpPr>
        <p:spPr>
          <a:xfrm>
            <a:off x="8683920" y="3524400"/>
            <a:ext cx="199800" cy="228240"/>
          </a:xfrm>
          <a:custGeom>
            <a:avLst/>
            <a:gdLst>
              <a:gd name="textAreaLeft" fmla="*/ 0 w 199800"/>
              <a:gd name="textAreaRight" fmla="*/ 200160 w 199800"/>
              <a:gd name="textAreaTop" fmla="*/ 0 h 228240"/>
              <a:gd name="textAreaBottom" fmla="*/ 228600 h 228240"/>
            </a:gdLst>
            <a:ahLst/>
            <a:rect l="textAreaLeft" t="textAreaTop" r="textAreaRight" b="textAreaBottom"/>
            <a:pathLst>
              <a:path w="200025" h="228600">
                <a:moveTo>
                  <a:pt x="75233" y="0"/>
                </a:moveTo>
                <a:cubicBezTo>
                  <a:pt x="69294" y="0"/>
                  <a:pt x="64517" y="4777"/>
                  <a:pt x="64517" y="10716"/>
                </a:cubicBezTo>
                <a:cubicBezTo>
                  <a:pt x="64517" y="16654"/>
                  <a:pt x="69294" y="21431"/>
                  <a:pt x="75233" y="21431"/>
                </a:cubicBezTo>
                <a:lnTo>
                  <a:pt x="89520" y="21431"/>
                </a:lnTo>
                <a:lnTo>
                  <a:pt x="89520" y="32727"/>
                </a:lnTo>
                <a:cubicBezTo>
                  <a:pt x="41300" y="38040"/>
                  <a:pt x="3795" y="78938"/>
                  <a:pt x="3795" y="128588"/>
                </a:cubicBezTo>
                <a:cubicBezTo>
                  <a:pt x="3795" y="181853"/>
                  <a:pt x="46970" y="225028"/>
                  <a:pt x="100236" y="225028"/>
                </a:cubicBezTo>
                <a:cubicBezTo>
                  <a:pt x="153501" y="225028"/>
                  <a:pt x="196676" y="181853"/>
                  <a:pt x="196676" y="128588"/>
                </a:cubicBezTo>
                <a:cubicBezTo>
                  <a:pt x="196676" y="110817"/>
                  <a:pt x="191854" y="94164"/>
                  <a:pt x="183460" y="79831"/>
                </a:cubicBezTo>
                <a:lnTo>
                  <a:pt x="196051" y="67241"/>
                </a:lnTo>
                <a:cubicBezTo>
                  <a:pt x="201632" y="61659"/>
                  <a:pt x="201632" y="52596"/>
                  <a:pt x="196051" y="47015"/>
                </a:cubicBezTo>
                <a:cubicBezTo>
                  <a:pt x="190470" y="41434"/>
                  <a:pt x="181407" y="41434"/>
                  <a:pt x="175826" y="47015"/>
                </a:cubicBezTo>
                <a:lnTo>
                  <a:pt x="165378" y="57463"/>
                </a:lnTo>
                <a:cubicBezTo>
                  <a:pt x="150688" y="43979"/>
                  <a:pt x="131802" y="35004"/>
                  <a:pt x="110907" y="32683"/>
                </a:cubicBezTo>
                <a:lnTo>
                  <a:pt x="110907" y="21387"/>
                </a:lnTo>
                <a:lnTo>
                  <a:pt x="125194" y="21387"/>
                </a:lnTo>
                <a:cubicBezTo>
                  <a:pt x="131132" y="21387"/>
                  <a:pt x="135910" y="16609"/>
                  <a:pt x="135910" y="10671"/>
                </a:cubicBezTo>
                <a:cubicBezTo>
                  <a:pt x="135910" y="4733"/>
                  <a:pt x="131132" y="-45"/>
                  <a:pt x="125194" y="-45"/>
                </a:cubicBezTo>
                <a:lnTo>
                  <a:pt x="75188" y="-45"/>
                </a:lnTo>
                <a:close/>
                <a:moveTo>
                  <a:pt x="110951" y="82153"/>
                </a:moveTo>
                <a:lnTo>
                  <a:pt x="110951" y="128588"/>
                </a:lnTo>
                <a:cubicBezTo>
                  <a:pt x="110951" y="134526"/>
                  <a:pt x="106174" y="139303"/>
                  <a:pt x="100236" y="139303"/>
                </a:cubicBezTo>
                <a:cubicBezTo>
                  <a:pt x="94298" y="139303"/>
                  <a:pt x="89520" y="134526"/>
                  <a:pt x="89520" y="128588"/>
                </a:cubicBezTo>
                <a:lnTo>
                  <a:pt x="89520" y="82153"/>
                </a:lnTo>
                <a:cubicBezTo>
                  <a:pt x="89520" y="76215"/>
                  <a:pt x="94298" y="71438"/>
                  <a:pt x="100236" y="71438"/>
                </a:cubicBezTo>
                <a:cubicBezTo>
                  <a:pt x="106174" y="71438"/>
                  <a:pt x="110951" y="76215"/>
                  <a:pt x="110951" y="82153"/>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48" name="Text 49"/>
          <p:cNvSpPr/>
          <p:nvPr/>
        </p:nvSpPr>
        <p:spPr>
          <a:xfrm>
            <a:off x="9041040" y="3505320"/>
            <a:ext cx="103896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ffffff"/>
                </a:solidFill>
                <a:latin typeface="Liter"/>
                <a:ea typeface="Liter"/>
              </a:rPr>
              <a:t>Timer</a:t>
            </a:r>
            <a:endParaRPr b="0" lang="it-IT" sz="1350" spc="-1" strike="noStrike">
              <a:solidFill>
                <a:srgbClr val="000000"/>
              </a:solidFill>
              <a:latin typeface="Arial"/>
            </a:endParaRPr>
          </a:p>
        </p:txBody>
      </p:sp>
      <p:sp>
        <p:nvSpPr>
          <p:cNvPr id="149" name="Text 50"/>
          <p:cNvSpPr/>
          <p:nvPr/>
        </p:nvSpPr>
        <p:spPr>
          <a:xfrm>
            <a:off x="8641080" y="3848040"/>
            <a:ext cx="290484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MiSans"/>
                <a:ea typeface="MiSans"/>
              </a:rPr>
              <a:t>omp_get_wtime()</a:t>
            </a:r>
            <a:r>
              <a:rPr b="0" lang="en-US" sz="1200" spc="-1" strike="noStrike">
                <a:solidFill>
                  <a:srgbClr val="ffffff"/>
                </a:solidFill>
                <a:latin typeface="Quattrocento Sans"/>
                <a:ea typeface="Quattrocento Sans"/>
              </a:rPr>
              <a:t> per misurare solo la parte computazionale</a:t>
            </a:r>
            <a:endParaRPr b="0" lang="it-IT" sz="1200" spc="-1" strike="noStrike">
              <a:solidFill>
                <a:srgbClr val="000000"/>
              </a:solidFill>
              <a:latin typeface="Arial"/>
            </a:endParaRPr>
          </a:p>
        </p:txBody>
      </p:sp>
      <p:sp>
        <p:nvSpPr>
          <p:cNvPr id="150" name="Shape 51"/>
          <p:cNvSpPr/>
          <p:nvPr/>
        </p:nvSpPr>
        <p:spPr>
          <a:xfrm>
            <a:off x="5207760" y="4613400"/>
            <a:ext cx="6407280" cy="768600"/>
          </a:xfrm>
          <a:custGeom>
            <a:avLst/>
            <a:gdLst>
              <a:gd name="textAreaLeft" fmla="*/ 0 w 6407280"/>
              <a:gd name="textAreaRight" fmla="*/ 6407640 w 6407280"/>
              <a:gd name="textAreaTop" fmla="*/ 0 h 768600"/>
              <a:gd name="textAreaBottom" fmla="*/ 768960 h 768600"/>
            </a:gdLst>
            <a:ahLst/>
            <a:rect l="textAreaLeft" t="textAreaTop" r="textAreaRight" b="textAreaBottom"/>
            <a:pathLst>
              <a:path w="6407727" h="768927">
                <a:moveTo>
                  <a:pt x="76201" y="0"/>
                </a:moveTo>
                <a:lnTo>
                  <a:pt x="6331527" y="0"/>
                </a:lnTo>
                <a:cubicBezTo>
                  <a:pt x="6373611" y="0"/>
                  <a:pt x="6407727" y="34116"/>
                  <a:pt x="6407727" y="76201"/>
                </a:cubicBezTo>
                <a:lnTo>
                  <a:pt x="6407727" y="692727"/>
                </a:lnTo>
                <a:cubicBezTo>
                  <a:pt x="6407727" y="734811"/>
                  <a:pt x="6373611" y="768927"/>
                  <a:pt x="6331527" y="768927"/>
                </a:cubicBezTo>
                <a:lnTo>
                  <a:pt x="76201" y="768927"/>
                </a:lnTo>
                <a:cubicBezTo>
                  <a:pt x="34116" y="768927"/>
                  <a:pt x="0" y="734811"/>
                  <a:pt x="0" y="692727"/>
                </a:cubicBezTo>
                <a:lnTo>
                  <a:pt x="0" y="76201"/>
                </a:lnTo>
                <a:cubicBezTo>
                  <a:pt x="0" y="34144"/>
                  <a:pt x="34144" y="0"/>
                  <a:pt x="76201" y="0"/>
                </a:cubicBezTo>
                <a:close/>
              </a:path>
            </a:pathLst>
          </a:custGeom>
          <a:solidFill>
            <a:srgbClr val="88c0d0">
              <a:alpha val="30000"/>
            </a:srgbClr>
          </a:solidFill>
          <a:ln w="9236">
            <a:solidFill>
              <a:srgbClr val="88c0d0">
                <a:alpha val="5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51" name="Text 52"/>
          <p:cNvSpPr/>
          <p:nvPr/>
        </p:nvSpPr>
        <p:spPr>
          <a:xfrm>
            <a:off x="5363640" y="4769280"/>
            <a:ext cx="617184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Obiettivo:</a:t>
            </a:r>
            <a:r>
              <a:rPr b="0" lang="en-US" sz="1200" spc="-1" strike="noStrike">
                <a:solidFill>
                  <a:srgbClr val="ffffff"/>
                </a:solidFill>
                <a:latin typeface="Quattrocento Sans"/>
                <a:ea typeface="Quattrocento Sans"/>
              </a:rPr>
              <a:t> Garantire riproducibilità e accuratezza dei dati, minimizzando l'impatto del rumore di sistema sulle misurazioni.</a:t>
            </a:r>
            <a:endParaRPr b="0" lang="it-IT" sz="1200" spc="-1" strike="noStrike">
              <a:solidFill>
                <a:srgbClr val="000000"/>
              </a:solidFill>
              <a:latin typeface="Arial"/>
            </a:endParaRPr>
          </a:p>
        </p:txBody>
      </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152"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17" strike="noStrike">
                <a:solidFill>
                  <a:srgbClr val="5e81ac"/>
                </a:solidFill>
                <a:latin typeface="Quattrocento Sans"/>
                <a:ea typeface="Quattrocento Sans"/>
              </a:rPr>
              <a:t>Algoritmo di Base</a:t>
            </a:r>
            <a:endParaRPr b="0" lang="it-IT" sz="1200" spc="-1" strike="noStrike">
              <a:solidFill>
                <a:srgbClr val="000000"/>
              </a:solidFill>
              <a:latin typeface="Arial"/>
            </a:endParaRPr>
          </a:p>
        </p:txBody>
      </p:sp>
      <p:sp>
        <p:nvSpPr>
          <p:cNvPr id="153"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600" spc="-1" strike="noStrike">
                <a:solidFill>
                  <a:srgbClr val="2e3440"/>
                </a:solidFill>
                <a:latin typeface="Liter"/>
                <a:ea typeface="Liter"/>
              </a:rPr>
              <a:t>Sum of Absolute Differences (SAD)</a:t>
            </a:r>
            <a:endParaRPr b="0" lang="it-IT" sz="3600" spc="-1" strike="noStrike">
              <a:solidFill>
                <a:srgbClr val="000000"/>
              </a:solidFill>
              <a:latin typeface="Arial"/>
            </a:endParaRPr>
          </a:p>
        </p:txBody>
      </p:sp>
      <p:sp>
        <p:nvSpPr>
          <p:cNvPr id="154" name="Shape 2"/>
          <p:cNvSpPr/>
          <p:nvPr/>
        </p:nvSpPr>
        <p:spPr>
          <a:xfrm>
            <a:off x="398160" y="1295280"/>
            <a:ext cx="5579640" cy="2057040"/>
          </a:xfrm>
          <a:custGeom>
            <a:avLst/>
            <a:gdLst>
              <a:gd name="textAreaLeft" fmla="*/ 0 w 5579640"/>
              <a:gd name="textAreaRight" fmla="*/ 5580000 w 5579640"/>
              <a:gd name="textAreaTop" fmla="*/ 0 h 2057040"/>
              <a:gd name="textAreaBottom" fmla="*/ 2057400 h 2057040"/>
            </a:gdLst>
            <a:ahLst/>
            <a:rect l="textAreaLeft" t="textAreaTop" r="textAreaRight" b="textAreaBottom"/>
            <a:pathLst>
              <a:path w="5579918" h="2057400">
                <a:moveTo>
                  <a:pt x="34636" y="0"/>
                </a:moveTo>
                <a:lnTo>
                  <a:pt x="5503712" y="0"/>
                </a:lnTo>
                <a:cubicBezTo>
                  <a:pt x="5545800" y="0"/>
                  <a:pt x="5579918" y="34119"/>
                  <a:pt x="5579918" y="76206"/>
                </a:cubicBezTo>
                <a:lnTo>
                  <a:pt x="5579918" y="1981194"/>
                </a:lnTo>
                <a:cubicBezTo>
                  <a:pt x="5579918" y="2023281"/>
                  <a:pt x="5545800" y="2057400"/>
                  <a:pt x="5503712" y="2057400"/>
                </a:cubicBezTo>
                <a:lnTo>
                  <a:pt x="34636" y="2057400"/>
                </a:lnTo>
                <a:cubicBezTo>
                  <a:pt x="15507" y="2057400"/>
                  <a:pt x="0" y="2041893"/>
                  <a:pt x="0" y="2022764"/>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55" name="Shape 3"/>
          <p:cNvSpPr/>
          <p:nvPr/>
        </p:nvSpPr>
        <p:spPr>
          <a:xfrm>
            <a:off x="398160" y="1295280"/>
            <a:ext cx="34200" cy="2057040"/>
          </a:xfrm>
          <a:custGeom>
            <a:avLst/>
            <a:gdLst>
              <a:gd name="textAreaLeft" fmla="*/ 0 w 34200"/>
              <a:gd name="textAreaRight" fmla="*/ 34560 w 34200"/>
              <a:gd name="textAreaTop" fmla="*/ 0 h 2057040"/>
              <a:gd name="textAreaBottom" fmla="*/ 2057400 h 2057040"/>
            </a:gdLst>
            <a:ahLst/>
            <a:rect l="textAreaLeft" t="textAreaTop" r="textAreaRight" b="textAreaBottom"/>
            <a:pathLst>
              <a:path w="34636" h="2057400">
                <a:moveTo>
                  <a:pt x="34636" y="0"/>
                </a:moveTo>
                <a:lnTo>
                  <a:pt x="34636" y="0"/>
                </a:lnTo>
                <a:lnTo>
                  <a:pt x="34636" y="2057400"/>
                </a:lnTo>
                <a:lnTo>
                  <a:pt x="34636" y="2057400"/>
                </a:lnTo>
                <a:cubicBezTo>
                  <a:pt x="15507" y="2057400"/>
                  <a:pt x="0" y="2041893"/>
                  <a:pt x="0" y="2022764"/>
                </a:cubicBez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56" name="Text 4"/>
          <p:cNvSpPr/>
          <p:nvPr/>
        </p:nvSpPr>
        <p:spPr>
          <a:xfrm>
            <a:off x="644400" y="1523880"/>
            <a:ext cx="521928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2e3440"/>
                </a:solidFill>
                <a:latin typeface="Liter"/>
                <a:ea typeface="Liter"/>
              </a:rPr>
              <a:t>Idea Generale</a:t>
            </a:r>
            <a:endParaRPr b="0" lang="it-IT" sz="1800" spc="-1" strike="noStrike">
              <a:solidFill>
                <a:srgbClr val="000000"/>
              </a:solidFill>
              <a:latin typeface="Arial"/>
            </a:endParaRPr>
          </a:p>
        </p:txBody>
      </p:sp>
      <p:sp>
        <p:nvSpPr>
          <p:cNvPr id="157" name="Text 5"/>
          <p:cNvSpPr/>
          <p:nvPr/>
        </p:nvSpPr>
        <p:spPr>
          <a:xfrm>
            <a:off x="644400" y="1981080"/>
            <a:ext cx="5181120" cy="49500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200" spc="-1" strike="noStrike">
                <a:solidFill>
                  <a:srgbClr val="2e3440"/>
                </a:solidFill>
                <a:latin typeface="Quattrocento Sans"/>
                <a:ea typeface="Quattrocento Sans"/>
              </a:rPr>
              <a:t>L'algoritmo implementa una </a:t>
            </a:r>
            <a:r>
              <a:rPr b="1" lang="en-US" sz="1200" spc="-1" strike="noStrike">
                <a:solidFill>
                  <a:srgbClr val="2e3440"/>
                </a:solidFill>
                <a:latin typeface="Quattrocento Sans"/>
                <a:ea typeface="Quattrocento Sans"/>
              </a:rPr>
              <a:t>ricerca esaustiva (Brute Force)</a:t>
            </a:r>
            <a:r>
              <a:rPr b="0" lang="en-US" sz="1200" spc="-1" strike="noStrike">
                <a:solidFill>
                  <a:srgbClr val="2e3440"/>
                </a:solidFill>
                <a:latin typeface="Quattrocento Sans"/>
                <a:ea typeface="Quattrocento Sans"/>
              </a:rPr>
              <a:t>, facendo scorrere una finestra temporale (modello) su una serie temporale molto più lunga.</a:t>
            </a:r>
            <a:endParaRPr b="0" lang="it-IT" sz="1200" spc="-1" strike="noStrike">
              <a:solidFill>
                <a:srgbClr val="000000"/>
              </a:solidFill>
              <a:latin typeface="Arial"/>
            </a:endParaRPr>
          </a:p>
        </p:txBody>
      </p:sp>
      <p:sp>
        <p:nvSpPr>
          <p:cNvPr id="158" name="Text 6"/>
          <p:cNvSpPr/>
          <p:nvPr/>
        </p:nvSpPr>
        <p:spPr>
          <a:xfrm>
            <a:off x="644400" y="2629080"/>
            <a:ext cx="5181120" cy="49500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200" spc="-1" strike="noStrike">
                <a:solidFill>
                  <a:srgbClr val="2e3440"/>
                </a:solidFill>
                <a:latin typeface="Quattrocento Sans"/>
                <a:ea typeface="Quattrocento Sans"/>
              </a:rPr>
              <a:t>La somma delle differenze assolute (SAD) è la metrica di similarità: si cerca la posizione dove il pattern ha la distanza minima dalla porzione di serie.</a:t>
            </a:r>
            <a:endParaRPr b="0" lang="it-IT" sz="1200" spc="-1" strike="noStrike">
              <a:solidFill>
                <a:srgbClr val="000000"/>
              </a:solidFill>
              <a:latin typeface="Arial"/>
            </a:endParaRPr>
          </a:p>
        </p:txBody>
      </p:sp>
      <p:sp>
        <p:nvSpPr>
          <p:cNvPr id="159" name="Shape 7"/>
          <p:cNvSpPr/>
          <p:nvPr/>
        </p:nvSpPr>
        <p:spPr>
          <a:xfrm>
            <a:off x="398160" y="3505320"/>
            <a:ext cx="2702880" cy="1104480"/>
          </a:xfrm>
          <a:custGeom>
            <a:avLst/>
            <a:gdLst>
              <a:gd name="textAreaLeft" fmla="*/ 0 w 2702880"/>
              <a:gd name="textAreaRight" fmla="*/ 2703240 w 2702880"/>
              <a:gd name="textAreaTop" fmla="*/ 0 h 1104480"/>
              <a:gd name="textAreaBottom" fmla="*/ 1104840 h 1104480"/>
            </a:gdLst>
            <a:ahLst/>
            <a:rect l="textAreaLeft" t="textAreaTop" r="textAreaRight" b="textAreaBottom"/>
            <a:pathLst>
              <a:path w="2703368" h="1104900">
                <a:moveTo>
                  <a:pt x="34636" y="0"/>
                </a:moveTo>
                <a:lnTo>
                  <a:pt x="2627163" y="0"/>
                </a:lnTo>
                <a:cubicBezTo>
                  <a:pt x="2669250" y="0"/>
                  <a:pt x="2703368" y="34118"/>
                  <a:pt x="2703368" y="76205"/>
                </a:cubicBezTo>
                <a:lnTo>
                  <a:pt x="2703368" y="1028695"/>
                </a:lnTo>
                <a:cubicBezTo>
                  <a:pt x="2703368" y="1070782"/>
                  <a:pt x="2669250" y="1104900"/>
                  <a:pt x="2627163" y="1104900"/>
                </a:cubicBezTo>
                <a:lnTo>
                  <a:pt x="34636" y="1104900"/>
                </a:lnTo>
                <a:cubicBezTo>
                  <a:pt x="15507" y="1104900"/>
                  <a:pt x="0" y="1089393"/>
                  <a:pt x="0" y="1070264"/>
                </a:cubicBezTo>
                <a:lnTo>
                  <a:pt x="0" y="34636"/>
                </a:lnTo>
                <a:cubicBezTo>
                  <a:pt x="0" y="15507"/>
                  <a:pt x="15507" y="0"/>
                  <a:pt x="34636" y="0"/>
                </a:cubicBezTo>
                <a:close/>
              </a:path>
            </a:pathLst>
          </a:custGeom>
          <a:solidFill>
            <a:srgbClr val="5e81ac">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60" name="Shape 8"/>
          <p:cNvSpPr/>
          <p:nvPr/>
        </p:nvSpPr>
        <p:spPr>
          <a:xfrm>
            <a:off x="398160" y="3505320"/>
            <a:ext cx="34200" cy="1104480"/>
          </a:xfrm>
          <a:custGeom>
            <a:avLst/>
            <a:gdLst>
              <a:gd name="textAreaLeft" fmla="*/ 0 w 34200"/>
              <a:gd name="textAreaRight" fmla="*/ 34560 w 34200"/>
              <a:gd name="textAreaTop" fmla="*/ 0 h 1104480"/>
              <a:gd name="textAreaBottom" fmla="*/ 1104840 h 1104480"/>
            </a:gdLst>
            <a:ahLst/>
            <a:rect l="textAreaLeft" t="textAreaTop" r="textAreaRight" b="textAreaBottom"/>
            <a:pathLst>
              <a:path w="34636" h="1104900">
                <a:moveTo>
                  <a:pt x="34636" y="0"/>
                </a:moveTo>
                <a:lnTo>
                  <a:pt x="34636" y="0"/>
                </a:lnTo>
                <a:lnTo>
                  <a:pt x="34636" y="1104900"/>
                </a:lnTo>
                <a:lnTo>
                  <a:pt x="34636" y="1104900"/>
                </a:lnTo>
                <a:cubicBezTo>
                  <a:pt x="15507" y="1104900"/>
                  <a:pt x="0" y="1089393"/>
                  <a:pt x="0" y="1070264"/>
                </a:cubicBez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61" name="Text 9"/>
          <p:cNvSpPr/>
          <p:nvPr/>
        </p:nvSpPr>
        <p:spPr>
          <a:xfrm>
            <a:off x="568080" y="3657600"/>
            <a:ext cx="246672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Liter"/>
                <a:ea typeface="Liter"/>
              </a:rPr>
              <a:t>Input</a:t>
            </a:r>
            <a:endParaRPr b="0" lang="it-IT" sz="1350" spc="-1" strike="noStrike">
              <a:solidFill>
                <a:srgbClr val="000000"/>
              </a:solidFill>
              <a:latin typeface="Arial"/>
            </a:endParaRPr>
          </a:p>
        </p:txBody>
      </p:sp>
      <p:sp>
        <p:nvSpPr>
          <p:cNvPr id="162" name="Text 10"/>
          <p:cNvSpPr/>
          <p:nvPr/>
        </p:nvSpPr>
        <p:spPr>
          <a:xfrm>
            <a:off x="568080" y="4000680"/>
            <a:ext cx="245700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Serie temporale lunga N e pattern di lunghezza M</a:t>
            </a:r>
            <a:endParaRPr b="0" lang="it-IT" sz="1200" spc="-1" strike="noStrike">
              <a:solidFill>
                <a:srgbClr val="000000"/>
              </a:solidFill>
              <a:latin typeface="Arial"/>
            </a:endParaRPr>
          </a:p>
        </p:txBody>
      </p:sp>
      <p:sp>
        <p:nvSpPr>
          <p:cNvPr id="163" name="Shape 11"/>
          <p:cNvSpPr/>
          <p:nvPr/>
        </p:nvSpPr>
        <p:spPr>
          <a:xfrm>
            <a:off x="3274920" y="3505320"/>
            <a:ext cx="2702880" cy="1104480"/>
          </a:xfrm>
          <a:custGeom>
            <a:avLst/>
            <a:gdLst>
              <a:gd name="textAreaLeft" fmla="*/ 0 w 2702880"/>
              <a:gd name="textAreaRight" fmla="*/ 2703240 w 2702880"/>
              <a:gd name="textAreaTop" fmla="*/ 0 h 1104480"/>
              <a:gd name="textAreaBottom" fmla="*/ 1104840 h 1104480"/>
            </a:gdLst>
            <a:ahLst/>
            <a:rect l="textAreaLeft" t="textAreaTop" r="textAreaRight" b="textAreaBottom"/>
            <a:pathLst>
              <a:path w="2703368" h="1104900">
                <a:moveTo>
                  <a:pt x="34636" y="0"/>
                </a:moveTo>
                <a:lnTo>
                  <a:pt x="2627163" y="0"/>
                </a:lnTo>
                <a:cubicBezTo>
                  <a:pt x="2669250" y="0"/>
                  <a:pt x="2703368" y="34118"/>
                  <a:pt x="2703368" y="76205"/>
                </a:cubicBezTo>
                <a:lnTo>
                  <a:pt x="2703368" y="1028695"/>
                </a:lnTo>
                <a:cubicBezTo>
                  <a:pt x="2703368" y="1070782"/>
                  <a:pt x="2669250" y="1104900"/>
                  <a:pt x="2627163" y="1104900"/>
                </a:cubicBezTo>
                <a:lnTo>
                  <a:pt x="34636" y="1104900"/>
                </a:lnTo>
                <a:cubicBezTo>
                  <a:pt x="15507" y="1104900"/>
                  <a:pt x="0" y="1089393"/>
                  <a:pt x="0" y="1070264"/>
                </a:cubicBezTo>
                <a:lnTo>
                  <a:pt x="0" y="34636"/>
                </a:lnTo>
                <a:cubicBezTo>
                  <a:pt x="0" y="15507"/>
                  <a:pt x="15507" y="0"/>
                  <a:pt x="34636"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64" name="Shape 12"/>
          <p:cNvSpPr/>
          <p:nvPr/>
        </p:nvSpPr>
        <p:spPr>
          <a:xfrm>
            <a:off x="3274920" y="3505320"/>
            <a:ext cx="34200" cy="1104480"/>
          </a:xfrm>
          <a:custGeom>
            <a:avLst/>
            <a:gdLst>
              <a:gd name="textAreaLeft" fmla="*/ 0 w 34200"/>
              <a:gd name="textAreaRight" fmla="*/ 34560 w 34200"/>
              <a:gd name="textAreaTop" fmla="*/ 0 h 1104480"/>
              <a:gd name="textAreaBottom" fmla="*/ 1104840 h 1104480"/>
            </a:gdLst>
            <a:ahLst/>
            <a:rect l="textAreaLeft" t="textAreaTop" r="textAreaRight" b="textAreaBottom"/>
            <a:pathLst>
              <a:path w="34636" h="1104900">
                <a:moveTo>
                  <a:pt x="34636" y="0"/>
                </a:moveTo>
                <a:lnTo>
                  <a:pt x="34636" y="0"/>
                </a:lnTo>
                <a:lnTo>
                  <a:pt x="34636" y="1104900"/>
                </a:lnTo>
                <a:lnTo>
                  <a:pt x="34636" y="1104900"/>
                </a:lnTo>
                <a:cubicBezTo>
                  <a:pt x="15507" y="1104900"/>
                  <a:pt x="0" y="1089393"/>
                  <a:pt x="0" y="107026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65" name="Text 13"/>
          <p:cNvSpPr/>
          <p:nvPr/>
        </p:nvSpPr>
        <p:spPr>
          <a:xfrm>
            <a:off x="3444480" y="3657600"/>
            <a:ext cx="246672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Liter"/>
                <a:ea typeface="Liter"/>
              </a:rPr>
              <a:t>Output</a:t>
            </a:r>
            <a:endParaRPr b="0" lang="it-IT" sz="1350" spc="-1" strike="noStrike">
              <a:solidFill>
                <a:srgbClr val="000000"/>
              </a:solidFill>
              <a:latin typeface="Arial"/>
            </a:endParaRPr>
          </a:p>
        </p:txBody>
      </p:sp>
      <p:sp>
        <p:nvSpPr>
          <p:cNvPr id="166" name="Text 14"/>
          <p:cNvSpPr/>
          <p:nvPr/>
        </p:nvSpPr>
        <p:spPr>
          <a:xfrm>
            <a:off x="3444480" y="4000680"/>
            <a:ext cx="245700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Indice con SAD minimo (miglior match)</a:t>
            </a:r>
            <a:endParaRPr b="0" lang="it-IT" sz="1200" spc="-1" strike="noStrike">
              <a:solidFill>
                <a:srgbClr val="000000"/>
              </a:solidFill>
              <a:latin typeface="Arial"/>
            </a:endParaRPr>
          </a:p>
        </p:txBody>
      </p:sp>
      <p:sp>
        <p:nvSpPr>
          <p:cNvPr id="167" name="Shape 15"/>
          <p:cNvSpPr/>
          <p:nvPr/>
        </p:nvSpPr>
        <p:spPr>
          <a:xfrm>
            <a:off x="6210360" y="1295280"/>
            <a:ext cx="5600520" cy="3314520"/>
          </a:xfrm>
          <a:custGeom>
            <a:avLst/>
            <a:gdLst>
              <a:gd name="textAreaLeft" fmla="*/ 0 w 5600520"/>
              <a:gd name="textAreaRight" fmla="*/ 5600880 w 5600520"/>
              <a:gd name="textAreaTop" fmla="*/ 0 h 3314520"/>
              <a:gd name="textAreaBottom" fmla="*/ 3314880 h 3314520"/>
            </a:gdLst>
            <a:ahLst/>
            <a:rect l="textAreaLeft" t="textAreaTop" r="textAreaRight" b="textAreaBottom"/>
            <a:pathLst>
              <a:path w="5600700" h="3314700">
                <a:moveTo>
                  <a:pt x="76205" y="0"/>
                </a:moveTo>
                <a:lnTo>
                  <a:pt x="5524495" y="0"/>
                </a:lnTo>
                <a:cubicBezTo>
                  <a:pt x="5566582" y="0"/>
                  <a:pt x="5600700" y="34118"/>
                  <a:pt x="5600700" y="76205"/>
                </a:cubicBezTo>
                <a:lnTo>
                  <a:pt x="5600700" y="3238495"/>
                </a:lnTo>
                <a:cubicBezTo>
                  <a:pt x="5600700" y="3280582"/>
                  <a:pt x="5566582" y="3314700"/>
                  <a:pt x="5524495" y="3314700"/>
                </a:cubicBezTo>
                <a:lnTo>
                  <a:pt x="76205" y="3314700"/>
                </a:lnTo>
                <a:cubicBezTo>
                  <a:pt x="34118" y="3314700"/>
                  <a:pt x="0" y="3280582"/>
                  <a:pt x="0" y="3238495"/>
                </a:cubicBezTo>
                <a:lnTo>
                  <a:pt x="0" y="76205"/>
                </a:lnTo>
                <a:cubicBezTo>
                  <a:pt x="0" y="34146"/>
                  <a:pt x="34146" y="0"/>
                  <a:pt x="76205" y="0"/>
                </a:cubicBezTo>
                <a:close/>
              </a:path>
            </a:pathLst>
          </a:custGeom>
          <a:gradFill rotWithShape="0">
            <a:gsLst>
              <a:gs pos="0">
                <a:srgbClr val="2e344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68" name="Text 16"/>
          <p:cNvSpPr/>
          <p:nvPr/>
        </p:nvSpPr>
        <p:spPr>
          <a:xfrm>
            <a:off x="6438960" y="1523880"/>
            <a:ext cx="525744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ffffff"/>
                </a:solidFill>
                <a:latin typeface="Liter"/>
                <a:ea typeface="Liter"/>
              </a:rPr>
              <a:t>Formula SAD</a:t>
            </a:r>
            <a:endParaRPr b="0" lang="it-IT" sz="1800" spc="-1" strike="noStrike">
              <a:solidFill>
                <a:srgbClr val="000000"/>
              </a:solidFill>
              <a:latin typeface="Arial"/>
            </a:endParaRPr>
          </a:p>
        </p:txBody>
      </p:sp>
      <p:sp>
        <p:nvSpPr>
          <p:cNvPr id="169" name="Shape 17"/>
          <p:cNvSpPr/>
          <p:nvPr/>
        </p:nvSpPr>
        <p:spPr>
          <a:xfrm>
            <a:off x="6438960" y="1981080"/>
            <a:ext cx="5143320" cy="1104480"/>
          </a:xfrm>
          <a:custGeom>
            <a:avLst/>
            <a:gdLst>
              <a:gd name="textAreaLeft" fmla="*/ 0 w 5143320"/>
              <a:gd name="textAreaRight" fmla="*/ 5143680 w 5143320"/>
              <a:gd name="textAreaTop" fmla="*/ 0 h 1104480"/>
              <a:gd name="textAreaBottom" fmla="*/ 1104840 h 1104480"/>
            </a:gdLst>
            <a:ahLst/>
            <a:rect l="textAreaLeft" t="textAreaTop" r="textAreaRight" b="textAreaBottom"/>
            <a:pathLst>
              <a:path w="5143500" h="1104900">
                <a:moveTo>
                  <a:pt x="76205" y="0"/>
                </a:moveTo>
                <a:lnTo>
                  <a:pt x="5067295" y="0"/>
                </a:lnTo>
                <a:cubicBezTo>
                  <a:pt x="5109382" y="0"/>
                  <a:pt x="5143500" y="34118"/>
                  <a:pt x="5143500" y="76205"/>
                </a:cubicBezTo>
                <a:lnTo>
                  <a:pt x="5143500" y="1028695"/>
                </a:lnTo>
                <a:cubicBezTo>
                  <a:pt x="5143500" y="1070782"/>
                  <a:pt x="5109382" y="1104900"/>
                  <a:pt x="5067295" y="1104900"/>
                </a:cubicBezTo>
                <a:lnTo>
                  <a:pt x="76205" y="1104900"/>
                </a:lnTo>
                <a:cubicBezTo>
                  <a:pt x="34118" y="1104900"/>
                  <a:pt x="0" y="1070782"/>
                  <a:pt x="0" y="1028695"/>
                </a:cubicBezTo>
                <a:lnTo>
                  <a:pt x="0" y="76205"/>
                </a:lnTo>
                <a:cubicBezTo>
                  <a:pt x="0" y="34146"/>
                  <a:pt x="34146" y="0"/>
                  <a:pt x="76205"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70" name="Text 18"/>
          <p:cNvSpPr/>
          <p:nvPr/>
        </p:nvSpPr>
        <p:spPr>
          <a:xfrm>
            <a:off x="6624720" y="2209680"/>
            <a:ext cx="4771800" cy="26640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350" spc="-1" strike="noStrike">
                <a:solidFill>
                  <a:srgbClr val="ffffff"/>
                </a:solidFill>
                <a:latin typeface="MiSans"/>
                <a:ea typeface="MiSans"/>
              </a:rPr>
              <a:t>SAD(i) = Σ|S[i+j] - P[j]|</a:t>
            </a:r>
            <a:endParaRPr b="0" lang="it-IT" sz="1350" spc="-1" strike="noStrike">
              <a:solidFill>
                <a:srgbClr val="000000"/>
              </a:solidFill>
              <a:latin typeface="Arial"/>
            </a:endParaRPr>
          </a:p>
        </p:txBody>
      </p:sp>
      <p:sp>
        <p:nvSpPr>
          <p:cNvPr id="171" name="Text 19"/>
          <p:cNvSpPr/>
          <p:nvPr/>
        </p:nvSpPr>
        <p:spPr>
          <a:xfrm>
            <a:off x="6629400" y="2629080"/>
            <a:ext cx="476208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ffffff"/>
                </a:solidFill>
                <a:latin typeface="Quattrocento Sans"/>
                <a:ea typeface="Quattrocento Sans"/>
              </a:rPr>
              <a:t>per j da 0 a M-1</a:t>
            </a:r>
            <a:endParaRPr b="0" lang="it-IT" sz="1200" spc="-1" strike="noStrike">
              <a:solidFill>
                <a:srgbClr val="000000"/>
              </a:solidFill>
              <a:latin typeface="Arial"/>
            </a:endParaRPr>
          </a:p>
        </p:txBody>
      </p:sp>
      <p:sp>
        <p:nvSpPr>
          <p:cNvPr id="172" name="Shape 20"/>
          <p:cNvSpPr/>
          <p:nvPr/>
        </p:nvSpPr>
        <p:spPr>
          <a:xfrm>
            <a:off x="6438960" y="323856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73" name="Text 21"/>
          <p:cNvSpPr/>
          <p:nvPr/>
        </p:nvSpPr>
        <p:spPr>
          <a:xfrm>
            <a:off x="6576120" y="3295800"/>
            <a:ext cx="95040" cy="19008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050" spc="-1" strike="noStrike">
                <a:solidFill>
                  <a:srgbClr val="ffffff"/>
                </a:solidFill>
                <a:latin typeface="Quattrocento Sans"/>
                <a:ea typeface="Quattrocento Sans"/>
              </a:rPr>
              <a:t>i</a:t>
            </a:r>
            <a:endParaRPr b="0" lang="it-IT" sz="1050" spc="-1" strike="noStrike">
              <a:solidFill>
                <a:srgbClr val="000000"/>
              </a:solidFill>
              <a:latin typeface="Arial"/>
            </a:endParaRPr>
          </a:p>
        </p:txBody>
      </p:sp>
      <p:sp>
        <p:nvSpPr>
          <p:cNvPr id="174" name="Text 22"/>
          <p:cNvSpPr/>
          <p:nvPr/>
        </p:nvSpPr>
        <p:spPr>
          <a:xfrm>
            <a:off x="6858000" y="3238560"/>
            <a:ext cx="268200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Posizione iniziale nella serie</a:t>
            </a:r>
            <a:endParaRPr b="0" lang="it-IT" sz="1200" spc="-1" strike="noStrike">
              <a:solidFill>
                <a:srgbClr val="000000"/>
              </a:solidFill>
              <a:latin typeface="Arial"/>
            </a:endParaRPr>
          </a:p>
        </p:txBody>
      </p:sp>
      <p:sp>
        <p:nvSpPr>
          <p:cNvPr id="175" name="Shape 23"/>
          <p:cNvSpPr/>
          <p:nvPr/>
        </p:nvSpPr>
        <p:spPr>
          <a:xfrm>
            <a:off x="6438960" y="365760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76" name="Text 24"/>
          <p:cNvSpPr/>
          <p:nvPr/>
        </p:nvSpPr>
        <p:spPr>
          <a:xfrm>
            <a:off x="6535080" y="3714840"/>
            <a:ext cx="180720" cy="19008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050" spc="-1" strike="noStrike">
                <a:solidFill>
                  <a:srgbClr val="ffffff"/>
                </a:solidFill>
                <a:latin typeface="Quattrocento Sans"/>
                <a:ea typeface="Quattrocento Sans"/>
              </a:rPr>
              <a:t>M</a:t>
            </a:r>
            <a:endParaRPr b="0" lang="it-IT" sz="1050" spc="-1" strike="noStrike">
              <a:solidFill>
                <a:srgbClr val="000000"/>
              </a:solidFill>
              <a:latin typeface="Arial"/>
            </a:endParaRPr>
          </a:p>
        </p:txBody>
      </p:sp>
      <p:sp>
        <p:nvSpPr>
          <p:cNvPr id="177" name="Text 25"/>
          <p:cNvSpPr/>
          <p:nvPr/>
        </p:nvSpPr>
        <p:spPr>
          <a:xfrm rot="43200">
            <a:off x="6856200" y="3666960"/>
            <a:ext cx="15141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Lunghezza del pattern</a:t>
            </a:r>
            <a:endParaRPr b="0" lang="it-IT" sz="1200" spc="-1" strike="noStrike">
              <a:solidFill>
                <a:srgbClr val="000000"/>
              </a:solidFill>
              <a:latin typeface="Arial"/>
            </a:endParaRPr>
          </a:p>
        </p:txBody>
      </p:sp>
      <p:sp>
        <p:nvSpPr>
          <p:cNvPr id="178" name="Shape 26"/>
          <p:cNvSpPr/>
          <p:nvPr/>
        </p:nvSpPr>
        <p:spPr>
          <a:xfrm>
            <a:off x="6438960" y="4076640"/>
            <a:ext cx="323640" cy="304560"/>
          </a:xfrm>
          <a:custGeom>
            <a:avLst/>
            <a:gdLst>
              <a:gd name="textAreaLeft" fmla="*/ 0 w 323640"/>
              <a:gd name="textAreaRight" fmla="*/ 324000 w 323640"/>
              <a:gd name="textAreaTop" fmla="*/ 0 h 304560"/>
              <a:gd name="textAreaBottom" fmla="*/ 304920 h 304560"/>
            </a:gdLst>
            <a:ahLst/>
            <a:rect l="textAreaLeft" t="textAreaTop" r="textAreaRight" b="textAreaBottom"/>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79" name="Text 27"/>
          <p:cNvSpPr/>
          <p:nvPr/>
        </p:nvSpPr>
        <p:spPr>
          <a:xfrm>
            <a:off x="6438960" y="4133880"/>
            <a:ext cx="552240" cy="19008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050" spc="-1" strike="noStrike">
                <a:solidFill>
                  <a:srgbClr val="ffffff"/>
                </a:solidFill>
                <a:latin typeface="Quattrocento Sans"/>
                <a:ea typeface="Quattrocento Sans"/>
              </a:rPr>
              <a:t>S, P</a:t>
            </a:r>
            <a:endParaRPr b="0" lang="it-IT" sz="1050" spc="-1" strike="noStrike">
              <a:solidFill>
                <a:srgbClr val="000000"/>
              </a:solidFill>
              <a:latin typeface="Arial"/>
            </a:endParaRPr>
          </a:p>
        </p:txBody>
      </p:sp>
      <p:sp>
        <p:nvSpPr>
          <p:cNvPr id="180" name="Text 28"/>
          <p:cNvSpPr/>
          <p:nvPr/>
        </p:nvSpPr>
        <p:spPr>
          <a:xfrm>
            <a:off x="6858000" y="4076640"/>
            <a:ext cx="178200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Serie e Pattern</a:t>
            </a:r>
            <a:endParaRPr b="0" lang="it-IT" sz="1200" spc="-1" strike="noStrike">
              <a:solidFill>
                <a:srgbClr val="000000"/>
              </a:solidFill>
              <a:latin typeface="Arial"/>
            </a:endParaRPr>
          </a:p>
        </p:txBody>
      </p:sp>
      <p:sp>
        <p:nvSpPr>
          <p:cNvPr id="181" name="Shape 29"/>
          <p:cNvSpPr/>
          <p:nvPr/>
        </p:nvSpPr>
        <p:spPr>
          <a:xfrm>
            <a:off x="380880" y="4762440"/>
            <a:ext cx="11429640" cy="1523520"/>
          </a:xfrm>
          <a:custGeom>
            <a:avLst/>
            <a:gdLst>
              <a:gd name="textAreaLeft" fmla="*/ 0 w 11429640"/>
              <a:gd name="textAreaRight" fmla="*/ 11430000 w 11429640"/>
              <a:gd name="textAreaTop" fmla="*/ 0 h 1523520"/>
              <a:gd name="textAreaBottom" fmla="*/ 1523880 h 1523520"/>
            </a:gdLst>
            <a:ahLst/>
            <a:rect l="textAreaLeft" t="textAreaTop" r="textAreaRight" b="textAreaBottom"/>
            <a:pathLst>
              <a:path w="11430000" h="1524000">
                <a:moveTo>
                  <a:pt x="76200" y="0"/>
                </a:moveTo>
                <a:lnTo>
                  <a:pt x="11353800" y="0"/>
                </a:lnTo>
                <a:cubicBezTo>
                  <a:pt x="11395856" y="0"/>
                  <a:pt x="11430000" y="34144"/>
                  <a:pt x="11430000" y="76200"/>
                </a:cubicBezTo>
                <a:lnTo>
                  <a:pt x="11430000" y="1447800"/>
                </a:lnTo>
                <a:cubicBezTo>
                  <a:pt x="11430000" y="1489856"/>
                  <a:pt x="11395856" y="1524000"/>
                  <a:pt x="11353800" y="1524000"/>
                </a:cubicBezTo>
                <a:lnTo>
                  <a:pt x="76200" y="1524000"/>
                </a:lnTo>
                <a:cubicBezTo>
                  <a:pt x="34144" y="1524000"/>
                  <a:pt x="0" y="1489856"/>
                  <a:pt x="0" y="1447800"/>
                </a:cubicBezTo>
                <a:lnTo>
                  <a:pt x="0" y="76200"/>
                </a:lnTo>
                <a:cubicBezTo>
                  <a:pt x="0" y="34144"/>
                  <a:pt x="34144" y="0"/>
                  <a:pt x="76200"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82" name="Text 30"/>
          <p:cNvSpPr/>
          <p:nvPr/>
        </p:nvSpPr>
        <p:spPr>
          <a:xfrm>
            <a:off x="571680" y="4952880"/>
            <a:ext cx="1116288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2e3440"/>
                </a:solidFill>
                <a:latin typeface="Liter"/>
                <a:ea typeface="Liter"/>
              </a:rPr>
              <a:t>Complessità Computazionale</a:t>
            </a:r>
            <a:endParaRPr b="0" lang="it-IT" sz="1800" spc="-1" strike="noStrike">
              <a:solidFill>
                <a:srgbClr val="000000"/>
              </a:solidFill>
              <a:latin typeface="Arial"/>
            </a:endParaRPr>
          </a:p>
        </p:txBody>
      </p:sp>
      <p:sp>
        <p:nvSpPr>
          <p:cNvPr id="183" name="Text 31"/>
          <p:cNvSpPr/>
          <p:nvPr/>
        </p:nvSpPr>
        <p:spPr>
          <a:xfrm>
            <a:off x="485640" y="5410080"/>
            <a:ext cx="3723840" cy="380520"/>
          </a:xfrm>
          <a:prstGeom prst="rect">
            <a:avLst/>
          </a:prstGeom>
          <a:noFill/>
          <a:ln w="0">
            <a:noFill/>
          </a:ln>
        </p:spPr>
        <p:style>
          <a:lnRef idx="0"/>
          <a:fillRef idx="0"/>
          <a:effectRef idx="0"/>
          <a:fontRef idx="minor"/>
        </p:style>
        <p:txBody>
          <a:bodyPr lIns="0" rIns="0" tIns="0" bIns="0" anchor="ctr">
            <a:noAutofit/>
          </a:bodyPr>
          <a:p>
            <a:pPr algn="ctr">
              <a:lnSpc>
                <a:spcPct val="90000"/>
              </a:lnSpc>
            </a:pPr>
            <a:r>
              <a:rPr b="1" lang="en-US" sz="2700" spc="-1" strike="noStrike">
                <a:solidFill>
                  <a:srgbClr val="5e81ac"/>
                </a:solidFill>
                <a:latin typeface="Quattrocento Sans"/>
                <a:ea typeface="Quattrocento Sans"/>
              </a:rPr>
              <a:t>O(N·M)</a:t>
            </a:r>
            <a:endParaRPr b="0" lang="it-IT" sz="2700" spc="-1" strike="noStrike">
              <a:solidFill>
                <a:srgbClr val="000000"/>
              </a:solidFill>
              <a:latin typeface="Arial"/>
            </a:endParaRPr>
          </a:p>
        </p:txBody>
      </p:sp>
      <p:sp>
        <p:nvSpPr>
          <p:cNvPr id="184" name="Text 32"/>
          <p:cNvSpPr/>
          <p:nvPr/>
        </p:nvSpPr>
        <p:spPr>
          <a:xfrm>
            <a:off x="533520" y="5867280"/>
            <a:ext cx="362880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2e3440"/>
                </a:solidFill>
                <a:latin typeface="Quattrocento Sans"/>
                <a:ea typeface="Quattrocento Sans"/>
              </a:rPr>
              <a:t>Complessità temporale</a:t>
            </a:r>
            <a:endParaRPr b="0" lang="it-IT" sz="1200" spc="-1" strike="noStrike">
              <a:solidFill>
                <a:srgbClr val="000000"/>
              </a:solidFill>
              <a:latin typeface="Arial"/>
            </a:endParaRPr>
          </a:p>
        </p:txBody>
      </p:sp>
      <p:sp>
        <p:nvSpPr>
          <p:cNvPr id="185" name="Text 33"/>
          <p:cNvSpPr/>
          <p:nvPr/>
        </p:nvSpPr>
        <p:spPr>
          <a:xfrm>
            <a:off x="4232160" y="5410080"/>
            <a:ext cx="3723840" cy="380520"/>
          </a:xfrm>
          <a:prstGeom prst="rect">
            <a:avLst/>
          </a:prstGeom>
          <a:noFill/>
          <a:ln w="0">
            <a:noFill/>
          </a:ln>
        </p:spPr>
        <p:style>
          <a:lnRef idx="0"/>
          <a:fillRef idx="0"/>
          <a:effectRef idx="0"/>
          <a:fontRef idx="minor"/>
        </p:style>
        <p:txBody>
          <a:bodyPr lIns="0" rIns="0" tIns="0" bIns="0" anchor="ctr">
            <a:noAutofit/>
          </a:bodyPr>
          <a:p>
            <a:pPr algn="ctr">
              <a:lnSpc>
                <a:spcPct val="90000"/>
              </a:lnSpc>
            </a:pPr>
            <a:r>
              <a:rPr b="1" lang="en-US" sz="2700" spc="-1" strike="noStrike">
                <a:solidFill>
                  <a:srgbClr val="88c0d0"/>
                </a:solidFill>
                <a:latin typeface="Quattrocento Sans"/>
                <a:ea typeface="Quattrocento Sans"/>
              </a:rPr>
              <a:t>N-M+1</a:t>
            </a:r>
            <a:endParaRPr b="0" lang="it-IT" sz="2700" spc="-1" strike="noStrike">
              <a:solidFill>
                <a:srgbClr val="000000"/>
              </a:solidFill>
              <a:latin typeface="Arial"/>
            </a:endParaRPr>
          </a:p>
        </p:txBody>
      </p:sp>
      <p:sp>
        <p:nvSpPr>
          <p:cNvPr id="186" name="Text 34"/>
          <p:cNvSpPr/>
          <p:nvPr/>
        </p:nvSpPr>
        <p:spPr>
          <a:xfrm>
            <a:off x="4280040" y="5867280"/>
            <a:ext cx="362880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2e3440"/>
                </a:solidFill>
                <a:latin typeface="Quattrocento Sans"/>
                <a:ea typeface="Quattrocento Sans"/>
              </a:rPr>
              <a:t>Posizioni da testare</a:t>
            </a:r>
            <a:endParaRPr b="0" lang="it-IT" sz="1200" spc="-1" strike="noStrike">
              <a:solidFill>
                <a:srgbClr val="000000"/>
              </a:solidFill>
              <a:latin typeface="Arial"/>
            </a:endParaRPr>
          </a:p>
        </p:txBody>
      </p:sp>
      <p:sp>
        <p:nvSpPr>
          <p:cNvPr id="187" name="Text 35"/>
          <p:cNvSpPr/>
          <p:nvPr/>
        </p:nvSpPr>
        <p:spPr>
          <a:xfrm>
            <a:off x="7978680" y="5410080"/>
            <a:ext cx="3723840" cy="380520"/>
          </a:xfrm>
          <a:prstGeom prst="rect">
            <a:avLst/>
          </a:prstGeom>
          <a:noFill/>
          <a:ln w="0">
            <a:noFill/>
          </a:ln>
        </p:spPr>
        <p:style>
          <a:lnRef idx="0"/>
          <a:fillRef idx="0"/>
          <a:effectRef idx="0"/>
          <a:fontRef idx="minor"/>
        </p:style>
        <p:txBody>
          <a:bodyPr lIns="0" rIns="0" tIns="0" bIns="0" anchor="ctr">
            <a:noAutofit/>
          </a:bodyPr>
          <a:p>
            <a:pPr algn="ctr">
              <a:lnSpc>
                <a:spcPct val="90000"/>
              </a:lnSpc>
            </a:pPr>
            <a:r>
              <a:rPr b="1" lang="en-US" sz="2700" spc="-1" strike="noStrike">
                <a:solidFill>
                  <a:srgbClr val="5e81ac"/>
                </a:solidFill>
                <a:latin typeface="Quattrocento Sans"/>
                <a:ea typeface="Quattrocento Sans"/>
              </a:rPr>
              <a:t>M</a:t>
            </a:r>
            <a:endParaRPr b="0" lang="it-IT" sz="2700" spc="-1" strike="noStrike">
              <a:solidFill>
                <a:srgbClr val="000000"/>
              </a:solidFill>
              <a:latin typeface="Arial"/>
            </a:endParaRPr>
          </a:p>
        </p:txBody>
      </p:sp>
      <p:sp>
        <p:nvSpPr>
          <p:cNvPr id="188" name="Text 36"/>
          <p:cNvSpPr/>
          <p:nvPr/>
        </p:nvSpPr>
        <p:spPr>
          <a:xfrm>
            <a:off x="8026200" y="5867280"/>
            <a:ext cx="362880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2e3440"/>
                </a:solidFill>
                <a:latin typeface="Quattrocento Sans"/>
                <a:ea typeface="Quattrocento Sans"/>
              </a:rPr>
              <a:t>Operazioni per posizione</a:t>
            </a:r>
            <a:endParaRPr b="0" lang="it-IT" sz="1200" spc="-1" strike="noStrike">
              <a:solidFill>
                <a:srgbClr val="000000"/>
              </a:solidFill>
              <a:latin typeface="Arial"/>
            </a:endParaRPr>
          </a:p>
        </p:txBody>
      </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189" name="Text 0"/>
          <p:cNvSpPr/>
          <p:nvPr/>
        </p:nvSpPr>
        <p:spPr>
          <a:xfrm>
            <a:off x="361080" y="361080"/>
            <a:ext cx="1154196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11" strike="noStrike">
                <a:solidFill>
                  <a:srgbClr val="5e81ac"/>
                </a:solidFill>
                <a:latin typeface="Quattrocento Sans"/>
                <a:ea typeface="Quattrocento Sans"/>
              </a:rPr>
              <a:t>Implementazione</a:t>
            </a:r>
            <a:endParaRPr b="0" lang="it-IT" sz="1130" spc="-1" strike="noStrike">
              <a:solidFill>
                <a:srgbClr val="000000"/>
              </a:solidFill>
              <a:latin typeface="Arial"/>
            </a:endParaRPr>
          </a:p>
        </p:txBody>
      </p:sp>
      <p:sp>
        <p:nvSpPr>
          <p:cNvPr id="190" name="Text 1"/>
          <p:cNvSpPr/>
          <p:nvPr/>
        </p:nvSpPr>
        <p:spPr>
          <a:xfrm>
            <a:off x="361080" y="649800"/>
            <a:ext cx="11686320" cy="43272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409" spc="-1" strike="noStrike">
                <a:solidFill>
                  <a:srgbClr val="2e3440"/>
                </a:solidFill>
                <a:latin typeface="Liter"/>
                <a:ea typeface="Liter"/>
              </a:rPr>
              <a:t>Ottimizzazione Parallela</a:t>
            </a:r>
            <a:endParaRPr b="0" lang="it-IT" sz="3409" spc="-1" strike="noStrike">
              <a:solidFill>
                <a:srgbClr val="000000"/>
              </a:solidFill>
              <a:latin typeface="Arial"/>
            </a:endParaRPr>
          </a:p>
        </p:txBody>
      </p:sp>
      <p:sp>
        <p:nvSpPr>
          <p:cNvPr id="191" name="Shape 2"/>
          <p:cNvSpPr/>
          <p:nvPr/>
        </p:nvSpPr>
        <p:spPr>
          <a:xfrm>
            <a:off x="361080" y="1243800"/>
            <a:ext cx="3726720" cy="3409200"/>
          </a:xfrm>
          <a:custGeom>
            <a:avLst/>
            <a:gdLst>
              <a:gd name="textAreaLeft" fmla="*/ 0 w 3726720"/>
              <a:gd name="textAreaRight" fmla="*/ 3727080 w 3726720"/>
              <a:gd name="textAreaTop" fmla="*/ 0 h 3409200"/>
              <a:gd name="textAreaBottom" fmla="*/ 3409560 h 3409200"/>
            </a:gdLst>
            <a:ahLst/>
            <a:rect l="textAreaLeft" t="textAreaTop" r="textAreaRight" b="textAreaBottom"/>
            <a:pathLst>
              <a:path w="3727088" h="3409592">
                <a:moveTo>
                  <a:pt x="32816" y="0"/>
                </a:moveTo>
                <a:lnTo>
                  <a:pt x="3694272" y="0"/>
                </a:lnTo>
                <a:cubicBezTo>
                  <a:pt x="3712396" y="0"/>
                  <a:pt x="3727088" y="14692"/>
                  <a:pt x="3727088" y="32816"/>
                </a:cubicBezTo>
                <a:lnTo>
                  <a:pt x="3727088" y="3337411"/>
                </a:lnTo>
                <a:cubicBezTo>
                  <a:pt x="3727088" y="3377249"/>
                  <a:pt x="3694745" y="3409592"/>
                  <a:pt x="3654907" y="3409592"/>
                </a:cubicBezTo>
                <a:lnTo>
                  <a:pt x="72181" y="3409592"/>
                </a:lnTo>
                <a:cubicBezTo>
                  <a:pt x="32343" y="3409592"/>
                  <a:pt x="0" y="3377249"/>
                  <a:pt x="0" y="3337411"/>
                </a:cubicBezTo>
                <a:lnTo>
                  <a:pt x="0" y="32816"/>
                </a:lnTo>
                <a:cubicBezTo>
                  <a:pt x="0" y="14692"/>
                  <a:pt x="14692" y="0"/>
                  <a:pt x="32816" y="0"/>
                </a:cubicBezTo>
                <a:close/>
              </a:path>
            </a:pathLst>
          </a:custGeom>
          <a:solidFill>
            <a:srgbClr val="ffffff"/>
          </a:solidFill>
          <a:ln w="0">
            <a:noFill/>
          </a:ln>
          <a:effectLst>
            <a:outerShdw algn="bl" blurRad="54000" dir="5400000" dist="3600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92" name="Shape 3"/>
          <p:cNvSpPr/>
          <p:nvPr/>
        </p:nvSpPr>
        <p:spPr>
          <a:xfrm>
            <a:off x="361080" y="1243800"/>
            <a:ext cx="3726720" cy="32400"/>
          </a:xfrm>
          <a:custGeom>
            <a:avLst/>
            <a:gdLst>
              <a:gd name="textAreaLeft" fmla="*/ 0 w 3726720"/>
              <a:gd name="textAreaRight" fmla="*/ 3727080 w 3726720"/>
              <a:gd name="textAreaTop" fmla="*/ 0 h 32400"/>
              <a:gd name="textAreaBottom" fmla="*/ 32760 h 32400"/>
            </a:gdLst>
            <a:ahLst/>
            <a:rect l="textAreaLeft" t="textAreaTop" r="textAreaRight" b="textAreaBottom"/>
            <a:pathLst>
              <a:path w="3727088" h="32816">
                <a:moveTo>
                  <a:pt x="32816" y="0"/>
                </a:moveTo>
                <a:lnTo>
                  <a:pt x="3694272" y="0"/>
                </a:lnTo>
                <a:cubicBezTo>
                  <a:pt x="3712396" y="0"/>
                  <a:pt x="3727088" y="14692"/>
                  <a:pt x="3727088" y="32816"/>
                </a:cubicBezTo>
                <a:lnTo>
                  <a:pt x="3727088" y="32816"/>
                </a:lnTo>
                <a:lnTo>
                  <a:pt x="0" y="32816"/>
                </a:lnTo>
                <a:lnTo>
                  <a:pt x="0" y="32816"/>
                </a:lnTo>
                <a:cubicBezTo>
                  <a:pt x="0" y="14704"/>
                  <a:pt x="14704" y="0"/>
                  <a:pt x="32816" y="0"/>
                </a:cubicBezTo>
                <a:close/>
              </a:path>
            </a:pathLst>
          </a:custGeom>
          <a:solidFill>
            <a:srgbClr val="5e81ac"/>
          </a:solidFill>
          <a:ln w="0">
            <a:noFill/>
          </a:ln>
        </p:spPr>
        <p:style>
          <a:lnRef idx="0"/>
          <a:fillRef idx="0"/>
          <a:effectRef idx="0"/>
          <a:fontRef idx="minor"/>
        </p:style>
        <p:txBody>
          <a:bodyPr lIns="90000" rIns="90000" tIns="-12240" bIns="-12240" anchor="t">
            <a:noAutofit/>
          </a:bodyPr>
          <a:p>
            <a:endParaRPr b="0" lang="it-IT" sz="1800" spc="-1" strike="noStrike">
              <a:solidFill>
                <a:srgbClr val="000000"/>
              </a:solidFill>
              <a:latin typeface="Arial"/>
            </a:endParaRPr>
          </a:p>
        </p:txBody>
      </p:sp>
      <p:sp>
        <p:nvSpPr>
          <p:cNvPr id="193" name="Shape 4"/>
          <p:cNvSpPr/>
          <p:nvPr/>
        </p:nvSpPr>
        <p:spPr>
          <a:xfrm>
            <a:off x="361080" y="1260000"/>
            <a:ext cx="3726720" cy="793800"/>
          </a:xfrm>
          <a:custGeom>
            <a:avLst/>
            <a:gdLst>
              <a:gd name="textAreaLeft" fmla="*/ 0 w 3726720"/>
              <a:gd name="textAreaRight" fmla="*/ 3727080 w 3726720"/>
              <a:gd name="textAreaTop" fmla="*/ 0 h 793800"/>
              <a:gd name="textAreaBottom" fmla="*/ 794160 h 793800"/>
            </a:gdLst>
            <a:ahLst/>
            <a:rect l="textAreaLeft" t="textAreaTop" r="textAreaRight" b="textAreaBottom"/>
            <a:pathLst>
              <a:path w="3727088" h="794150">
                <a:moveTo>
                  <a:pt x="0" y="0"/>
                </a:moveTo>
                <a:lnTo>
                  <a:pt x="3727088" y="0"/>
                </a:lnTo>
                <a:lnTo>
                  <a:pt x="3727088" y="794150"/>
                </a:lnTo>
                <a:lnTo>
                  <a:pt x="0" y="794150"/>
                </a:lnTo>
                <a:lnTo>
                  <a:pt x="0" y="0"/>
                </a:lnTo>
                <a:close/>
              </a:path>
            </a:pathLst>
          </a:custGeom>
          <a:gradFill rotWithShape="0">
            <a:gsLst>
              <a:gs pos="0">
                <a:srgbClr val="5e81ac"/>
              </a:gs>
              <a:gs pos="100000">
                <a:srgbClr val="88c0d0"/>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94" name="Shape 5"/>
          <p:cNvSpPr/>
          <p:nvPr/>
        </p:nvSpPr>
        <p:spPr>
          <a:xfrm>
            <a:off x="505440" y="1440720"/>
            <a:ext cx="432720" cy="432720"/>
          </a:xfrm>
          <a:custGeom>
            <a:avLst/>
            <a:gdLst>
              <a:gd name="textAreaLeft" fmla="*/ 0 w 432720"/>
              <a:gd name="textAreaRight" fmla="*/ 433080 w 432720"/>
              <a:gd name="textAreaTop" fmla="*/ 0 h 432720"/>
              <a:gd name="textAreaBottom" fmla="*/ 433080 h 432720"/>
            </a:gdLst>
            <a:ahLst/>
            <a:rect l="textAreaLeft" t="textAreaTop" r="textAreaRight" b="textAreaBottom"/>
            <a:pathLst>
              <a:path w="433172" h="433172">
                <a:moveTo>
                  <a:pt x="216586" y="0"/>
                </a:moveTo>
                <a:lnTo>
                  <a:pt x="216586" y="0"/>
                </a:lnTo>
                <a:cubicBezTo>
                  <a:pt x="336204" y="0"/>
                  <a:pt x="433172" y="96969"/>
                  <a:pt x="433172" y="216586"/>
                </a:cubicBezTo>
                <a:lnTo>
                  <a:pt x="433172" y="216586"/>
                </a:lnTo>
                <a:cubicBezTo>
                  <a:pt x="433172" y="336204"/>
                  <a:pt x="336204" y="433172"/>
                  <a:pt x="216586" y="433172"/>
                </a:cubicBezTo>
                <a:lnTo>
                  <a:pt x="216586" y="433172"/>
                </a:lnTo>
                <a:cubicBezTo>
                  <a:pt x="96969" y="433172"/>
                  <a:pt x="0" y="336204"/>
                  <a:pt x="0" y="216586"/>
                </a:cubicBezTo>
                <a:lnTo>
                  <a:pt x="0" y="216586"/>
                </a:lnTo>
                <a:cubicBezTo>
                  <a:pt x="0" y="96969"/>
                  <a:pt x="96969" y="0"/>
                  <a:pt x="216586"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95" name="Shape 6"/>
          <p:cNvSpPr/>
          <p:nvPr/>
        </p:nvSpPr>
        <p:spPr>
          <a:xfrm>
            <a:off x="642960" y="1567080"/>
            <a:ext cx="157680" cy="180000"/>
          </a:xfrm>
          <a:custGeom>
            <a:avLst/>
            <a:gdLst>
              <a:gd name="textAreaLeft" fmla="*/ 0 w 157680"/>
              <a:gd name="textAreaRight" fmla="*/ 158040 w 157680"/>
              <a:gd name="textAreaTop" fmla="*/ 0 h 180000"/>
              <a:gd name="textAreaBottom" fmla="*/ 180360 h 180000"/>
            </a:gdLst>
            <a:ahLst/>
            <a:rect l="textAreaLeft" t="textAreaTop" r="textAreaRight" b="textAreaBottom"/>
            <a:pathLst>
              <a:path w="157927" h="180489">
                <a:moveTo>
                  <a:pt x="28201" y="36662"/>
                </a:moveTo>
                <a:cubicBezTo>
                  <a:pt x="32871" y="36662"/>
                  <a:pt x="36662" y="32871"/>
                  <a:pt x="36662" y="28201"/>
                </a:cubicBezTo>
                <a:cubicBezTo>
                  <a:pt x="36662" y="23532"/>
                  <a:pt x="32871" y="19741"/>
                  <a:pt x="28201" y="19741"/>
                </a:cubicBezTo>
                <a:cubicBezTo>
                  <a:pt x="23532" y="19741"/>
                  <a:pt x="19741" y="23532"/>
                  <a:pt x="19741" y="28201"/>
                </a:cubicBezTo>
                <a:cubicBezTo>
                  <a:pt x="19741" y="32871"/>
                  <a:pt x="23532" y="36662"/>
                  <a:pt x="28201" y="36662"/>
                </a:cubicBezTo>
                <a:close/>
                <a:moveTo>
                  <a:pt x="56403" y="28201"/>
                </a:moveTo>
                <a:cubicBezTo>
                  <a:pt x="56403" y="39764"/>
                  <a:pt x="49458" y="49705"/>
                  <a:pt x="39482" y="54041"/>
                </a:cubicBezTo>
                <a:lnTo>
                  <a:pt x="39482" y="78964"/>
                </a:lnTo>
                <a:lnTo>
                  <a:pt x="101525" y="78964"/>
                </a:lnTo>
                <a:cubicBezTo>
                  <a:pt x="110866" y="78964"/>
                  <a:pt x="118446" y="71385"/>
                  <a:pt x="118446" y="62043"/>
                </a:cubicBezTo>
                <a:lnTo>
                  <a:pt x="118446" y="54041"/>
                </a:lnTo>
                <a:cubicBezTo>
                  <a:pt x="108469" y="49705"/>
                  <a:pt x="101525" y="39764"/>
                  <a:pt x="101525" y="28201"/>
                </a:cubicBezTo>
                <a:cubicBezTo>
                  <a:pt x="101525" y="12620"/>
                  <a:pt x="114145" y="0"/>
                  <a:pt x="129726" y="0"/>
                </a:cubicBezTo>
                <a:cubicBezTo>
                  <a:pt x="145307" y="0"/>
                  <a:pt x="157927" y="12620"/>
                  <a:pt x="157927" y="28201"/>
                </a:cubicBezTo>
                <a:cubicBezTo>
                  <a:pt x="157927" y="39764"/>
                  <a:pt x="150983" y="49705"/>
                  <a:pt x="141007" y="54041"/>
                </a:cubicBezTo>
                <a:lnTo>
                  <a:pt x="141007" y="62043"/>
                </a:lnTo>
                <a:cubicBezTo>
                  <a:pt x="141007" y="83864"/>
                  <a:pt x="123346" y="101525"/>
                  <a:pt x="101525" y="101525"/>
                </a:cubicBezTo>
                <a:lnTo>
                  <a:pt x="39482" y="101525"/>
                </a:lnTo>
                <a:lnTo>
                  <a:pt x="39482" y="126448"/>
                </a:lnTo>
                <a:cubicBezTo>
                  <a:pt x="49458" y="130784"/>
                  <a:pt x="56403" y="140725"/>
                  <a:pt x="56403" y="152287"/>
                </a:cubicBezTo>
                <a:cubicBezTo>
                  <a:pt x="56403" y="167868"/>
                  <a:pt x="43783" y="180489"/>
                  <a:pt x="28201" y="180489"/>
                </a:cubicBezTo>
                <a:cubicBezTo>
                  <a:pt x="12620" y="180489"/>
                  <a:pt x="0" y="167868"/>
                  <a:pt x="0" y="152287"/>
                </a:cubicBezTo>
                <a:cubicBezTo>
                  <a:pt x="0" y="140725"/>
                  <a:pt x="6945" y="130784"/>
                  <a:pt x="16921" y="126448"/>
                </a:cubicBezTo>
                <a:lnTo>
                  <a:pt x="16921" y="54076"/>
                </a:lnTo>
                <a:cubicBezTo>
                  <a:pt x="6945" y="49705"/>
                  <a:pt x="0" y="39764"/>
                  <a:pt x="0" y="28201"/>
                </a:cubicBezTo>
                <a:cubicBezTo>
                  <a:pt x="0" y="12620"/>
                  <a:pt x="12620" y="0"/>
                  <a:pt x="28201" y="0"/>
                </a:cubicBezTo>
                <a:cubicBezTo>
                  <a:pt x="43783" y="0"/>
                  <a:pt x="56403" y="12620"/>
                  <a:pt x="56403" y="28201"/>
                </a:cubicBezTo>
                <a:close/>
                <a:moveTo>
                  <a:pt x="138187" y="28201"/>
                </a:moveTo>
                <a:cubicBezTo>
                  <a:pt x="138187" y="23532"/>
                  <a:pt x="134396" y="19741"/>
                  <a:pt x="129726" y="19741"/>
                </a:cubicBezTo>
                <a:cubicBezTo>
                  <a:pt x="125057" y="19741"/>
                  <a:pt x="121266" y="23532"/>
                  <a:pt x="121266" y="28201"/>
                </a:cubicBezTo>
                <a:cubicBezTo>
                  <a:pt x="121266" y="32871"/>
                  <a:pt x="125057" y="36662"/>
                  <a:pt x="129726" y="36662"/>
                </a:cubicBezTo>
                <a:cubicBezTo>
                  <a:pt x="134396" y="36662"/>
                  <a:pt x="138187" y="32871"/>
                  <a:pt x="138187" y="28201"/>
                </a:cubicBezTo>
                <a:close/>
                <a:moveTo>
                  <a:pt x="28201" y="160748"/>
                </a:moveTo>
                <a:cubicBezTo>
                  <a:pt x="32871" y="160748"/>
                  <a:pt x="36662" y="156957"/>
                  <a:pt x="36662" y="152287"/>
                </a:cubicBezTo>
                <a:cubicBezTo>
                  <a:pt x="36662" y="147618"/>
                  <a:pt x="32871" y="143827"/>
                  <a:pt x="28201" y="143827"/>
                </a:cubicBezTo>
                <a:cubicBezTo>
                  <a:pt x="23532" y="143827"/>
                  <a:pt x="19741" y="147618"/>
                  <a:pt x="19741" y="152287"/>
                </a:cubicBezTo>
                <a:cubicBezTo>
                  <a:pt x="19741" y="156957"/>
                  <a:pt x="23532" y="160748"/>
                  <a:pt x="28201" y="160748"/>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196" name="Text 7"/>
          <p:cNvSpPr/>
          <p:nvPr/>
        </p:nvSpPr>
        <p:spPr>
          <a:xfrm>
            <a:off x="1046880" y="1404360"/>
            <a:ext cx="1958040" cy="2883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700" spc="-1" strike="noStrike">
                <a:solidFill>
                  <a:srgbClr val="ffffff"/>
                </a:solidFill>
                <a:latin typeface="Liter"/>
                <a:ea typeface="Liter"/>
              </a:rPr>
              <a:t>1. OpenMP</a:t>
            </a:r>
            <a:endParaRPr b="0" lang="it-IT" sz="1700" spc="-1" strike="noStrike">
              <a:solidFill>
                <a:srgbClr val="000000"/>
              </a:solidFill>
              <a:latin typeface="Arial"/>
            </a:endParaRPr>
          </a:p>
        </p:txBody>
      </p:sp>
      <p:sp>
        <p:nvSpPr>
          <p:cNvPr id="197" name="Text 8"/>
          <p:cNvSpPr/>
          <p:nvPr/>
        </p:nvSpPr>
        <p:spPr>
          <a:xfrm>
            <a:off x="1046880" y="1693440"/>
            <a:ext cx="19216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ffffff"/>
                </a:solidFill>
                <a:latin typeface="Quattrocento Sans"/>
                <a:ea typeface="Quattrocento Sans"/>
              </a:rPr>
              <a:t>Parallelismo a livello di thread</a:t>
            </a:r>
            <a:endParaRPr b="0" lang="it-IT" sz="1130" spc="-1" strike="noStrike">
              <a:solidFill>
                <a:srgbClr val="000000"/>
              </a:solidFill>
              <a:latin typeface="Arial"/>
            </a:endParaRPr>
          </a:p>
        </p:txBody>
      </p:sp>
      <p:sp>
        <p:nvSpPr>
          <p:cNvPr id="198" name="Text 9"/>
          <p:cNvSpPr/>
          <p:nvPr/>
        </p:nvSpPr>
        <p:spPr>
          <a:xfrm>
            <a:off x="505440" y="2198520"/>
            <a:ext cx="3510000" cy="4327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Il ciclo esterno è parallelizzato con </a:t>
            </a:r>
            <a:r>
              <a:rPr b="0" lang="en-US" sz="1130" spc="-1" strike="noStrike">
                <a:solidFill>
                  <a:srgbClr val="2e3440"/>
                </a:solidFill>
                <a:highlight>
                  <a:srgbClr val="2e3440"/>
                </a:highlight>
                <a:latin typeface="MiSans"/>
                <a:ea typeface="MiSans"/>
              </a:rPr>
              <a:t>#pragma omp parallel for</a:t>
            </a:r>
            <a:endParaRPr b="0" lang="it-IT" sz="1130" spc="-1" strike="noStrike">
              <a:solidFill>
                <a:srgbClr val="000000"/>
              </a:solidFill>
              <a:latin typeface="Arial"/>
            </a:endParaRPr>
          </a:p>
        </p:txBody>
      </p:sp>
      <p:sp>
        <p:nvSpPr>
          <p:cNvPr id="199" name="Shape 10"/>
          <p:cNvSpPr/>
          <p:nvPr/>
        </p:nvSpPr>
        <p:spPr>
          <a:xfrm>
            <a:off x="521640" y="2740320"/>
            <a:ext cx="3418200" cy="1226880"/>
          </a:xfrm>
          <a:custGeom>
            <a:avLst/>
            <a:gdLst>
              <a:gd name="textAreaLeft" fmla="*/ 0 w 3418200"/>
              <a:gd name="textAreaRight" fmla="*/ 3418560 w 3418200"/>
              <a:gd name="textAreaTop" fmla="*/ 0 h 1226880"/>
              <a:gd name="textAreaBottom" fmla="*/ 1227240 h 1226880"/>
            </a:gdLst>
            <a:ahLst/>
            <a:rect l="textAreaLeft" t="textAreaTop" r="textAreaRight" b="textAreaBottom"/>
            <a:pathLst>
              <a:path w="3418617" h="1227322">
                <a:moveTo>
                  <a:pt x="32816" y="0"/>
                </a:moveTo>
                <a:lnTo>
                  <a:pt x="3346426" y="0"/>
                </a:lnTo>
                <a:cubicBezTo>
                  <a:pt x="3386269" y="0"/>
                  <a:pt x="3418617" y="32348"/>
                  <a:pt x="3418617" y="72191"/>
                </a:cubicBezTo>
                <a:lnTo>
                  <a:pt x="3418617" y="1155131"/>
                </a:lnTo>
                <a:cubicBezTo>
                  <a:pt x="3418617" y="1195001"/>
                  <a:pt x="3386296" y="1227322"/>
                  <a:pt x="3346426" y="1227322"/>
                </a:cubicBezTo>
                <a:lnTo>
                  <a:pt x="32816" y="1227322"/>
                </a:lnTo>
                <a:cubicBezTo>
                  <a:pt x="14692" y="1227322"/>
                  <a:pt x="0" y="1212630"/>
                  <a:pt x="0" y="1194506"/>
                </a:cubicBezTo>
                <a:lnTo>
                  <a:pt x="0" y="32816"/>
                </a:lnTo>
                <a:cubicBezTo>
                  <a:pt x="0" y="14692"/>
                  <a:pt x="14692" y="0"/>
                  <a:pt x="32816" y="0"/>
                </a:cubicBezTo>
                <a:close/>
              </a:path>
            </a:pathLst>
          </a:custGeom>
          <a:solidFill>
            <a:srgbClr val="5e81ac">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00" name="Shape 11"/>
          <p:cNvSpPr/>
          <p:nvPr/>
        </p:nvSpPr>
        <p:spPr>
          <a:xfrm>
            <a:off x="521640" y="2740320"/>
            <a:ext cx="32400" cy="1226880"/>
          </a:xfrm>
          <a:custGeom>
            <a:avLst/>
            <a:gdLst>
              <a:gd name="textAreaLeft" fmla="*/ 0 w 32400"/>
              <a:gd name="textAreaRight" fmla="*/ 32760 w 32400"/>
              <a:gd name="textAreaTop" fmla="*/ 0 h 1226880"/>
              <a:gd name="textAreaBottom" fmla="*/ 1227240 h 1226880"/>
            </a:gdLst>
            <a:ahLst/>
            <a:rect l="textAreaLeft" t="textAreaTop" r="textAreaRight" b="textAreaBottom"/>
            <a:pathLst>
              <a:path w="32816" h="1227322">
                <a:moveTo>
                  <a:pt x="32816" y="0"/>
                </a:moveTo>
                <a:lnTo>
                  <a:pt x="32816" y="0"/>
                </a:lnTo>
                <a:lnTo>
                  <a:pt x="32816" y="1227322"/>
                </a:lnTo>
                <a:lnTo>
                  <a:pt x="32816" y="1227322"/>
                </a:lnTo>
                <a:cubicBezTo>
                  <a:pt x="14692" y="1227322"/>
                  <a:pt x="0" y="1212630"/>
                  <a:pt x="0" y="1194506"/>
                </a:cubicBezTo>
                <a:lnTo>
                  <a:pt x="0" y="32816"/>
                </a:lnTo>
                <a:cubicBezTo>
                  <a:pt x="0" y="14704"/>
                  <a:pt x="14704" y="0"/>
                  <a:pt x="3281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01" name="Text 12"/>
          <p:cNvSpPr/>
          <p:nvPr/>
        </p:nvSpPr>
        <p:spPr>
          <a:xfrm>
            <a:off x="646560" y="284832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Modello Fork-Join:</a:t>
            </a:r>
            <a:endParaRPr b="0" lang="it-IT" sz="1130" spc="-1" strike="noStrike">
              <a:solidFill>
                <a:srgbClr val="000000"/>
              </a:solidFill>
              <a:latin typeface="Arial"/>
            </a:endParaRPr>
          </a:p>
        </p:txBody>
      </p:sp>
      <p:sp>
        <p:nvSpPr>
          <p:cNvPr id="202" name="Text 13"/>
          <p:cNvSpPr/>
          <p:nvPr/>
        </p:nvSpPr>
        <p:spPr>
          <a:xfrm>
            <a:off x="646560" y="313740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Fork: creazione thread</a:t>
            </a:r>
            <a:endParaRPr b="0" lang="it-IT" sz="1130" spc="-1" strike="noStrike">
              <a:solidFill>
                <a:srgbClr val="000000"/>
              </a:solidFill>
              <a:latin typeface="Arial"/>
            </a:endParaRPr>
          </a:p>
        </p:txBody>
      </p:sp>
      <p:sp>
        <p:nvSpPr>
          <p:cNvPr id="203" name="Text 14"/>
          <p:cNvSpPr/>
          <p:nvPr/>
        </p:nvSpPr>
        <p:spPr>
          <a:xfrm>
            <a:off x="646560" y="338976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Lavoro: calcolo SAD locale</a:t>
            </a:r>
            <a:endParaRPr b="0" lang="it-IT" sz="1130" spc="-1" strike="noStrike">
              <a:solidFill>
                <a:srgbClr val="000000"/>
              </a:solidFill>
              <a:latin typeface="Arial"/>
            </a:endParaRPr>
          </a:p>
        </p:txBody>
      </p:sp>
      <p:sp>
        <p:nvSpPr>
          <p:cNvPr id="204" name="Text 15"/>
          <p:cNvSpPr/>
          <p:nvPr/>
        </p:nvSpPr>
        <p:spPr>
          <a:xfrm>
            <a:off x="646560" y="364248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Join: barriera di sincronizzazione</a:t>
            </a:r>
            <a:endParaRPr b="0" lang="it-IT" sz="1130" spc="-1" strike="noStrike">
              <a:solidFill>
                <a:srgbClr val="000000"/>
              </a:solidFill>
              <a:latin typeface="Arial"/>
            </a:endParaRPr>
          </a:p>
        </p:txBody>
      </p:sp>
      <p:sp>
        <p:nvSpPr>
          <p:cNvPr id="205" name="Text 16"/>
          <p:cNvSpPr/>
          <p:nvPr/>
        </p:nvSpPr>
        <p:spPr>
          <a:xfrm>
            <a:off x="505440" y="4075920"/>
            <a:ext cx="3510000" cy="4327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Vantaggio:</a:t>
            </a:r>
            <a:r>
              <a:rPr b="0" lang="en-US" sz="1130" spc="-1" strike="noStrike">
                <a:solidFill>
                  <a:srgbClr val="2e3440"/>
                </a:solidFill>
                <a:latin typeface="Quattrocento Sans"/>
                <a:ea typeface="Quattrocento Sans"/>
              </a:rPr>
              <a:t> Iterazioni indipendenti, bilanciamento dinamico, overhead minimo.</a:t>
            </a:r>
            <a:endParaRPr b="0" lang="it-IT" sz="1130" spc="-1" strike="noStrike">
              <a:solidFill>
                <a:srgbClr val="000000"/>
              </a:solidFill>
              <a:latin typeface="Arial"/>
            </a:endParaRPr>
          </a:p>
        </p:txBody>
      </p:sp>
      <p:sp>
        <p:nvSpPr>
          <p:cNvPr id="206" name="Shape 17"/>
          <p:cNvSpPr/>
          <p:nvPr/>
        </p:nvSpPr>
        <p:spPr>
          <a:xfrm>
            <a:off x="4232880" y="1243800"/>
            <a:ext cx="3726720" cy="3409200"/>
          </a:xfrm>
          <a:custGeom>
            <a:avLst/>
            <a:gdLst>
              <a:gd name="textAreaLeft" fmla="*/ 0 w 3726720"/>
              <a:gd name="textAreaRight" fmla="*/ 3727080 w 3726720"/>
              <a:gd name="textAreaTop" fmla="*/ 0 h 3409200"/>
              <a:gd name="textAreaBottom" fmla="*/ 3409560 h 3409200"/>
            </a:gdLst>
            <a:ahLst/>
            <a:rect l="textAreaLeft" t="textAreaTop" r="textAreaRight" b="textAreaBottom"/>
            <a:pathLst>
              <a:path w="3727088" h="3409592">
                <a:moveTo>
                  <a:pt x="32816" y="0"/>
                </a:moveTo>
                <a:lnTo>
                  <a:pt x="3694272" y="0"/>
                </a:lnTo>
                <a:cubicBezTo>
                  <a:pt x="3712396" y="0"/>
                  <a:pt x="3727088" y="14692"/>
                  <a:pt x="3727088" y="32816"/>
                </a:cubicBezTo>
                <a:lnTo>
                  <a:pt x="3727088" y="3337411"/>
                </a:lnTo>
                <a:cubicBezTo>
                  <a:pt x="3727088" y="3377249"/>
                  <a:pt x="3694745" y="3409592"/>
                  <a:pt x="3654907" y="3409592"/>
                </a:cubicBezTo>
                <a:lnTo>
                  <a:pt x="72181" y="3409592"/>
                </a:lnTo>
                <a:cubicBezTo>
                  <a:pt x="32343" y="3409592"/>
                  <a:pt x="0" y="3377249"/>
                  <a:pt x="0" y="3337411"/>
                </a:cubicBezTo>
                <a:lnTo>
                  <a:pt x="0" y="32816"/>
                </a:lnTo>
                <a:cubicBezTo>
                  <a:pt x="0" y="14692"/>
                  <a:pt x="14692" y="0"/>
                  <a:pt x="32816" y="0"/>
                </a:cubicBezTo>
                <a:close/>
              </a:path>
            </a:pathLst>
          </a:custGeom>
          <a:solidFill>
            <a:srgbClr val="ffffff"/>
          </a:solidFill>
          <a:ln w="0">
            <a:noFill/>
          </a:ln>
          <a:effectLst>
            <a:outerShdw algn="bl" blurRad="54000" dir="5400000" dist="3600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07" name="Shape 18"/>
          <p:cNvSpPr/>
          <p:nvPr/>
        </p:nvSpPr>
        <p:spPr>
          <a:xfrm>
            <a:off x="4232880" y="1243800"/>
            <a:ext cx="3726720" cy="32400"/>
          </a:xfrm>
          <a:custGeom>
            <a:avLst/>
            <a:gdLst>
              <a:gd name="textAreaLeft" fmla="*/ 0 w 3726720"/>
              <a:gd name="textAreaRight" fmla="*/ 3727080 w 3726720"/>
              <a:gd name="textAreaTop" fmla="*/ 0 h 32400"/>
              <a:gd name="textAreaBottom" fmla="*/ 32760 h 32400"/>
            </a:gdLst>
            <a:ahLst/>
            <a:rect l="textAreaLeft" t="textAreaTop" r="textAreaRight" b="textAreaBottom"/>
            <a:pathLst>
              <a:path w="3727088" h="32816">
                <a:moveTo>
                  <a:pt x="32816" y="0"/>
                </a:moveTo>
                <a:lnTo>
                  <a:pt x="3694272" y="0"/>
                </a:lnTo>
                <a:cubicBezTo>
                  <a:pt x="3712396" y="0"/>
                  <a:pt x="3727088" y="14692"/>
                  <a:pt x="3727088" y="32816"/>
                </a:cubicBezTo>
                <a:lnTo>
                  <a:pt x="3727088" y="32816"/>
                </a:lnTo>
                <a:lnTo>
                  <a:pt x="0" y="32816"/>
                </a:lnTo>
                <a:lnTo>
                  <a:pt x="0" y="32816"/>
                </a:lnTo>
                <a:cubicBezTo>
                  <a:pt x="0" y="14704"/>
                  <a:pt x="14704" y="0"/>
                  <a:pt x="32816" y="0"/>
                </a:cubicBezTo>
                <a:close/>
              </a:path>
            </a:pathLst>
          </a:custGeom>
          <a:solidFill>
            <a:srgbClr val="88c0d0"/>
          </a:solidFill>
          <a:ln w="0">
            <a:noFill/>
          </a:ln>
        </p:spPr>
        <p:style>
          <a:lnRef idx="0"/>
          <a:fillRef idx="0"/>
          <a:effectRef idx="0"/>
          <a:fontRef idx="minor"/>
        </p:style>
        <p:txBody>
          <a:bodyPr lIns="90000" rIns="90000" tIns="-12240" bIns="-12240" anchor="t">
            <a:noAutofit/>
          </a:bodyPr>
          <a:p>
            <a:endParaRPr b="0" lang="it-IT" sz="1800" spc="-1" strike="noStrike">
              <a:solidFill>
                <a:srgbClr val="000000"/>
              </a:solidFill>
              <a:latin typeface="Arial"/>
            </a:endParaRPr>
          </a:p>
        </p:txBody>
      </p:sp>
      <p:sp>
        <p:nvSpPr>
          <p:cNvPr id="208" name="Shape 19"/>
          <p:cNvSpPr/>
          <p:nvPr/>
        </p:nvSpPr>
        <p:spPr>
          <a:xfrm>
            <a:off x="4232880" y="1260000"/>
            <a:ext cx="3726720" cy="793800"/>
          </a:xfrm>
          <a:custGeom>
            <a:avLst/>
            <a:gdLst>
              <a:gd name="textAreaLeft" fmla="*/ 0 w 3726720"/>
              <a:gd name="textAreaRight" fmla="*/ 3727080 w 3726720"/>
              <a:gd name="textAreaTop" fmla="*/ 0 h 793800"/>
              <a:gd name="textAreaBottom" fmla="*/ 794160 h 793800"/>
            </a:gdLst>
            <a:ahLst/>
            <a:rect l="textAreaLeft" t="textAreaTop" r="textAreaRight" b="textAreaBottom"/>
            <a:pathLst>
              <a:path w="3727088" h="794150">
                <a:moveTo>
                  <a:pt x="0" y="0"/>
                </a:moveTo>
                <a:lnTo>
                  <a:pt x="3727088" y="0"/>
                </a:lnTo>
                <a:lnTo>
                  <a:pt x="3727088" y="794150"/>
                </a:lnTo>
                <a:lnTo>
                  <a:pt x="0" y="794150"/>
                </a:lnTo>
                <a:lnTo>
                  <a:pt x="0" y="0"/>
                </a:lnTo>
                <a:close/>
              </a:path>
            </a:pathLst>
          </a:custGeom>
          <a:gradFill rotWithShape="0">
            <a:gsLst>
              <a:gs pos="0">
                <a:srgbClr val="88c0d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09" name="Shape 20"/>
          <p:cNvSpPr/>
          <p:nvPr/>
        </p:nvSpPr>
        <p:spPr>
          <a:xfrm>
            <a:off x="4377240" y="1440720"/>
            <a:ext cx="432720" cy="432720"/>
          </a:xfrm>
          <a:custGeom>
            <a:avLst/>
            <a:gdLst>
              <a:gd name="textAreaLeft" fmla="*/ 0 w 432720"/>
              <a:gd name="textAreaRight" fmla="*/ 433080 w 432720"/>
              <a:gd name="textAreaTop" fmla="*/ 0 h 432720"/>
              <a:gd name="textAreaBottom" fmla="*/ 433080 h 432720"/>
            </a:gdLst>
            <a:ahLst/>
            <a:rect l="textAreaLeft" t="textAreaTop" r="textAreaRight" b="textAreaBottom"/>
            <a:pathLst>
              <a:path w="433172" h="433172">
                <a:moveTo>
                  <a:pt x="216586" y="0"/>
                </a:moveTo>
                <a:lnTo>
                  <a:pt x="216586" y="0"/>
                </a:lnTo>
                <a:cubicBezTo>
                  <a:pt x="336204" y="0"/>
                  <a:pt x="433172" y="96969"/>
                  <a:pt x="433172" y="216586"/>
                </a:cubicBezTo>
                <a:lnTo>
                  <a:pt x="433172" y="216586"/>
                </a:lnTo>
                <a:cubicBezTo>
                  <a:pt x="433172" y="336204"/>
                  <a:pt x="336204" y="433172"/>
                  <a:pt x="216586" y="433172"/>
                </a:cubicBezTo>
                <a:lnTo>
                  <a:pt x="216586" y="433172"/>
                </a:lnTo>
                <a:cubicBezTo>
                  <a:pt x="96969" y="433172"/>
                  <a:pt x="0" y="336204"/>
                  <a:pt x="0" y="216586"/>
                </a:cubicBezTo>
                <a:lnTo>
                  <a:pt x="0" y="216586"/>
                </a:lnTo>
                <a:cubicBezTo>
                  <a:pt x="0" y="96969"/>
                  <a:pt x="96969" y="0"/>
                  <a:pt x="216586"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10" name="Shape 21"/>
          <p:cNvSpPr/>
          <p:nvPr/>
        </p:nvSpPr>
        <p:spPr>
          <a:xfrm>
            <a:off x="4503600" y="1567080"/>
            <a:ext cx="180000" cy="180000"/>
          </a:xfrm>
          <a:custGeom>
            <a:avLst/>
            <a:gdLst>
              <a:gd name="textAreaLeft" fmla="*/ 0 w 180000"/>
              <a:gd name="textAreaRight" fmla="*/ 180360 w 180000"/>
              <a:gd name="textAreaTop" fmla="*/ 0 h 180000"/>
              <a:gd name="textAreaBottom" fmla="*/ 180360 h 180000"/>
            </a:gdLst>
            <a:ahLst/>
            <a:rect l="textAreaLeft" t="textAreaTop" r="textAreaRight" b="textAreaBottom"/>
            <a:pathLst>
              <a:path w="180489" h="180489">
                <a:moveTo>
                  <a:pt x="81960" y="1833"/>
                </a:moveTo>
                <a:cubicBezTo>
                  <a:pt x="87213" y="-599"/>
                  <a:pt x="93276" y="-599"/>
                  <a:pt x="98528" y="1833"/>
                </a:cubicBezTo>
                <a:lnTo>
                  <a:pt x="175589" y="37437"/>
                </a:lnTo>
                <a:cubicBezTo>
                  <a:pt x="178585" y="38812"/>
                  <a:pt x="180489" y="41808"/>
                  <a:pt x="180489" y="45122"/>
                </a:cubicBezTo>
                <a:cubicBezTo>
                  <a:pt x="180489" y="48436"/>
                  <a:pt x="178585" y="51432"/>
                  <a:pt x="175589" y="52807"/>
                </a:cubicBezTo>
                <a:lnTo>
                  <a:pt x="98528" y="88411"/>
                </a:lnTo>
                <a:cubicBezTo>
                  <a:pt x="93276" y="90844"/>
                  <a:pt x="87213" y="90844"/>
                  <a:pt x="81960" y="88411"/>
                </a:cubicBezTo>
                <a:lnTo>
                  <a:pt x="4900" y="52807"/>
                </a:lnTo>
                <a:cubicBezTo>
                  <a:pt x="1904" y="51397"/>
                  <a:pt x="0" y="48401"/>
                  <a:pt x="0" y="45122"/>
                </a:cubicBezTo>
                <a:cubicBezTo>
                  <a:pt x="0" y="41844"/>
                  <a:pt x="1904" y="38812"/>
                  <a:pt x="4900" y="37437"/>
                </a:cubicBezTo>
                <a:lnTo>
                  <a:pt x="81960" y="1833"/>
                </a:lnTo>
                <a:close/>
                <a:moveTo>
                  <a:pt x="16956" y="76990"/>
                </a:moveTo>
                <a:lnTo>
                  <a:pt x="74875" y="103746"/>
                </a:lnTo>
                <a:cubicBezTo>
                  <a:pt x="84639" y="108258"/>
                  <a:pt x="95885" y="108258"/>
                  <a:pt x="105649" y="103746"/>
                </a:cubicBezTo>
                <a:lnTo>
                  <a:pt x="163568" y="76990"/>
                </a:lnTo>
                <a:lnTo>
                  <a:pt x="175589" y="82559"/>
                </a:lnTo>
                <a:cubicBezTo>
                  <a:pt x="178585" y="83934"/>
                  <a:pt x="180489" y="86931"/>
                  <a:pt x="180489" y="90244"/>
                </a:cubicBezTo>
                <a:cubicBezTo>
                  <a:pt x="180489" y="93558"/>
                  <a:pt x="178585" y="96554"/>
                  <a:pt x="175589" y="97929"/>
                </a:cubicBezTo>
                <a:lnTo>
                  <a:pt x="98528" y="133533"/>
                </a:lnTo>
                <a:cubicBezTo>
                  <a:pt x="93276" y="135966"/>
                  <a:pt x="87213" y="135966"/>
                  <a:pt x="81960" y="133533"/>
                </a:cubicBezTo>
                <a:lnTo>
                  <a:pt x="4900" y="97929"/>
                </a:lnTo>
                <a:cubicBezTo>
                  <a:pt x="1904" y="96519"/>
                  <a:pt x="0" y="93523"/>
                  <a:pt x="0" y="90244"/>
                </a:cubicBezTo>
                <a:cubicBezTo>
                  <a:pt x="0" y="86966"/>
                  <a:pt x="1904" y="83934"/>
                  <a:pt x="4900" y="82559"/>
                </a:cubicBezTo>
                <a:lnTo>
                  <a:pt x="16921" y="76990"/>
                </a:lnTo>
                <a:close/>
                <a:moveTo>
                  <a:pt x="4900" y="127682"/>
                </a:moveTo>
                <a:lnTo>
                  <a:pt x="16921" y="122112"/>
                </a:lnTo>
                <a:lnTo>
                  <a:pt x="74839" y="148868"/>
                </a:lnTo>
                <a:cubicBezTo>
                  <a:pt x="84604" y="153380"/>
                  <a:pt x="95849" y="153380"/>
                  <a:pt x="105614" y="148868"/>
                </a:cubicBezTo>
                <a:lnTo>
                  <a:pt x="163532" y="122112"/>
                </a:lnTo>
                <a:lnTo>
                  <a:pt x="175553" y="127682"/>
                </a:lnTo>
                <a:cubicBezTo>
                  <a:pt x="178550" y="129056"/>
                  <a:pt x="180453" y="132053"/>
                  <a:pt x="180453" y="135366"/>
                </a:cubicBezTo>
                <a:cubicBezTo>
                  <a:pt x="180453" y="138680"/>
                  <a:pt x="178550" y="141676"/>
                  <a:pt x="175553" y="143051"/>
                </a:cubicBezTo>
                <a:lnTo>
                  <a:pt x="98493" y="178655"/>
                </a:lnTo>
                <a:cubicBezTo>
                  <a:pt x="93241" y="181088"/>
                  <a:pt x="87177" y="181088"/>
                  <a:pt x="81925" y="178655"/>
                </a:cubicBezTo>
                <a:lnTo>
                  <a:pt x="4900" y="143051"/>
                </a:lnTo>
                <a:cubicBezTo>
                  <a:pt x="1904" y="141641"/>
                  <a:pt x="0" y="138645"/>
                  <a:pt x="0" y="135366"/>
                </a:cubicBezTo>
                <a:cubicBezTo>
                  <a:pt x="0" y="132088"/>
                  <a:pt x="1904" y="129056"/>
                  <a:pt x="4900" y="127682"/>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11" name="Text 22"/>
          <p:cNvSpPr/>
          <p:nvPr/>
        </p:nvSpPr>
        <p:spPr>
          <a:xfrm>
            <a:off x="4918680" y="1404360"/>
            <a:ext cx="1759320" cy="2883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700" spc="-1" strike="noStrike">
                <a:solidFill>
                  <a:srgbClr val="ffffff"/>
                </a:solidFill>
                <a:latin typeface="Liter"/>
                <a:ea typeface="Liter"/>
              </a:rPr>
              <a:t>2. SIMD</a:t>
            </a:r>
            <a:endParaRPr b="0" lang="it-IT" sz="1700" spc="-1" strike="noStrike">
              <a:solidFill>
                <a:srgbClr val="000000"/>
              </a:solidFill>
              <a:latin typeface="Arial"/>
            </a:endParaRPr>
          </a:p>
        </p:txBody>
      </p:sp>
      <p:sp>
        <p:nvSpPr>
          <p:cNvPr id="212" name="Text 23"/>
          <p:cNvSpPr/>
          <p:nvPr/>
        </p:nvSpPr>
        <p:spPr>
          <a:xfrm>
            <a:off x="4918680" y="1693440"/>
            <a:ext cx="172332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ffffff"/>
                </a:solidFill>
                <a:latin typeface="Quattrocento Sans"/>
                <a:ea typeface="Quattrocento Sans"/>
              </a:rPr>
              <a:t>Vettorizzazione del calcolo</a:t>
            </a:r>
            <a:endParaRPr b="0" lang="it-IT" sz="1130" spc="-1" strike="noStrike">
              <a:solidFill>
                <a:srgbClr val="000000"/>
              </a:solidFill>
              <a:latin typeface="Arial"/>
            </a:endParaRPr>
          </a:p>
        </p:txBody>
      </p:sp>
      <p:sp>
        <p:nvSpPr>
          <p:cNvPr id="213" name="Text 24"/>
          <p:cNvSpPr/>
          <p:nvPr/>
        </p:nvSpPr>
        <p:spPr>
          <a:xfrm>
            <a:off x="4377240" y="2198520"/>
            <a:ext cx="351000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Il ciclo interno usa </a:t>
            </a:r>
            <a:r>
              <a:rPr b="0" lang="en-US" sz="1130" spc="-1" strike="noStrike">
                <a:solidFill>
                  <a:srgbClr val="2e3440"/>
                </a:solidFill>
                <a:highlight>
                  <a:srgbClr val="2e3440"/>
                </a:highlight>
                <a:latin typeface="MiSans"/>
                <a:ea typeface="MiSans"/>
              </a:rPr>
              <a:t>#pragma omp simd</a:t>
            </a:r>
            <a:endParaRPr b="0" lang="it-IT" sz="1130" spc="-1" strike="noStrike">
              <a:solidFill>
                <a:srgbClr val="000000"/>
              </a:solidFill>
              <a:latin typeface="Arial"/>
            </a:endParaRPr>
          </a:p>
        </p:txBody>
      </p:sp>
      <p:sp>
        <p:nvSpPr>
          <p:cNvPr id="214" name="Shape 25"/>
          <p:cNvSpPr/>
          <p:nvPr/>
        </p:nvSpPr>
        <p:spPr>
          <a:xfrm>
            <a:off x="4393440" y="2523600"/>
            <a:ext cx="3418200" cy="1226880"/>
          </a:xfrm>
          <a:custGeom>
            <a:avLst/>
            <a:gdLst>
              <a:gd name="textAreaLeft" fmla="*/ 0 w 3418200"/>
              <a:gd name="textAreaRight" fmla="*/ 3418560 w 3418200"/>
              <a:gd name="textAreaTop" fmla="*/ 0 h 1226880"/>
              <a:gd name="textAreaBottom" fmla="*/ 1227240 h 1226880"/>
            </a:gdLst>
            <a:ahLst/>
            <a:rect l="textAreaLeft" t="textAreaTop" r="textAreaRight" b="textAreaBottom"/>
            <a:pathLst>
              <a:path w="3418617" h="1227322">
                <a:moveTo>
                  <a:pt x="32816" y="0"/>
                </a:moveTo>
                <a:lnTo>
                  <a:pt x="3346426" y="0"/>
                </a:lnTo>
                <a:cubicBezTo>
                  <a:pt x="3386269" y="0"/>
                  <a:pt x="3418617" y="32348"/>
                  <a:pt x="3418617" y="72191"/>
                </a:cubicBezTo>
                <a:lnTo>
                  <a:pt x="3418617" y="1155131"/>
                </a:lnTo>
                <a:cubicBezTo>
                  <a:pt x="3418617" y="1195001"/>
                  <a:pt x="3386296" y="1227322"/>
                  <a:pt x="3346426" y="1227322"/>
                </a:cubicBezTo>
                <a:lnTo>
                  <a:pt x="32816" y="1227322"/>
                </a:lnTo>
                <a:cubicBezTo>
                  <a:pt x="14692" y="1227322"/>
                  <a:pt x="0" y="1212630"/>
                  <a:pt x="0" y="1194506"/>
                </a:cubicBezTo>
                <a:lnTo>
                  <a:pt x="0" y="32816"/>
                </a:lnTo>
                <a:cubicBezTo>
                  <a:pt x="0" y="14692"/>
                  <a:pt x="14692" y="0"/>
                  <a:pt x="32816"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15" name="Shape 26"/>
          <p:cNvSpPr/>
          <p:nvPr/>
        </p:nvSpPr>
        <p:spPr>
          <a:xfrm>
            <a:off x="4393440" y="2523600"/>
            <a:ext cx="32400" cy="1226880"/>
          </a:xfrm>
          <a:custGeom>
            <a:avLst/>
            <a:gdLst>
              <a:gd name="textAreaLeft" fmla="*/ 0 w 32400"/>
              <a:gd name="textAreaRight" fmla="*/ 32760 w 32400"/>
              <a:gd name="textAreaTop" fmla="*/ 0 h 1226880"/>
              <a:gd name="textAreaBottom" fmla="*/ 1227240 h 1226880"/>
            </a:gdLst>
            <a:ahLst/>
            <a:rect l="textAreaLeft" t="textAreaTop" r="textAreaRight" b="textAreaBottom"/>
            <a:pathLst>
              <a:path w="32816" h="1227322">
                <a:moveTo>
                  <a:pt x="32816" y="0"/>
                </a:moveTo>
                <a:lnTo>
                  <a:pt x="32816" y="0"/>
                </a:lnTo>
                <a:lnTo>
                  <a:pt x="32816" y="1227322"/>
                </a:lnTo>
                <a:lnTo>
                  <a:pt x="32816" y="1227322"/>
                </a:lnTo>
                <a:cubicBezTo>
                  <a:pt x="14692" y="1227322"/>
                  <a:pt x="0" y="1212630"/>
                  <a:pt x="0" y="1194506"/>
                </a:cubicBezTo>
                <a:lnTo>
                  <a:pt x="0" y="32816"/>
                </a:lnTo>
                <a:cubicBezTo>
                  <a:pt x="0" y="14704"/>
                  <a:pt x="14704" y="0"/>
                  <a:pt x="3281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16" name="Text 27"/>
          <p:cNvSpPr/>
          <p:nvPr/>
        </p:nvSpPr>
        <p:spPr>
          <a:xfrm>
            <a:off x="4518360" y="263196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Istruzioni AVX/AVX2:</a:t>
            </a:r>
            <a:endParaRPr b="0" lang="it-IT" sz="1130" spc="-1" strike="noStrike">
              <a:solidFill>
                <a:srgbClr val="000000"/>
              </a:solidFill>
              <a:latin typeface="Arial"/>
            </a:endParaRPr>
          </a:p>
        </p:txBody>
      </p:sp>
      <p:sp>
        <p:nvSpPr>
          <p:cNvPr id="217" name="Text 28"/>
          <p:cNvSpPr/>
          <p:nvPr/>
        </p:nvSpPr>
        <p:spPr>
          <a:xfrm>
            <a:off x="4518360" y="292068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Registri vettoriali da 256-bit</a:t>
            </a:r>
            <a:endParaRPr b="0" lang="it-IT" sz="1130" spc="-1" strike="noStrike">
              <a:solidFill>
                <a:srgbClr val="000000"/>
              </a:solidFill>
              <a:latin typeface="Arial"/>
            </a:endParaRPr>
          </a:p>
        </p:txBody>
      </p:sp>
      <p:sp>
        <p:nvSpPr>
          <p:cNvPr id="218" name="Text 29"/>
          <p:cNvSpPr/>
          <p:nvPr/>
        </p:nvSpPr>
        <p:spPr>
          <a:xfrm>
            <a:off x="4518360" y="317340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4 operazioni in parallelo (double)</a:t>
            </a:r>
            <a:endParaRPr b="0" lang="it-IT" sz="1130" spc="-1" strike="noStrike">
              <a:solidFill>
                <a:srgbClr val="000000"/>
              </a:solidFill>
              <a:latin typeface="Arial"/>
            </a:endParaRPr>
          </a:p>
        </p:txBody>
      </p:sp>
      <p:sp>
        <p:nvSpPr>
          <p:cNvPr id="219" name="Text 30"/>
          <p:cNvSpPr/>
          <p:nvPr/>
        </p:nvSpPr>
        <p:spPr>
          <a:xfrm>
            <a:off x="4518360" y="342612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Sottrazioni e valori assoluti simultanei</a:t>
            </a:r>
            <a:endParaRPr b="0" lang="it-IT" sz="1130" spc="-1" strike="noStrike">
              <a:solidFill>
                <a:srgbClr val="000000"/>
              </a:solidFill>
              <a:latin typeface="Arial"/>
            </a:endParaRPr>
          </a:p>
        </p:txBody>
      </p:sp>
      <p:sp>
        <p:nvSpPr>
          <p:cNvPr id="220" name="Text 31"/>
          <p:cNvSpPr/>
          <p:nvPr/>
        </p:nvSpPr>
        <p:spPr>
          <a:xfrm>
            <a:off x="4377240" y="3859200"/>
            <a:ext cx="3510000" cy="4327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Vantaggio:</a:t>
            </a:r>
            <a:r>
              <a:rPr b="0" lang="en-US" sz="1130" spc="-1" strike="noStrike">
                <a:solidFill>
                  <a:srgbClr val="2e3440"/>
                </a:solidFill>
                <a:latin typeface="Quattrocento Sans"/>
                <a:ea typeface="Quattrocento Sans"/>
              </a:rPr>
              <a:t> Speedup addizionale oltre i core, superamento linearità.</a:t>
            </a:r>
            <a:endParaRPr b="0" lang="it-IT" sz="1130" spc="-1" strike="noStrike">
              <a:solidFill>
                <a:srgbClr val="000000"/>
              </a:solidFill>
              <a:latin typeface="Arial"/>
            </a:endParaRPr>
          </a:p>
        </p:txBody>
      </p:sp>
      <p:sp>
        <p:nvSpPr>
          <p:cNvPr id="221" name="Shape 32"/>
          <p:cNvSpPr/>
          <p:nvPr/>
        </p:nvSpPr>
        <p:spPr>
          <a:xfrm>
            <a:off x="8104680" y="1243800"/>
            <a:ext cx="3726720" cy="3409200"/>
          </a:xfrm>
          <a:custGeom>
            <a:avLst/>
            <a:gdLst>
              <a:gd name="textAreaLeft" fmla="*/ 0 w 3726720"/>
              <a:gd name="textAreaRight" fmla="*/ 3727080 w 3726720"/>
              <a:gd name="textAreaTop" fmla="*/ 0 h 3409200"/>
              <a:gd name="textAreaBottom" fmla="*/ 3409560 h 3409200"/>
            </a:gdLst>
            <a:ahLst/>
            <a:rect l="textAreaLeft" t="textAreaTop" r="textAreaRight" b="textAreaBottom"/>
            <a:pathLst>
              <a:path w="3727088" h="3409592">
                <a:moveTo>
                  <a:pt x="32816" y="0"/>
                </a:moveTo>
                <a:lnTo>
                  <a:pt x="3694272" y="0"/>
                </a:lnTo>
                <a:cubicBezTo>
                  <a:pt x="3712396" y="0"/>
                  <a:pt x="3727088" y="14692"/>
                  <a:pt x="3727088" y="32816"/>
                </a:cubicBezTo>
                <a:lnTo>
                  <a:pt x="3727088" y="3337411"/>
                </a:lnTo>
                <a:cubicBezTo>
                  <a:pt x="3727088" y="3377249"/>
                  <a:pt x="3694745" y="3409592"/>
                  <a:pt x="3654907" y="3409592"/>
                </a:cubicBezTo>
                <a:lnTo>
                  <a:pt x="72181" y="3409592"/>
                </a:lnTo>
                <a:cubicBezTo>
                  <a:pt x="32343" y="3409592"/>
                  <a:pt x="0" y="3377249"/>
                  <a:pt x="0" y="3337411"/>
                </a:cubicBezTo>
                <a:lnTo>
                  <a:pt x="0" y="32816"/>
                </a:lnTo>
                <a:cubicBezTo>
                  <a:pt x="0" y="14692"/>
                  <a:pt x="14692" y="0"/>
                  <a:pt x="32816" y="0"/>
                </a:cubicBezTo>
                <a:close/>
              </a:path>
            </a:pathLst>
          </a:custGeom>
          <a:solidFill>
            <a:srgbClr val="ffffff"/>
          </a:solidFill>
          <a:ln w="0">
            <a:noFill/>
          </a:ln>
          <a:effectLst>
            <a:outerShdw algn="bl" blurRad="54000" dir="5400000" dist="3600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22" name="Shape 33"/>
          <p:cNvSpPr/>
          <p:nvPr/>
        </p:nvSpPr>
        <p:spPr>
          <a:xfrm>
            <a:off x="8104680" y="1243800"/>
            <a:ext cx="3726720" cy="32400"/>
          </a:xfrm>
          <a:custGeom>
            <a:avLst/>
            <a:gdLst>
              <a:gd name="textAreaLeft" fmla="*/ 0 w 3726720"/>
              <a:gd name="textAreaRight" fmla="*/ 3727080 w 3726720"/>
              <a:gd name="textAreaTop" fmla="*/ 0 h 32400"/>
              <a:gd name="textAreaBottom" fmla="*/ 32760 h 32400"/>
            </a:gdLst>
            <a:ahLst/>
            <a:rect l="textAreaLeft" t="textAreaTop" r="textAreaRight" b="textAreaBottom"/>
            <a:pathLst>
              <a:path w="3727088" h="32816">
                <a:moveTo>
                  <a:pt x="32816" y="0"/>
                </a:moveTo>
                <a:lnTo>
                  <a:pt x="3694272" y="0"/>
                </a:lnTo>
                <a:cubicBezTo>
                  <a:pt x="3712396" y="0"/>
                  <a:pt x="3727088" y="14692"/>
                  <a:pt x="3727088" y="32816"/>
                </a:cubicBezTo>
                <a:lnTo>
                  <a:pt x="3727088" y="32816"/>
                </a:lnTo>
                <a:lnTo>
                  <a:pt x="0" y="32816"/>
                </a:lnTo>
                <a:lnTo>
                  <a:pt x="0" y="32816"/>
                </a:lnTo>
                <a:cubicBezTo>
                  <a:pt x="0" y="14704"/>
                  <a:pt x="14704" y="0"/>
                  <a:pt x="32816" y="0"/>
                </a:cubicBezTo>
                <a:close/>
              </a:path>
            </a:pathLst>
          </a:custGeom>
          <a:solidFill>
            <a:srgbClr val="5e81ac"/>
          </a:solidFill>
          <a:ln w="0">
            <a:noFill/>
          </a:ln>
        </p:spPr>
        <p:style>
          <a:lnRef idx="0"/>
          <a:fillRef idx="0"/>
          <a:effectRef idx="0"/>
          <a:fontRef idx="minor"/>
        </p:style>
        <p:txBody>
          <a:bodyPr lIns="90000" rIns="90000" tIns="-12240" bIns="-12240" anchor="t">
            <a:noAutofit/>
          </a:bodyPr>
          <a:p>
            <a:endParaRPr b="0" lang="it-IT" sz="1800" spc="-1" strike="noStrike">
              <a:solidFill>
                <a:srgbClr val="000000"/>
              </a:solidFill>
              <a:latin typeface="Arial"/>
            </a:endParaRPr>
          </a:p>
        </p:txBody>
      </p:sp>
      <p:sp>
        <p:nvSpPr>
          <p:cNvPr id="223" name="Shape 34"/>
          <p:cNvSpPr/>
          <p:nvPr/>
        </p:nvSpPr>
        <p:spPr>
          <a:xfrm>
            <a:off x="8104680" y="1260000"/>
            <a:ext cx="3726720" cy="793800"/>
          </a:xfrm>
          <a:custGeom>
            <a:avLst/>
            <a:gdLst>
              <a:gd name="textAreaLeft" fmla="*/ 0 w 3726720"/>
              <a:gd name="textAreaRight" fmla="*/ 3727080 w 3726720"/>
              <a:gd name="textAreaTop" fmla="*/ 0 h 793800"/>
              <a:gd name="textAreaBottom" fmla="*/ 794160 h 793800"/>
            </a:gdLst>
            <a:ahLst/>
            <a:rect l="textAreaLeft" t="textAreaTop" r="textAreaRight" b="textAreaBottom"/>
            <a:pathLst>
              <a:path w="3727088" h="794150">
                <a:moveTo>
                  <a:pt x="0" y="0"/>
                </a:moveTo>
                <a:lnTo>
                  <a:pt x="3727088" y="0"/>
                </a:lnTo>
                <a:lnTo>
                  <a:pt x="3727088" y="794150"/>
                </a:lnTo>
                <a:lnTo>
                  <a:pt x="0" y="794150"/>
                </a:lnTo>
                <a:lnTo>
                  <a:pt x="0" y="0"/>
                </a:lnTo>
                <a:close/>
              </a:path>
            </a:pathLst>
          </a:custGeom>
          <a:gradFill rotWithShape="0">
            <a:gsLst>
              <a:gs pos="0">
                <a:srgbClr val="5e81ac"/>
              </a:gs>
              <a:gs pos="100000">
                <a:srgbClr val="88c0d0"/>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24" name="Shape 35"/>
          <p:cNvSpPr/>
          <p:nvPr/>
        </p:nvSpPr>
        <p:spPr>
          <a:xfrm>
            <a:off x="8249040" y="1440720"/>
            <a:ext cx="432720" cy="432720"/>
          </a:xfrm>
          <a:custGeom>
            <a:avLst/>
            <a:gdLst>
              <a:gd name="textAreaLeft" fmla="*/ 0 w 432720"/>
              <a:gd name="textAreaRight" fmla="*/ 433080 w 432720"/>
              <a:gd name="textAreaTop" fmla="*/ 0 h 432720"/>
              <a:gd name="textAreaBottom" fmla="*/ 433080 h 432720"/>
            </a:gdLst>
            <a:ahLst/>
            <a:rect l="textAreaLeft" t="textAreaTop" r="textAreaRight" b="textAreaBottom"/>
            <a:pathLst>
              <a:path w="433172" h="433172">
                <a:moveTo>
                  <a:pt x="216586" y="0"/>
                </a:moveTo>
                <a:lnTo>
                  <a:pt x="216586" y="0"/>
                </a:lnTo>
                <a:cubicBezTo>
                  <a:pt x="336204" y="0"/>
                  <a:pt x="433172" y="96969"/>
                  <a:pt x="433172" y="216586"/>
                </a:cubicBezTo>
                <a:lnTo>
                  <a:pt x="433172" y="216586"/>
                </a:lnTo>
                <a:cubicBezTo>
                  <a:pt x="433172" y="336204"/>
                  <a:pt x="336204" y="433172"/>
                  <a:pt x="216586" y="433172"/>
                </a:cubicBezTo>
                <a:lnTo>
                  <a:pt x="216586" y="433172"/>
                </a:lnTo>
                <a:cubicBezTo>
                  <a:pt x="96969" y="433172"/>
                  <a:pt x="0" y="336204"/>
                  <a:pt x="0" y="216586"/>
                </a:cubicBezTo>
                <a:lnTo>
                  <a:pt x="0" y="216586"/>
                </a:lnTo>
                <a:cubicBezTo>
                  <a:pt x="0" y="96969"/>
                  <a:pt x="96969" y="0"/>
                  <a:pt x="216586"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25" name="Shape 36"/>
          <p:cNvSpPr/>
          <p:nvPr/>
        </p:nvSpPr>
        <p:spPr>
          <a:xfrm>
            <a:off x="8375400" y="1567080"/>
            <a:ext cx="180000" cy="180000"/>
          </a:xfrm>
          <a:custGeom>
            <a:avLst/>
            <a:gdLst>
              <a:gd name="textAreaLeft" fmla="*/ 0 w 180000"/>
              <a:gd name="textAreaRight" fmla="*/ 180360 w 180000"/>
              <a:gd name="textAreaTop" fmla="*/ 0 h 180000"/>
              <a:gd name="textAreaBottom" fmla="*/ 180360 h 180000"/>
            </a:gdLst>
            <a:ahLst/>
            <a:rect l="textAreaLeft" t="textAreaTop" r="textAreaRight" b="textAreaBottom"/>
            <a:pathLst>
              <a:path w="180489" h="180489">
                <a:moveTo>
                  <a:pt x="160748" y="78964"/>
                </a:moveTo>
                <a:lnTo>
                  <a:pt x="109985" y="78964"/>
                </a:lnTo>
                <a:cubicBezTo>
                  <a:pt x="105297" y="78964"/>
                  <a:pt x="101525" y="75192"/>
                  <a:pt x="101525" y="70503"/>
                </a:cubicBezTo>
                <a:lnTo>
                  <a:pt x="101525" y="19741"/>
                </a:lnTo>
                <a:cubicBezTo>
                  <a:pt x="101525" y="16322"/>
                  <a:pt x="103569" y="13219"/>
                  <a:pt x="106742" y="11915"/>
                </a:cubicBezTo>
                <a:cubicBezTo>
                  <a:pt x="109915" y="10611"/>
                  <a:pt x="113546" y="11351"/>
                  <a:pt x="115978" y="13748"/>
                </a:cubicBezTo>
                <a:lnTo>
                  <a:pt x="130079" y="27849"/>
                </a:lnTo>
                <a:lnTo>
                  <a:pt x="155953" y="1974"/>
                </a:lnTo>
                <a:cubicBezTo>
                  <a:pt x="157222" y="705"/>
                  <a:pt x="158950" y="0"/>
                  <a:pt x="160748" y="0"/>
                </a:cubicBezTo>
                <a:cubicBezTo>
                  <a:pt x="162545" y="0"/>
                  <a:pt x="164273" y="705"/>
                  <a:pt x="165577" y="2009"/>
                </a:cubicBezTo>
                <a:lnTo>
                  <a:pt x="178514" y="14947"/>
                </a:lnTo>
                <a:cubicBezTo>
                  <a:pt x="179783" y="16216"/>
                  <a:pt x="180489" y="17943"/>
                  <a:pt x="180489" y="19741"/>
                </a:cubicBezTo>
                <a:cubicBezTo>
                  <a:pt x="180489" y="21539"/>
                  <a:pt x="179783" y="23266"/>
                  <a:pt x="178479" y="24570"/>
                </a:cubicBezTo>
                <a:lnTo>
                  <a:pt x="152640" y="50410"/>
                </a:lnTo>
                <a:lnTo>
                  <a:pt x="166740" y="64511"/>
                </a:lnTo>
                <a:cubicBezTo>
                  <a:pt x="169173" y="66943"/>
                  <a:pt x="169878" y="70574"/>
                  <a:pt x="168573" y="73746"/>
                </a:cubicBezTo>
                <a:cubicBezTo>
                  <a:pt x="167269" y="76919"/>
                  <a:pt x="164167" y="78964"/>
                  <a:pt x="160748" y="78964"/>
                </a:cubicBezTo>
                <a:close/>
                <a:moveTo>
                  <a:pt x="160748" y="101525"/>
                </a:moveTo>
                <a:cubicBezTo>
                  <a:pt x="164167" y="101525"/>
                  <a:pt x="167269" y="103569"/>
                  <a:pt x="168573" y="106742"/>
                </a:cubicBezTo>
                <a:cubicBezTo>
                  <a:pt x="169878" y="109915"/>
                  <a:pt x="169173" y="113546"/>
                  <a:pt x="166740" y="115978"/>
                </a:cubicBezTo>
                <a:lnTo>
                  <a:pt x="152640" y="130079"/>
                </a:lnTo>
                <a:lnTo>
                  <a:pt x="178514" y="155953"/>
                </a:lnTo>
                <a:cubicBezTo>
                  <a:pt x="179783" y="157222"/>
                  <a:pt x="180524" y="158950"/>
                  <a:pt x="180524" y="160783"/>
                </a:cubicBezTo>
                <a:cubicBezTo>
                  <a:pt x="180524" y="162616"/>
                  <a:pt x="179819" y="164308"/>
                  <a:pt x="178514" y="165612"/>
                </a:cubicBezTo>
                <a:lnTo>
                  <a:pt x="165577" y="178550"/>
                </a:lnTo>
                <a:cubicBezTo>
                  <a:pt x="164273" y="179783"/>
                  <a:pt x="162545" y="180489"/>
                  <a:pt x="160748" y="180489"/>
                </a:cubicBezTo>
                <a:cubicBezTo>
                  <a:pt x="158950" y="180489"/>
                  <a:pt x="157222" y="179783"/>
                  <a:pt x="155918" y="178479"/>
                </a:cubicBezTo>
                <a:lnTo>
                  <a:pt x="130079" y="152640"/>
                </a:lnTo>
                <a:lnTo>
                  <a:pt x="115978" y="166740"/>
                </a:lnTo>
                <a:cubicBezTo>
                  <a:pt x="113546" y="169173"/>
                  <a:pt x="109915" y="169878"/>
                  <a:pt x="106742" y="168573"/>
                </a:cubicBezTo>
                <a:cubicBezTo>
                  <a:pt x="103569" y="167269"/>
                  <a:pt x="101525" y="164167"/>
                  <a:pt x="101525" y="160748"/>
                </a:cubicBezTo>
                <a:lnTo>
                  <a:pt x="101525" y="109985"/>
                </a:lnTo>
                <a:cubicBezTo>
                  <a:pt x="101525" y="105297"/>
                  <a:pt x="105297" y="101525"/>
                  <a:pt x="109985" y="101525"/>
                </a:cubicBezTo>
                <a:lnTo>
                  <a:pt x="160748" y="101525"/>
                </a:lnTo>
                <a:close/>
                <a:moveTo>
                  <a:pt x="70503" y="101525"/>
                </a:moveTo>
                <a:cubicBezTo>
                  <a:pt x="75192" y="101525"/>
                  <a:pt x="78964" y="105297"/>
                  <a:pt x="78964" y="109985"/>
                </a:cubicBezTo>
                <a:lnTo>
                  <a:pt x="78964" y="160748"/>
                </a:lnTo>
                <a:cubicBezTo>
                  <a:pt x="78964" y="164167"/>
                  <a:pt x="76919" y="167269"/>
                  <a:pt x="73746" y="168573"/>
                </a:cubicBezTo>
                <a:cubicBezTo>
                  <a:pt x="70574" y="169878"/>
                  <a:pt x="66943" y="169173"/>
                  <a:pt x="64511" y="166740"/>
                </a:cubicBezTo>
                <a:lnTo>
                  <a:pt x="50410" y="152640"/>
                </a:lnTo>
                <a:lnTo>
                  <a:pt x="24535" y="178514"/>
                </a:lnTo>
                <a:cubicBezTo>
                  <a:pt x="23266" y="179783"/>
                  <a:pt x="21539" y="180489"/>
                  <a:pt x="19741" y="180489"/>
                </a:cubicBezTo>
                <a:cubicBezTo>
                  <a:pt x="17943" y="180489"/>
                  <a:pt x="16216" y="179783"/>
                  <a:pt x="14911" y="178479"/>
                </a:cubicBezTo>
                <a:lnTo>
                  <a:pt x="2009" y="165577"/>
                </a:lnTo>
                <a:cubicBezTo>
                  <a:pt x="705" y="164273"/>
                  <a:pt x="0" y="162545"/>
                  <a:pt x="0" y="160748"/>
                </a:cubicBezTo>
                <a:cubicBezTo>
                  <a:pt x="0" y="158950"/>
                  <a:pt x="705" y="157222"/>
                  <a:pt x="2009" y="155918"/>
                </a:cubicBezTo>
                <a:lnTo>
                  <a:pt x="27849" y="130079"/>
                </a:lnTo>
                <a:lnTo>
                  <a:pt x="13748" y="115978"/>
                </a:lnTo>
                <a:cubicBezTo>
                  <a:pt x="11316" y="113546"/>
                  <a:pt x="10611" y="109915"/>
                  <a:pt x="11915" y="106742"/>
                </a:cubicBezTo>
                <a:cubicBezTo>
                  <a:pt x="13219" y="103569"/>
                  <a:pt x="16322" y="101525"/>
                  <a:pt x="19741" y="101525"/>
                </a:cubicBezTo>
                <a:lnTo>
                  <a:pt x="70503" y="101525"/>
                </a:lnTo>
                <a:close/>
                <a:moveTo>
                  <a:pt x="19741" y="78964"/>
                </a:moveTo>
                <a:cubicBezTo>
                  <a:pt x="16322" y="78964"/>
                  <a:pt x="13219" y="76919"/>
                  <a:pt x="11915" y="73746"/>
                </a:cubicBezTo>
                <a:cubicBezTo>
                  <a:pt x="10611" y="70574"/>
                  <a:pt x="11351" y="66943"/>
                  <a:pt x="13748" y="64511"/>
                </a:cubicBezTo>
                <a:lnTo>
                  <a:pt x="27849" y="50410"/>
                </a:lnTo>
                <a:lnTo>
                  <a:pt x="2009" y="24570"/>
                </a:lnTo>
                <a:cubicBezTo>
                  <a:pt x="705" y="23266"/>
                  <a:pt x="0" y="21539"/>
                  <a:pt x="0" y="19741"/>
                </a:cubicBezTo>
                <a:cubicBezTo>
                  <a:pt x="0" y="17943"/>
                  <a:pt x="705" y="16216"/>
                  <a:pt x="2009" y="14911"/>
                </a:cubicBezTo>
                <a:lnTo>
                  <a:pt x="14911" y="2009"/>
                </a:lnTo>
                <a:cubicBezTo>
                  <a:pt x="16216" y="705"/>
                  <a:pt x="17943" y="0"/>
                  <a:pt x="19741" y="0"/>
                </a:cubicBezTo>
                <a:cubicBezTo>
                  <a:pt x="21539" y="0"/>
                  <a:pt x="23266" y="705"/>
                  <a:pt x="24570" y="2009"/>
                </a:cubicBezTo>
                <a:lnTo>
                  <a:pt x="50410" y="27849"/>
                </a:lnTo>
                <a:lnTo>
                  <a:pt x="64511" y="13748"/>
                </a:lnTo>
                <a:cubicBezTo>
                  <a:pt x="66943" y="11316"/>
                  <a:pt x="70574" y="10611"/>
                  <a:pt x="73746" y="11915"/>
                </a:cubicBezTo>
                <a:cubicBezTo>
                  <a:pt x="76919" y="13219"/>
                  <a:pt x="78964" y="16322"/>
                  <a:pt x="78964" y="19741"/>
                </a:cubicBezTo>
                <a:lnTo>
                  <a:pt x="78964" y="70503"/>
                </a:lnTo>
                <a:cubicBezTo>
                  <a:pt x="78964" y="75192"/>
                  <a:pt x="75192" y="78964"/>
                  <a:pt x="70503" y="78964"/>
                </a:cubicBezTo>
                <a:lnTo>
                  <a:pt x="19741" y="78964"/>
                </a:ln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26" name="Text 37"/>
          <p:cNvSpPr/>
          <p:nvPr/>
        </p:nvSpPr>
        <p:spPr>
          <a:xfrm>
            <a:off x="8790480" y="1404360"/>
            <a:ext cx="1488600" cy="2883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700" spc="-1" strike="noStrike">
                <a:solidFill>
                  <a:srgbClr val="ffffff"/>
                </a:solidFill>
                <a:latin typeface="Liter"/>
                <a:ea typeface="Liter"/>
              </a:rPr>
              <a:t>3. Riduzione</a:t>
            </a:r>
            <a:endParaRPr b="0" lang="it-IT" sz="1700" spc="-1" strike="noStrike">
              <a:solidFill>
                <a:srgbClr val="000000"/>
              </a:solidFill>
              <a:latin typeface="Arial"/>
            </a:endParaRPr>
          </a:p>
        </p:txBody>
      </p:sp>
      <p:sp>
        <p:nvSpPr>
          <p:cNvPr id="227" name="Text 38"/>
          <p:cNvSpPr/>
          <p:nvPr/>
        </p:nvSpPr>
        <p:spPr>
          <a:xfrm>
            <a:off x="8790480" y="1693440"/>
            <a:ext cx="145260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ffffff"/>
                </a:solidFill>
                <a:latin typeface="Quattrocento Sans"/>
                <a:ea typeface="Quattrocento Sans"/>
              </a:rPr>
              <a:t>Combinazione risultati</a:t>
            </a:r>
            <a:endParaRPr b="0" lang="it-IT" sz="1130" spc="-1" strike="noStrike">
              <a:solidFill>
                <a:srgbClr val="000000"/>
              </a:solidFill>
              <a:latin typeface="Arial"/>
            </a:endParaRPr>
          </a:p>
        </p:txBody>
      </p:sp>
      <p:sp>
        <p:nvSpPr>
          <p:cNvPr id="228" name="Text 39"/>
          <p:cNvSpPr/>
          <p:nvPr/>
        </p:nvSpPr>
        <p:spPr>
          <a:xfrm>
            <a:off x="8249040" y="2198520"/>
            <a:ext cx="351000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Riduzione finale con </a:t>
            </a:r>
            <a:r>
              <a:rPr b="0" lang="en-US" sz="1130" spc="-1" strike="noStrike">
                <a:solidFill>
                  <a:srgbClr val="2e3440"/>
                </a:solidFill>
                <a:highlight>
                  <a:srgbClr val="2e3440"/>
                </a:highlight>
                <a:latin typeface="MiSans"/>
                <a:ea typeface="MiSans"/>
              </a:rPr>
              <a:t>#pragma omp critical</a:t>
            </a:r>
            <a:endParaRPr b="0" lang="it-IT" sz="1130" spc="-1" strike="noStrike">
              <a:solidFill>
                <a:srgbClr val="000000"/>
              </a:solidFill>
              <a:latin typeface="Arial"/>
            </a:endParaRPr>
          </a:p>
        </p:txBody>
      </p:sp>
      <p:sp>
        <p:nvSpPr>
          <p:cNvPr id="229" name="Shape 40"/>
          <p:cNvSpPr/>
          <p:nvPr/>
        </p:nvSpPr>
        <p:spPr>
          <a:xfrm>
            <a:off x="8265240" y="2523600"/>
            <a:ext cx="3418200" cy="1226880"/>
          </a:xfrm>
          <a:custGeom>
            <a:avLst/>
            <a:gdLst>
              <a:gd name="textAreaLeft" fmla="*/ 0 w 3418200"/>
              <a:gd name="textAreaRight" fmla="*/ 3418560 w 3418200"/>
              <a:gd name="textAreaTop" fmla="*/ 0 h 1226880"/>
              <a:gd name="textAreaBottom" fmla="*/ 1227240 h 1226880"/>
            </a:gdLst>
            <a:ahLst/>
            <a:rect l="textAreaLeft" t="textAreaTop" r="textAreaRight" b="textAreaBottom"/>
            <a:pathLst>
              <a:path w="3418617" h="1227322">
                <a:moveTo>
                  <a:pt x="32816" y="0"/>
                </a:moveTo>
                <a:lnTo>
                  <a:pt x="3346426" y="0"/>
                </a:lnTo>
                <a:cubicBezTo>
                  <a:pt x="3386269" y="0"/>
                  <a:pt x="3418617" y="32348"/>
                  <a:pt x="3418617" y="72191"/>
                </a:cubicBezTo>
                <a:lnTo>
                  <a:pt x="3418617" y="1155131"/>
                </a:lnTo>
                <a:cubicBezTo>
                  <a:pt x="3418617" y="1195001"/>
                  <a:pt x="3386296" y="1227322"/>
                  <a:pt x="3346426" y="1227322"/>
                </a:cubicBezTo>
                <a:lnTo>
                  <a:pt x="32816" y="1227322"/>
                </a:lnTo>
                <a:cubicBezTo>
                  <a:pt x="14692" y="1227322"/>
                  <a:pt x="0" y="1212630"/>
                  <a:pt x="0" y="1194506"/>
                </a:cubicBezTo>
                <a:lnTo>
                  <a:pt x="0" y="32816"/>
                </a:lnTo>
                <a:cubicBezTo>
                  <a:pt x="0" y="14692"/>
                  <a:pt x="14692" y="0"/>
                  <a:pt x="32816" y="0"/>
                </a:cubicBezTo>
                <a:close/>
              </a:path>
            </a:pathLst>
          </a:custGeom>
          <a:solidFill>
            <a:srgbClr val="5e81ac">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30" name="Shape 41"/>
          <p:cNvSpPr/>
          <p:nvPr/>
        </p:nvSpPr>
        <p:spPr>
          <a:xfrm>
            <a:off x="8265240" y="2523600"/>
            <a:ext cx="32400" cy="1226880"/>
          </a:xfrm>
          <a:custGeom>
            <a:avLst/>
            <a:gdLst>
              <a:gd name="textAreaLeft" fmla="*/ 0 w 32400"/>
              <a:gd name="textAreaRight" fmla="*/ 32760 w 32400"/>
              <a:gd name="textAreaTop" fmla="*/ 0 h 1226880"/>
              <a:gd name="textAreaBottom" fmla="*/ 1227240 h 1226880"/>
            </a:gdLst>
            <a:ahLst/>
            <a:rect l="textAreaLeft" t="textAreaTop" r="textAreaRight" b="textAreaBottom"/>
            <a:pathLst>
              <a:path w="32816" h="1227322">
                <a:moveTo>
                  <a:pt x="32816" y="0"/>
                </a:moveTo>
                <a:lnTo>
                  <a:pt x="32816" y="0"/>
                </a:lnTo>
                <a:lnTo>
                  <a:pt x="32816" y="1227322"/>
                </a:lnTo>
                <a:lnTo>
                  <a:pt x="32816" y="1227322"/>
                </a:lnTo>
                <a:cubicBezTo>
                  <a:pt x="14692" y="1227322"/>
                  <a:pt x="0" y="1212630"/>
                  <a:pt x="0" y="1194506"/>
                </a:cubicBezTo>
                <a:lnTo>
                  <a:pt x="0" y="32816"/>
                </a:lnTo>
                <a:cubicBezTo>
                  <a:pt x="0" y="14704"/>
                  <a:pt x="14704" y="0"/>
                  <a:pt x="3281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31" name="Text 42"/>
          <p:cNvSpPr/>
          <p:nvPr/>
        </p:nvSpPr>
        <p:spPr>
          <a:xfrm>
            <a:off x="8390160" y="263196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Sequenza:</a:t>
            </a:r>
            <a:endParaRPr b="0" lang="it-IT" sz="1130" spc="-1" strike="noStrike">
              <a:solidFill>
                <a:srgbClr val="000000"/>
              </a:solidFill>
              <a:latin typeface="Arial"/>
            </a:endParaRPr>
          </a:p>
        </p:txBody>
      </p:sp>
      <p:sp>
        <p:nvSpPr>
          <p:cNvPr id="232" name="Text 43"/>
          <p:cNvSpPr/>
          <p:nvPr/>
        </p:nvSpPr>
        <p:spPr>
          <a:xfrm>
            <a:off x="8390160" y="292068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Confronta SAD locale con globale</a:t>
            </a:r>
            <a:endParaRPr b="0" lang="it-IT" sz="1130" spc="-1" strike="noStrike">
              <a:solidFill>
                <a:srgbClr val="000000"/>
              </a:solidFill>
              <a:latin typeface="Arial"/>
            </a:endParaRPr>
          </a:p>
        </p:txBody>
      </p:sp>
      <p:sp>
        <p:nvSpPr>
          <p:cNvPr id="233" name="Text 44"/>
          <p:cNvSpPr/>
          <p:nvPr/>
        </p:nvSpPr>
        <p:spPr>
          <a:xfrm>
            <a:off x="8390160" y="317340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Aggiorna se minore (atomico)</a:t>
            </a:r>
            <a:endParaRPr b="0" lang="it-IT" sz="1130" spc="-1" strike="noStrike">
              <a:solidFill>
                <a:srgbClr val="000000"/>
              </a:solidFill>
              <a:latin typeface="Arial"/>
            </a:endParaRPr>
          </a:p>
        </p:txBody>
      </p:sp>
      <p:sp>
        <p:nvSpPr>
          <p:cNvPr id="234" name="Text 45"/>
          <p:cNvSpPr/>
          <p:nvPr/>
        </p:nvSpPr>
        <p:spPr>
          <a:xfrm>
            <a:off x="8390160" y="3426120"/>
            <a:ext cx="325728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2e3440"/>
                </a:solidFill>
                <a:latin typeface="Quattrocento Sans"/>
                <a:ea typeface="Quattrocento Sans"/>
              </a:rPr>
              <a:t>• </a:t>
            </a:r>
            <a:r>
              <a:rPr b="0" lang="en-US" sz="1130" spc="-1" strike="noStrike">
                <a:solidFill>
                  <a:srgbClr val="2e3440"/>
                </a:solidFill>
                <a:latin typeface="Quattrocento Sans"/>
                <a:ea typeface="Quattrocento Sans"/>
              </a:rPr>
              <a:t>Critica: evita condizioni di gara</a:t>
            </a:r>
            <a:endParaRPr b="0" lang="it-IT" sz="1130" spc="-1" strike="noStrike">
              <a:solidFill>
                <a:srgbClr val="000000"/>
              </a:solidFill>
              <a:latin typeface="Arial"/>
            </a:endParaRPr>
          </a:p>
        </p:txBody>
      </p:sp>
      <p:sp>
        <p:nvSpPr>
          <p:cNvPr id="235" name="Text 46"/>
          <p:cNvSpPr/>
          <p:nvPr/>
        </p:nvSpPr>
        <p:spPr>
          <a:xfrm>
            <a:off x="8249040" y="3859200"/>
            <a:ext cx="3510000" cy="4327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Vantaggio:</a:t>
            </a:r>
            <a:r>
              <a:rPr b="0" lang="en-US" sz="1130" spc="-1" strike="noStrike">
                <a:solidFill>
                  <a:srgbClr val="2e3440"/>
                </a:solidFill>
                <a:latin typeface="Quattrocento Sans"/>
                <a:ea typeface="Quattrocento Sans"/>
              </a:rPr>
              <a:t> Overhead minimo, sincronizzazione solo al termine.</a:t>
            </a:r>
            <a:endParaRPr b="0" lang="it-IT" sz="1130" spc="-1" strike="noStrike">
              <a:solidFill>
                <a:srgbClr val="000000"/>
              </a:solidFill>
              <a:latin typeface="Arial"/>
            </a:endParaRPr>
          </a:p>
        </p:txBody>
      </p:sp>
      <p:sp>
        <p:nvSpPr>
          <p:cNvPr id="236" name="Shape 47"/>
          <p:cNvSpPr/>
          <p:nvPr/>
        </p:nvSpPr>
        <p:spPr>
          <a:xfrm>
            <a:off x="361080" y="4761720"/>
            <a:ext cx="11469600" cy="1515600"/>
          </a:xfrm>
          <a:custGeom>
            <a:avLst/>
            <a:gdLst>
              <a:gd name="textAreaLeft" fmla="*/ 0 w 11469600"/>
              <a:gd name="textAreaRight" fmla="*/ 11469960 w 11469600"/>
              <a:gd name="textAreaTop" fmla="*/ 0 h 1515600"/>
              <a:gd name="textAreaBottom" fmla="*/ 1515960 h 1515600"/>
            </a:gdLst>
            <a:ahLst/>
            <a:rect l="textAreaLeft" t="textAreaTop" r="textAreaRight" b="textAreaBottom"/>
            <a:pathLst>
              <a:path w="11470046" h="1516104">
                <a:moveTo>
                  <a:pt x="72197" y="0"/>
                </a:moveTo>
                <a:lnTo>
                  <a:pt x="11397849" y="0"/>
                </a:lnTo>
                <a:cubicBezTo>
                  <a:pt x="11437722" y="0"/>
                  <a:pt x="11470046" y="32324"/>
                  <a:pt x="11470046" y="72197"/>
                </a:cubicBezTo>
                <a:lnTo>
                  <a:pt x="11470046" y="1443907"/>
                </a:lnTo>
                <a:cubicBezTo>
                  <a:pt x="11470046" y="1483780"/>
                  <a:pt x="11437722" y="1516104"/>
                  <a:pt x="11397849" y="1516104"/>
                </a:cubicBezTo>
                <a:lnTo>
                  <a:pt x="72197" y="1516104"/>
                </a:lnTo>
                <a:cubicBezTo>
                  <a:pt x="32324" y="1516104"/>
                  <a:pt x="0" y="1483780"/>
                  <a:pt x="0" y="1443907"/>
                </a:cubicBezTo>
                <a:lnTo>
                  <a:pt x="0" y="72197"/>
                </a:lnTo>
                <a:cubicBezTo>
                  <a:pt x="0" y="32350"/>
                  <a:pt x="32350" y="0"/>
                  <a:pt x="72197" y="0"/>
                </a:cubicBezTo>
                <a:close/>
              </a:path>
            </a:pathLst>
          </a:custGeom>
          <a:gradFill rotWithShape="0">
            <a:gsLst>
              <a:gs pos="0">
                <a:srgbClr val="2e3440"/>
              </a:gs>
              <a:gs pos="100000">
                <a:srgbClr val="5e81ac"/>
              </a:gs>
            </a:gsLst>
            <a:lin ang="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37" name="Text 48"/>
          <p:cNvSpPr/>
          <p:nvPr/>
        </p:nvSpPr>
        <p:spPr>
          <a:xfrm>
            <a:off x="505440" y="4906080"/>
            <a:ext cx="11289240" cy="2883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700" spc="-1" strike="noStrike">
                <a:solidFill>
                  <a:srgbClr val="ffffff"/>
                </a:solidFill>
                <a:latin typeface="Liter"/>
                <a:ea typeface="Liter"/>
              </a:rPr>
              <a:t>Approccio Ibrido: OpenMP + SIMD</a:t>
            </a:r>
            <a:endParaRPr b="0" lang="it-IT" sz="1700" spc="-1" strike="noStrike">
              <a:solidFill>
                <a:srgbClr val="000000"/>
              </a:solidFill>
              <a:latin typeface="Arial"/>
            </a:endParaRPr>
          </a:p>
        </p:txBody>
      </p:sp>
      <p:sp>
        <p:nvSpPr>
          <p:cNvPr id="238" name="Shape 49"/>
          <p:cNvSpPr/>
          <p:nvPr/>
        </p:nvSpPr>
        <p:spPr>
          <a:xfrm>
            <a:off x="505440" y="5303160"/>
            <a:ext cx="3627360" cy="829800"/>
          </a:xfrm>
          <a:custGeom>
            <a:avLst/>
            <a:gdLst>
              <a:gd name="textAreaLeft" fmla="*/ 0 w 3627360"/>
              <a:gd name="textAreaRight" fmla="*/ 3627720 w 3627360"/>
              <a:gd name="textAreaTop" fmla="*/ 0 h 829800"/>
              <a:gd name="textAreaBottom" fmla="*/ 830160 h 829800"/>
            </a:gdLst>
            <a:ahLst/>
            <a:rect l="textAreaLeft" t="textAreaTop" r="textAreaRight" b="textAreaBottom"/>
            <a:pathLst>
              <a:path w="3627819" h="830247">
                <a:moveTo>
                  <a:pt x="72198" y="0"/>
                </a:moveTo>
                <a:lnTo>
                  <a:pt x="3555621" y="0"/>
                </a:lnTo>
                <a:cubicBezTo>
                  <a:pt x="3595495" y="0"/>
                  <a:pt x="3627819" y="32324"/>
                  <a:pt x="3627819" y="72198"/>
                </a:cubicBezTo>
                <a:lnTo>
                  <a:pt x="3627819" y="758049"/>
                </a:lnTo>
                <a:cubicBezTo>
                  <a:pt x="3627819" y="797923"/>
                  <a:pt x="3595495" y="830247"/>
                  <a:pt x="3555621" y="830247"/>
                </a:cubicBezTo>
                <a:lnTo>
                  <a:pt x="72198" y="830247"/>
                </a:lnTo>
                <a:cubicBezTo>
                  <a:pt x="32351" y="830247"/>
                  <a:pt x="0" y="797896"/>
                  <a:pt x="0" y="758049"/>
                </a:cubicBezTo>
                <a:lnTo>
                  <a:pt x="0" y="72198"/>
                </a:lnTo>
                <a:cubicBezTo>
                  <a:pt x="0" y="32351"/>
                  <a:pt x="32351" y="0"/>
                  <a:pt x="72198"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39" name="Text 50"/>
          <p:cNvSpPr/>
          <p:nvPr/>
        </p:nvSpPr>
        <p:spPr>
          <a:xfrm>
            <a:off x="649800" y="5447520"/>
            <a:ext cx="3420000" cy="2523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80" spc="-1" strike="noStrike">
                <a:solidFill>
                  <a:srgbClr val="ffffff"/>
                </a:solidFill>
                <a:latin typeface="Liter"/>
                <a:ea typeface="Liter"/>
              </a:rPr>
              <a:t>Parallelismo</a:t>
            </a:r>
            <a:endParaRPr b="0" lang="it-IT" sz="1280" spc="-1" strike="noStrike">
              <a:solidFill>
                <a:srgbClr val="000000"/>
              </a:solidFill>
              <a:latin typeface="Arial"/>
            </a:endParaRPr>
          </a:p>
        </p:txBody>
      </p:sp>
      <p:sp>
        <p:nvSpPr>
          <p:cNvPr id="240" name="Text 51"/>
          <p:cNvSpPr/>
          <p:nvPr/>
        </p:nvSpPr>
        <p:spPr>
          <a:xfrm>
            <a:off x="649800" y="5772240"/>
            <a:ext cx="341100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ffffff"/>
                </a:solidFill>
                <a:latin typeface="Quattrocento Sans"/>
                <a:ea typeface="Quattrocento Sans"/>
              </a:rPr>
              <a:t>OpenMP per distribuire il lavoro su più thread</a:t>
            </a:r>
            <a:endParaRPr b="0" lang="it-IT" sz="1130" spc="-1" strike="noStrike">
              <a:solidFill>
                <a:srgbClr val="000000"/>
              </a:solidFill>
              <a:latin typeface="Arial"/>
            </a:endParaRPr>
          </a:p>
        </p:txBody>
      </p:sp>
      <p:sp>
        <p:nvSpPr>
          <p:cNvPr id="241" name="Shape 52"/>
          <p:cNvSpPr/>
          <p:nvPr/>
        </p:nvSpPr>
        <p:spPr>
          <a:xfrm>
            <a:off x="4280760" y="5303160"/>
            <a:ext cx="3627360" cy="829800"/>
          </a:xfrm>
          <a:custGeom>
            <a:avLst/>
            <a:gdLst>
              <a:gd name="textAreaLeft" fmla="*/ 0 w 3627360"/>
              <a:gd name="textAreaRight" fmla="*/ 3627720 w 3627360"/>
              <a:gd name="textAreaTop" fmla="*/ 0 h 829800"/>
              <a:gd name="textAreaBottom" fmla="*/ 830160 h 829800"/>
            </a:gdLst>
            <a:ahLst/>
            <a:rect l="textAreaLeft" t="textAreaTop" r="textAreaRight" b="textAreaBottom"/>
            <a:pathLst>
              <a:path w="3627819" h="830247">
                <a:moveTo>
                  <a:pt x="72198" y="0"/>
                </a:moveTo>
                <a:lnTo>
                  <a:pt x="3555621" y="0"/>
                </a:lnTo>
                <a:cubicBezTo>
                  <a:pt x="3595495" y="0"/>
                  <a:pt x="3627819" y="32324"/>
                  <a:pt x="3627819" y="72198"/>
                </a:cubicBezTo>
                <a:lnTo>
                  <a:pt x="3627819" y="758049"/>
                </a:lnTo>
                <a:cubicBezTo>
                  <a:pt x="3627819" y="797923"/>
                  <a:pt x="3595495" y="830247"/>
                  <a:pt x="3555621" y="830247"/>
                </a:cubicBezTo>
                <a:lnTo>
                  <a:pt x="72198" y="830247"/>
                </a:lnTo>
                <a:cubicBezTo>
                  <a:pt x="32351" y="830247"/>
                  <a:pt x="0" y="797896"/>
                  <a:pt x="0" y="758049"/>
                </a:cubicBezTo>
                <a:lnTo>
                  <a:pt x="0" y="72198"/>
                </a:lnTo>
                <a:cubicBezTo>
                  <a:pt x="0" y="32351"/>
                  <a:pt x="32351" y="0"/>
                  <a:pt x="72198"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42" name="Text 53"/>
          <p:cNvSpPr/>
          <p:nvPr/>
        </p:nvSpPr>
        <p:spPr>
          <a:xfrm>
            <a:off x="4425120" y="5447520"/>
            <a:ext cx="3420000" cy="2523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80" spc="-1" strike="noStrike">
                <a:solidFill>
                  <a:srgbClr val="ffffff"/>
                </a:solidFill>
                <a:latin typeface="Liter"/>
                <a:ea typeface="Liter"/>
              </a:rPr>
              <a:t>Vettorizzazione</a:t>
            </a:r>
            <a:endParaRPr b="0" lang="it-IT" sz="1280" spc="-1" strike="noStrike">
              <a:solidFill>
                <a:srgbClr val="000000"/>
              </a:solidFill>
              <a:latin typeface="Arial"/>
            </a:endParaRPr>
          </a:p>
        </p:txBody>
      </p:sp>
      <p:sp>
        <p:nvSpPr>
          <p:cNvPr id="243" name="Text 54"/>
          <p:cNvSpPr/>
          <p:nvPr/>
        </p:nvSpPr>
        <p:spPr>
          <a:xfrm>
            <a:off x="4425120" y="5772240"/>
            <a:ext cx="341100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ffffff"/>
                </a:solidFill>
                <a:latin typeface="Quattrocento Sans"/>
                <a:ea typeface="Quattrocento Sans"/>
              </a:rPr>
              <a:t>SIMD per parallelismo a livello di istruzione</a:t>
            </a:r>
            <a:endParaRPr b="0" lang="it-IT" sz="1130" spc="-1" strike="noStrike">
              <a:solidFill>
                <a:srgbClr val="000000"/>
              </a:solidFill>
              <a:latin typeface="Arial"/>
            </a:endParaRPr>
          </a:p>
        </p:txBody>
      </p:sp>
      <p:sp>
        <p:nvSpPr>
          <p:cNvPr id="244" name="Shape 55"/>
          <p:cNvSpPr/>
          <p:nvPr/>
        </p:nvSpPr>
        <p:spPr>
          <a:xfrm>
            <a:off x="8056440" y="5303160"/>
            <a:ext cx="3627360" cy="829800"/>
          </a:xfrm>
          <a:custGeom>
            <a:avLst/>
            <a:gdLst>
              <a:gd name="textAreaLeft" fmla="*/ 0 w 3627360"/>
              <a:gd name="textAreaRight" fmla="*/ 3627720 w 3627360"/>
              <a:gd name="textAreaTop" fmla="*/ 0 h 829800"/>
              <a:gd name="textAreaBottom" fmla="*/ 830160 h 829800"/>
            </a:gdLst>
            <a:ahLst/>
            <a:rect l="textAreaLeft" t="textAreaTop" r="textAreaRight" b="textAreaBottom"/>
            <a:pathLst>
              <a:path w="3627819" h="830247">
                <a:moveTo>
                  <a:pt x="72198" y="0"/>
                </a:moveTo>
                <a:lnTo>
                  <a:pt x="3555621" y="0"/>
                </a:lnTo>
                <a:cubicBezTo>
                  <a:pt x="3595495" y="0"/>
                  <a:pt x="3627819" y="32324"/>
                  <a:pt x="3627819" y="72198"/>
                </a:cubicBezTo>
                <a:lnTo>
                  <a:pt x="3627819" y="758049"/>
                </a:lnTo>
                <a:cubicBezTo>
                  <a:pt x="3627819" y="797923"/>
                  <a:pt x="3595495" y="830247"/>
                  <a:pt x="3555621" y="830247"/>
                </a:cubicBezTo>
                <a:lnTo>
                  <a:pt x="72198" y="830247"/>
                </a:lnTo>
                <a:cubicBezTo>
                  <a:pt x="32351" y="830247"/>
                  <a:pt x="0" y="797896"/>
                  <a:pt x="0" y="758049"/>
                </a:cubicBezTo>
                <a:lnTo>
                  <a:pt x="0" y="72198"/>
                </a:lnTo>
                <a:cubicBezTo>
                  <a:pt x="0" y="32351"/>
                  <a:pt x="32351" y="0"/>
                  <a:pt x="72198"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45" name="Text 56"/>
          <p:cNvSpPr/>
          <p:nvPr/>
        </p:nvSpPr>
        <p:spPr>
          <a:xfrm>
            <a:off x="8200800" y="5447520"/>
            <a:ext cx="3420000" cy="2523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80" spc="-1" strike="noStrike">
                <a:solidFill>
                  <a:srgbClr val="ffffff"/>
                </a:solidFill>
                <a:latin typeface="Liter"/>
                <a:ea typeface="Liter"/>
              </a:rPr>
              <a:t>Efficienza</a:t>
            </a:r>
            <a:endParaRPr b="0" lang="it-IT" sz="1280" spc="-1" strike="noStrike">
              <a:solidFill>
                <a:srgbClr val="000000"/>
              </a:solidFill>
              <a:latin typeface="Arial"/>
            </a:endParaRPr>
          </a:p>
        </p:txBody>
      </p:sp>
      <p:sp>
        <p:nvSpPr>
          <p:cNvPr id="246" name="Text 57"/>
          <p:cNvSpPr/>
          <p:nvPr/>
        </p:nvSpPr>
        <p:spPr>
          <a:xfrm>
            <a:off x="8200800" y="5772240"/>
            <a:ext cx="3411000" cy="2163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30" spc="-1" strike="noStrike">
                <a:solidFill>
                  <a:srgbClr val="ffffff"/>
                </a:solidFill>
                <a:latin typeface="Quattrocento Sans"/>
                <a:ea typeface="Quattrocento Sans"/>
              </a:rPr>
              <a:t>Speedup superlineare grazie all'approccio combinato</a:t>
            </a:r>
            <a:endParaRPr b="0" lang="it-IT" sz="1130" spc="-1" strike="noStrike">
              <a:solidFill>
                <a:srgbClr val="000000"/>
              </a:solidFill>
              <a:latin typeface="Arial"/>
            </a:endParaRPr>
          </a:p>
        </p:txBody>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247" name="Text 0"/>
          <p:cNvSpPr/>
          <p:nvPr/>
        </p:nvSpPr>
        <p:spPr>
          <a:xfrm>
            <a:off x="355320" y="355320"/>
            <a:ext cx="11551680" cy="21276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20" spc="111" strike="noStrike">
                <a:solidFill>
                  <a:srgbClr val="5e81ac"/>
                </a:solidFill>
                <a:latin typeface="Quattrocento Sans"/>
                <a:ea typeface="Quattrocento Sans"/>
              </a:rPr>
              <a:t>Dati Sperimentali</a:t>
            </a:r>
            <a:endParaRPr b="0" lang="it-IT" sz="1120" spc="-1" strike="noStrike">
              <a:solidFill>
                <a:srgbClr val="000000"/>
              </a:solidFill>
              <a:latin typeface="Arial"/>
            </a:endParaRPr>
          </a:p>
        </p:txBody>
      </p:sp>
      <p:sp>
        <p:nvSpPr>
          <p:cNvPr id="248" name="Text 1"/>
          <p:cNvSpPr/>
          <p:nvPr/>
        </p:nvSpPr>
        <p:spPr>
          <a:xfrm>
            <a:off x="355320" y="639720"/>
            <a:ext cx="11693880" cy="42624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359" spc="-1" strike="noStrike">
                <a:solidFill>
                  <a:srgbClr val="2e3440"/>
                </a:solidFill>
                <a:latin typeface="Liter"/>
                <a:ea typeface="Liter"/>
              </a:rPr>
              <a:t>Risultati Sperimentali</a:t>
            </a:r>
            <a:endParaRPr b="0" lang="it-IT" sz="3359" spc="-1" strike="noStrike">
              <a:solidFill>
                <a:srgbClr val="000000"/>
              </a:solidFill>
              <a:latin typeface="Arial"/>
            </a:endParaRPr>
          </a:p>
        </p:txBody>
      </p:sp>
      <p:sp>
        <p:nvSpPr>
          <p:cNvPr id="249" name="Shape 2"/>
          <p:cNvSpPr/>
          <p:nvPr/>
        </p:nvSpPr>
        <p:spPr>
          <a:xfrm>
            <a:off x="355320" y="1208520"/>
            <a:ext cx="2763360" cy="1208160"/>
          </a:xfrm>
          <a:custGeom>
            <a:avLst/>
            <a:gdLst>
              <a:gd name="textAreaLeft" fmla="*/ 0 w 2763360"/>
              <a:gd name="textAreaRight" fmla="*/ 2763720 w 2763360"/>
              <a:gd name="textAreaTop" fmla="*/ 0 h 1208160"/>
              <a:gd name="textAreaBottom" fmla="*/ 1208520 h 1208160"/>
            </a:gdLst>
            <a:ahLst/>
            <a:rect l="textAreaLeft" t="textAreaTop" r="textAreaRight" b="textAreaBottom"/>
            <a:pathLst>
              <a:path w="2763638" h="1208536">
                <a:moveTo>
                  <a:pt x="71086" y="0"/>
                </a:moveTo>
                <a:lnTo>
                  <a:pt x="2692552" y="0"/>
                </a:lnTo>
                <a:cubicBezTo>
                  <a:pt x="2731786" y="0"/>
                  <a:pt x="2763638" y="31853"/>
                  <a:pt x="2763638" y="71086"/>
                </a:cubicBezTo>
                <a:lnTo>
                  <a:pt x="2763638" y="1137450"/>
                </a:lnTo>
                <a:cubicBezTo>
                  <a:pt x="2763638" y="1176710"/>
                  <a:pt x="2731812" y="1208536"/>
                  <a:pt x="2692552" y="1208536"/>
                </a:cubicBezTo>
                <a:lnTo>
                  <a:pt x="71086" y="1208536"/>
                </a:lnTo>
                <a:cubicBezTo>
                  <a:pt x="31853" y="1208536"/>
                  <a:pt x="0" y="1176684"/>
                  <a:pt x="0" y="1137450"/>
                </a:cubicBezTo>
                <a:lnTo>
                  <a:pt x="0" y="71086"/>
                </a:lnTo>
                <a:cubicBezTo>
                  <a:pt x="0" y="31853"/>
                  <a:pt x="31853" y="0"/>
                  <a:pt x="71086" y="0"/>
                </a:cubicBezTo>
                <a:close/>
              </a:path>
            </a:pathLst>
          </a:custGeom>
          <a:gradFill rotWithShape="0">
            <a:gsLst>
              <a:gs pos="0">
                <a:srgbClr val="2e344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50" name="Text 3"/>
          <p:cNvSpPr/>
          <p:nvPr/>
        </p:nvSpPr>
        <p:spPr>
          <a:xfrm>
            <a:off x="462240" y="1350720"/>
            <a:ext cx="2549880" cy="21276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20" spc="-1" strike="noStrike">
                <a:solidFill>
                  <a:srgbClr val="ffffff">
                    <a:alpha val="80000"/>
                  </a:srgbClr>
                </a:solidFill>
                <a:latin typeface="Quattrocento Sans"/>
                <a:ea typeface="Quattrocento Sans"/>
              </a:rPr>
              <a:t>Baseline</a:t>
            </a:r>
            <a:endParaRPr b="0" lang="it-IT" sz="1120" spc="-1" strike="noStrike">
              <a:solidFill>
                <a:srgbClr val="000000"/>
              </a:solidFill>
              <a:latin typeface="Arial"/>
            </a:endParaRPr>
          </a:p>
        </p:txBody>
      </p:sp>
      <p:sp>
        <p:nvSpPr>
          <p:cNvPr id="251" name="Text 4"/>
          <p:cNvSpPr/>
          <p:nvPr/>
        </p:nvSpPr>
        <p:spPr>
          <a:xfrm>
            <a:off x="390960" y="1599480"/>
            <a:ext cx="2692080" cy="426240"/>
          </a:xfrm>
          <a:prstGeom prst="rect">
            <a:avLst/>
          </a:prstGeom>
          <a:noFill/>
          <a:ln w="0">
            <a:noFill/>
          </a:ln>
        </p:spPr>
        <p:style>
          <a:lnRef idx="0"/>
          <a:fillRef idx="0"/>
          <a:effectRef idx="0"/>
          <a:fontRef idx="minor"/>
        </p:style>
        <p:txBody>
          <a:bodyPr lIns="0" rIns="0" tIns="0" bIns="0" anchor="ctr">
            <a:noAutofit/>
          </a:bodyPr>
          <a:p>
            <a:pPr algn="ctr">
              <a:lnSpc>
                <a:spcPct val="80000"/>
              </a:lnSpc>
            </a:pPr>
            <a:r>
              <a:rPr b="1" lang="en-US" sz="3359" spc="-1" strike="noStrike">
                <a:solidFill>
                  <a:srgbClr val="ffffff"/>
                </a:solidFill>
                <a:latin typeface="Quattrocento Sans"/>
                <a:ea typeface="Quattrocento Sans"/>
              </a:rPr>
              <a:t>7.95s</a:t>
            </a:r>
            <a:endParaRPr b="0" lang="it-IT" sz="3359" spc="-1" strike="noStrike">
              <a:solidFill>
                <a:srgbClr val="000000"/>
              </a:solidFill>
              <a:latin typeface="Arial"/>
            </a:endParaRPr>
          </a:p>
        </p:txBody>
      </p:sp>
      <p:sp>
        <p:nvSpPr>
          <p:cNvPr id="252" name="Text 5"/>
          <p:cNvSpPr/>
          <p:nvPr/>
        </p:nvSpPr>
        <p:spPr>
          <a:xfrm>
            <a:off x="462240" y="2061720"/>
            <a:ext cx="2549880" cy="21276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20" spc="-1" strike="noStrike">
                <a:solidFill>
                  <a:srgbClr val="ffffff"/>
                </a:solidFill>
                <a:latin typeface="Quattrocento Sans"/>
                <a:ea typeface="Quattrocento Sans"/>
              </a:rPr>
              <a:t>Tempo sequenziale (1 thread)</a:t>
            </a:r>
            <a:endParaRPr b="0" lang="it-IT" sz="1120" spc="-1" strike="noStrike">
              <a:solidFill>
                <a:srgbClr val="000000"/>
              </a:solidFill>
              <a:latin typeface="Arial"/>
            </a:endParaRPr>
          </a:p>
        </p:txBody>
      </p:sp>
      <p:sp>
        <p:nvSpPr>
          <p:cNvPr id="253" name="Shape 6"/>
          <p:cNvSpPr/>
          <p:nvPr/>
        </p:nvSpPr>
        <p:spPr>
          <a:xfrm>
            <a:off x="3262320" y="1208520"/>
            <a:ext cx="2763360" cy="1208160"/>
          </a:xfrm>
          <a:custGeom>
            <a:avLst/>
            <a:gdLst>
              <a:gd name="textAreaLeft" fmla="*/ 0 w 2763360"/>
              <a:gd name="textAreaRight" fmla="*/ 2763720 w 2763360"/>
              <a:gd name="textAreaTop" fmla="*/ 0 h 1208160"/>
              <a:gd name="textAreaBottom" fmla="*/ 1208520 h 1208160"/>
            </a:gdLst>
            <a:ahLst/>
            <a:rect l="textAreaLeft" t="textAreaTop" r="textAreaRight" b="textAreaBottom"/>
            <a:pathLst>
              <a:path w="2763638" h="1208536">
                <a:moveTo>
                  <a:pt x="71086" y="0"/>
                </a:moveTo>
                <a:lnTo>
                  <a:pt x="2692552" y="0"/>
                </a:lnTo>
                <a:cubicBezTo>
                  <a:pt x="2731786" y="0"/>
                  <a:pt x="2763638" y="31853"/>
                  <a:pt x="2763638" y="71086"/>
                </a:cubicBezTo>
                <a:lnTo>
                  <a:pt x="2763638" y="1137450"/>
                </a:lnTo>
                <a:cubicBezTo>
                  <a:pt x="2763638" y="1176710"/>
                  <a:pt x="2731812" y="1208536"/>
                  <a:pt x="2692552" y="1208536"/>
                </a:cubicBezTo>
                <a:lnTo>
                  <a:pt x="71086" y="1208536"/>
                </a:lnTo>
                <a:cubicBezTo>
                  <a:pt x="31853" y="1208536"/>
                  <a:pt x="0" y="1176684"/>
                  <a:pt x="0" y="1137450"/>
                </a:cubicBezTo>
                <a:lnTo>
                  <a:pt x="0" y="71086"/>
                </a:lnTo>
                <a:cubicBezTo>
                  <a:pt x="0" y="31853"/>
                  <a:pt x="31853" y="0"/>
                  <a:pt x="71086" y="0"/>
                </a:cubicBezTo>
                <a:close/>
              </a:path>
            </a:pathLst>
          </a:custGeom>
          <a:gradFill rotWithShape="0">
            <a:gsLst>
              <a:gs pos="0">
                <a:srgbClr val="5e81ac"/>
              </a:gs>
              <a:gs pos="100000">
                <a:srgbClr val="88c0d0"/>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54" name="Text 7"/>
          <p:cNvSpPr/>
          <p:nvPr/>
        </p:nvSpPr>
        <p:spPr>
          <a:xfrm>
            <a:off x="3368880" y="1350720"/>
            <a:ext cx="2549880" cy="21276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20" spc="-1" strike="noStrike">
                <a:solidFill>
                  <a:srgbClr val="ffffff">
                    <a:alpha val="80000"/>
                  </a:srgbClr>
                </a:solidFill>
                <a:latin typeface="Quattrocento Sans"/>
                <a:ea typeface="Quattrocento Sans"/>
              </a:rPr>
              <a:t>Migliore</a:t>
            </a:r>
            <a:endParaRPr b="0" lang="it-IT" sz="1120" spc="-1" strike="noStrike">
              <a:solidFill>
                <a:srgbClr val="000000"/>
              </a:solidFill>
              <a:latin typeface="Arial"/>
            </a:endParaRPr>
          </a:p>
        </p:txBody>
      </p:sp>
      <p:sp>
        <p:nvSpPr>
          <p:cNvPr id="255" name="Text 8"/>
          <p:cNvSpPr/>
          <p:nvPr/>
        </p:nvSpPr>
        <p:spPr>
          <a:xfrm>
            <a:off x="3297600" y="1599480"/>
            <a:ext cx="2692080" cy="426240"/>
          </a:xfrm>
          <a:prstGeom prst="rect">
            <a:avLst/>
          </a:prstGeom>
          <a:noFill/>
          <a:ln w="0">
            <a:noFill/>
          </a:ln>
        </p:spPr>
        <p:style>
          <a:lnRef idx="0"/>
          <a:fillRef idx="0"/>
          <a:effectRef idx="0"/>
          <a:fontRef idx="minor"/>
        </p:style>
        <p:txBody>
          <a:bodyPr lIns="0" rIns="0" tIns="0" bIns="0" anchor="ctr">
            <a:noAutofit/>
          </a:bodyPr>
          <a:p>
            <a:pPr algn="ctr">
              <a:lnSpc>
                <a:spcPct val="80000"/>
              </a:lnSpc>
            </a:pPr>
            <a:r>
              <a:rPr b="1" lang="en-US" sz="3359" spc="-1" strike="noStrike">
                <a:solidFill>
                  <a:srgbClr val="ffffff"/>
                </a:solidFill>
                <a:latin typeface="Quattrocento Sans"/>
                <a:ea typeface="Quattrocento Sans"/>
              </a:rPr>
              <a:t>1.27s</a:t>
            </a:r>
            <a:endParaRPr b="0" lang="it-IT" sz="3359" spc="-1" strike="noStrike">
              <a:solidFill>
                <a:srgbClr val="000000"/>
              </a:solidFill>
              <a:latin typeface="Arial"/>
            </a:endParaRPr>
          </a:p>
        </p:txBody>
      </p:sp>
      <p:sp>
        <p:nvSpPr>
          <p:cNvPr id="256" name="Text 9"/>
          <p:cNvSpPr/>
          <p:nvPr/>
        </p:nvSpPr>
        <p:spPr>
          <a:xfrm>
            <a:off x="3368880" y="2061720"/>
            <a:ext cx="2549880" cy="21276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20" spc="-1" strike="noStrike">
                <a:solidFill>
                  <a:srgbClr val="ffffff"/>
                </a:solidFill>
                <a:latin typeface="Quattrocento Sans"/>
                <a:ea typeface="Quattrocento Sans"/>
              </a:rPr>
              <a:t>Con 24 thread</a:t>
            </a:r>
            <a:endParaRPr b="0" lang="it-IT" sz="1120" spc="-1" strike="noStrike">
              <a:solidFill>
                <a:srgbClr val="000000"/>
              </a:solidFill>
              <a:latin typeface="Arial"/>
            </a:endParaRPr>
          </a:p>
        </p:txBody>
      </p:sp>
      <p:sp>
        <p:nvSpPr>
          <p:cNvPr id="257" name="Shape 10"/>
          <p:cNvSpPr/>
          <p:nvPr/>
        </p:nvSpPr>
        <p:spPr>
          <a:xfrm>
            <a:off x="6168960" y="1208520"/>
            <a:ext cx="2763360" cy="1208160"/>
          </a:xfrm>
          <a:custGeom>
            <a:avLst/>
            <a:gdLst>
              <a:gd name="textAreaLeft" fmla="*/ 0 w 2763360"/>
              <a:gd name="textAreaRight" fmla="*/ 2763720 w 2763360"/>
              <a:gd name="textAreaTop" fmla="*/ 0 h 1208160"/>
              <a:gd name="textAreaBottom" fmla="*/ 1208520 h 1208160"/>
            </a:gdLst>
            <a:ahLst/>
            <a:rect l="textAreaLeft" t="textAreaTop" r="textAreaRight" b="textAreaBottom"/>
            <a:pathLst>
              <a:path w="2763638" h="1208536">
                <a:moveTo>
                  <a:pt x="71086" y="0"/>
                </a:moveTo>
                <a:lnTo>
                  <a:pt x="2692552" y="0"/>
                </a:lnTo>
                <a:cubicBezTo>
                  <a:pt x="2731786" y="0"/>
                  <a:pt x="2763638" y="31853"/>
                  <a:pt x="2763638" y="71086"/>
                </a:cubicBezTo>
                <a:lnTo>
                  <a:pt x="2763638" y="1137450"/>
                </a:lnTo>
                <a:cubicBezTo>
                  <a:pt x="2763638" y="1176710"/>
                  <a:pt x="2731812" y="1208536"/>
                  <a:pt x="2692552" y="1208536"/>
                </a:cubicBezTo>
                <a:lnTo>
                  <a:pt x="71086" y="1208536"/>
                </a:lnTo>
                <a:cubicBezTo>
                  <a:pt x="31853" y="1208536"/>
                  <a:pt x="0" y="1176684"/>
                  <a:pt x="0" y="1137450"/>
                </a:cubicBezTo>
                <a:lnTo>
                  <a:pt x="0" y="71086"/>
                </a:lnTo>
                <a:cubicBezTo>
                  <a:pt x="0" y="31853"/>
                  <a:pt x="31853" y="0"/>
                  <a:pt x="71086" y="0"/>
                </a:cubicBezTo>
                <a:close/>
              </a:path>
            </a:pathLst>
          </a:custGeom>
          <a:gradFill rotWithShape="0">
            <a:gsLst>
              <a:gs pos="0">
                <a:srgbClr val="88c0d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58" name="Text 11"/>
          <p:cNvSpPr/>
          <p:nvPr/>
        </p:nvSpPr>
        <p:spPr>
          <a:xfrm>
            <a:off x="6275520" y="1350720"/>
            <a:ext cx="2549880" cy="21276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20" spc="-1" strike="noStrike">
                <a:solidFill>
                  <a:srgbClr val="ffffff">
                    <a:alpha val="80000"/>
                  </a:srgbClr>
                </a:solidFill>
                <a:latin typeface="Quattrocento Sans"/>
                <a:ea typeface="Quattrocento Sans"/>
              </a:rPr>
              <a:t>Speedup</a:t>
            </a:r>
            <a:endParaRPr b="0" lang="it-IT" sz="1120" spc="-1" strike="noStrike">
              <a:solidFill>
                <a:srgbClr val="000000"/>
              </a:solidFill>
              <a:latin typeface="Arial"/>
            </a:endParaRPr>
          </a:p>
        </p:txBody>
      </p:sp>
      <p:sp>
        <p:nvSpPr>
          <p:cNvPr id="259" name="Text 12"/>
          <p:cNvSpPr/>
          <p:nvPr/>
        </p:nvSpPr>
        <p:spPr>
          <a:xfrm>
            <a:off x="6204600" y="1599480"/>
            <a:ext cx="2692080" cy="426240"/>
          </a:xfrm>
          <a:prstGeom prst="rect">
            <a:avLst/>
          </a:prstGeom>
          <a:noFill/>
          <a:ln w="0">
            <a:noFill/>
          </a:ln>
        </p:spPr>
        <p:style>
          <a:lnRef idx="0"/>
          <a:fillRef idx="0"/>
          <a:effectRef idx="0"/>
          <a:fontRef idx="minor"/>
        </p:style>
        <p:txBody>
          <a:bodyPr lIns="0" rIns="0" tIns="0" bIns="0" anchor="ctr">
            <a:noAutofit/>
          </a:bodyPr>
          <a:p>
            <a:pPr algn="ctr">
              <a:lnSpc>
                <a:spcPct val="80000"/>
              </a:lnSpc>
            </a:pPr>
            <a:r>
              <a:rPr b="1" lang="en-US" sz="3359" spc="-1" strike="noStrike">
                <a:solidFill>
                  <a:srgbClr val="ffffff"/>
                </a:solidFill>
                <a:latin typeface="Quattrocento Sans"/>
                <a:ea typeface="Quattrocento Sans"/>
              </a:rPr>
              <a:t>6.25x</a:t>
            </a:r>
            <a:endParaRPr b="0" lang="it-IT" sz="3359" spc="-1" strike="noStrike">
              <a:solidFill>
                <a:srgbClr val="000000"/>
              </a:solidFill>
              <a:latin typeface="Arial"/>
            </a:endParaRPr>
          </a:p>
        </p:txBody>
      </p:sp>
      <p:sp>
        <p:nvSpPr>
          <p:cNvPr id="260" name="Text 13"/>
          <p:cNvSpPr/>
          <p:nvPr/>
        </p:nvSpPr>
        <p:spPr>
          <a:xfrm>
            <a:off x="6275520" y="2061720"/>
            <a:ext cx="2549880" cy="21276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20" spc="-1" strike="noStrike">
                <a:solidFill>
                  <a:srgbClr val="ffffff"/>
                </a:solidFill>
                <a:latin typeface="Quattrocento Sans"/>
                <a:ea typeface="Quattrocento Sans"/>
              </a:rPr>
              <a:t>Miglioramento massimo</a:t>
            </a:r>
            <a:endParaRPr b="0" lang="it-IT" sz="1120" spc="-1" strike="noStrike">
              <a:solidFill>
                <a:srgbClr val="000000"/>
              </a:solidFill>
              <a:latin typeface="Arial"/>
            </a:endParaRPr>
          </a:p>
        </p:txBody>
      </p:sp>
      <p:sp>
        <p:nvSpPr>
          <p:cNvPr id="261" name="Shape 14"/>
          <p:cNvSpPr/>
          <p:nvPr/>
        </p:nvSpPr>
        <p:spPr>
          <a:xfrm>
            <a:off x="9075960" y="1208520"/>
            <a:ext cx="2763360" cy="1208160"/>
          </a:xfrm>
          <a:custGeom>
            <a:avLst/>
            <a:gdLst>
              <a:gd name="textAreaLeft" fmla="*/ 0 w 2763360"/>
              <a:gd name="textAreaRight" fmla="*/ 2763720 w 2763360"/>
              <a:gd name="textAreaTop" fmla="*/ 0 h 1208160"/>
              <a:gd name="textAreaBottom" fmla="*/ 1208520 h 1208160"/>
            </a:gdLst>
            <a:ahLst/>
            <a:rect l="textAreaLeft" t="textAreaTop" r="textAreaRight" b="textAreaBottom"/>
            <a:pathLst>
              <a:path w="2763638" h="1208536">
                <a:moveTo>
                  <a:pt x="71086" y="0"/>
                </a:moveTo>
                <a:lnTo>
                  <a:pt x="2692552" y="0"/>
                </a:lnTo>
                <a:cubicBezTo>
                  <a:pt x="2731786" y="0"/>
                  <a:pt x="2763638" y="31853"/>
                  <a:pt x="2763638" y="71086"/>
                </a:cubicBezTo>
                <a:lnTo>
                  <a:pt x="2763638" y="1137450"/>
                </a:lnTo>
                <a:cubicBezTo>
                  <a:pt x="2763638" y="1176710"/>
                  <a:pt x="2731812" y="1208536"/>
                  <a:pt x="2692552" y="1208536"/>
                </a:cubicBezTo>
                <a:lnTo>
                  <a:pt x="71086" y="1208536"/>
                </a:lnTo>
                <a:cubicBezTo>
                  <a:pt x="31853" y="1208536"/>
                  <a:pt x="0" y="1176684"/>
                  <a:pt x="0" y="1137450"/>
                </a:cubicBezTo>
                <a:lnTo>
                  <a:pt x="0" y="71086"/>
                </a:lnTo>
                <a:cubicBezTo>
                  <a:pt x="0" y="31853"/>
                  <a:pt x="31853" y="0"/>
                  <a:pt x="71086" y="0"/>
                </a:cubicBezTo>
                <a:close/>
              </a:path>
            </a:pathLst>
          </a:custGeom>
          <a:gradFill rotWithShape="0">
            <a:gsLst>
              <a:gs pos="0">
                <a:srgbClr val="5e81ac"/>
              </a:gs>
              <a:gs pos="100000">
                <a:srgbClr val="88c0d0"/>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62" name="Text 15"/>
          <p:cNvSpPr/>
          <p:nvPr/>
        </p:nvSpPr>
        <p:spPr>
          <a:xfrm>
            <a:off x="9182520" y="1350720"/>
            <a:ext cx="2549880" cy="21276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20" spc="-1" strike="noStrike">
                <a:solidFill>
                  <a:srgbClr val="ffffff">
                    <a:alpha val="80000"/>
                  </a:srgbClr>
                </a:solidFill>
                <a:latin typeface="Quattrocento Sans"/>
                <a:ea typeface="Quattrocento Sans"/>
              </a:rPr>
              <a:t>Efficienza</a:t>
            </a:r>
            <a:endParaRPr b="0" lang="it-IT" sz="1120" spc="-1" strike="noStrike">
              <a:solidFill>
                <a:srgbClr val="000000"/>
              </a:solidFill>
              <a:latin typeface="Arial"/>
            </a:endParaRPr>
          </a:p>
        </p:txBody>
      </p:sp>
      <p:sp>
        <p:nvSpPr>
          <p:cNvPr id="263" name="Text 16"/>
          <p:cNvSpPr/>
          <p:nvPr/>
        </p:nvSpPr>
        <p:spPr>
          <a:xfrm>
            <a:off x="9111240" y="1599480"/>
            <a:ext cx="2692080" cy="426240"/>
          </a:xfrm>
          <a:prstGeom prst="rect">
            <a:avLst/>
          </a:prstGeom>
          <a:noFill/>
          <a:ln w="0">
            <a:noFill/>
          </a:ln>
        </p:spPr>
        <p:style>
          <a:lnRef idx="0"/>
          <a:fillRef idx="0"/>
          <a:effectRef idx="0"/>
          <a:fontRef idx="minor"/>
        </p:style>
        <p:txBody>
          <a:bodyPr lIns="0" rIns="0" tIns="0" bIns="0" anchor="ctr">
            <a:noAutofit/>
          </a:bodyPr>
          <a:p>
            <a:pPr algn="ctr">
              <a:lnSpc>
                <a:spcPct val="80000"/>
              </a:lnSpc>
            </a:pPr>
            <a:r>
              <a:rPr b="1" lang="en-US" sz="3359" spc="-1" strike="noStrike">
                <a:solidFill>
                  <a:srgbClr val="ffffff"/>
                </a:solidFill>
                <a:latin typeface="Quattrocento Sans"/>
                <a:ea typeface="Quattrocento Sans"/>
              </a:rPr>
              <a:t>&lt;0.14s</a:t>
            </a:r>
            <a:endParaRPr b="0" lang="it-IT" sz="3359" spc="-1" strike="noStrike">
              <a:solidFill>
                <a:srgbClr val="000000"/>
              </a:solidFill>
              <a:latin typeface="Arial"/>
            </a:endParaRPr>
          </a:p>
        </p:txBody>
      </p:sp>
      <p:sp>
        <p:nvSpPr>
          <p:cNvPr id="264" name="Text 17"/>
          <p:cNvSpPr/>
          <p:nvPr/>
        </p:nvSpPr>
        <p:spPr>
          <a:xfrm>
            <a:off x="9182520" y="2061720"/>
            <a:ext cx="2549880" cy="21276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20" spc="-1" strike="noStrike">
                <a:solidFill>
                  <a:srgbClr val="ffffff"/>
                </a:solidFill>
                <a:latin typeface="Quattrocento Sans"/>
                <a:ea typeface="Quattrocento Sans"/>
              </a:rPr>
              <a:t>Deviazione standard</a:t>
            </a:r>
            <a:endParaRPr b="0" lang="it-IT" sz="1120" spc="-1" strike="noStrike">
              <a:solidFill>
                <a:srgbClr val="000000"/>
              </a:solidFill>
              <a:latin typeface="Arial"/>
            </a:endParaRPr>
          </a:p>
        </p:txBody>
      </p:sp>
      <p:sp>
        <p:nvSpPr>
          <p:cNvPr id="265" name="Shape 18"/>
          <p:cNvSpPr/>
          <p:nvPr/>
        </p:nvSpPr>
        <p:spPr>
          <a:xfrm>
            <a:off x="355320" y="2559240"/>
            <a:ext cx="5651280" cy="3945240"/>
          </a:xfrm>
          <a:custGeom>
            <a:avLst/>
            <a:gdLst>
              <a:gd name="textAreaLeft" fmla="*/ 0 w 5651280"/>
              <a:gd name="textAreaRight" fmla="*/ 5651640 w 5651280"/>
              <a:gd name="textAreaTop" fmla="*/ 0 h 3945240"/>
              <a:gd name="textAreaBottom" fmla="*/ 3945600 h 3945240"/>
            </a:gdLst>
            <a:ahLst/>
            <a:rect l="textAreaLeft" t="textAreaTop" r="textAreaRight" b="textAreaBottom"/>
            <a:pathLst>
              <a:path w="5651685" h="3945516">
                <a:moveTo>
                  <a:pt x="71098" y="0"/>
                </a:moveTo>
                <a:lnTo>
                  <a:pt x="5580587" y="0"/>
                </a:lnTo>
                <a:cubicBezTo>
                  <a:pt x="5619853" y="0"/>
                  <a:pt x="5651685" y="31832"/>
                  <a:pt x="5651685" y="71098"/>
                </a:cubicBezTo>
                <a:lnTo>
                  <a:pt x="5651685" y="3874418"/>
                </a:lnTo>
                <a:cubicBezTo>
                  <a:pt x="5651685" y="3913684"/>
                  <a:pt x="5619853" y="3945516"/>
                  <a:pt x="5580587" y="3945516"/>
                </a:cubicBezTo>
                <a:lnTo>
                  <a:pt x="71098" y="3945516"/>
                </a:lnTo>
                <a:cubicBezTo>
                  <a:pt x="31832" y="3945516"/>
                  <a:pt x="0" y="3913684"/>
                  <a:pt x="0" y="3874418"/>
                </a:cubicBezTo>
                <a:lnTo>
                  <a:pt x="0" y="71098"/>
                </a:lnTo>
                <a:cubicBezTo>
                  <a:pt x="0" y="31858"/>
                  <a:pt x="31858" y="0"/>
                  <a:pt x="71098" y="0"/>
                </a:cubicBezTo>
                <a:close/>
              </a:path>
            </a:pathLst>
          </a:custGeom>
          <a:solidFill>
            <a:srgbClr val="ffffff"/>
          </a:solidFill>
          <a:ln w="0">
            <a:noFill/>
          </a:ln>
          <a:effectLst>
            <a:outerShdw algn="bl" blurRad="53280" dir="5400000" dist="3564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66" name="Shape 19"/>
          <p:cNvSpPr/>
          <p:nvPr/>
        </p:nvSpPr>
        <p:spPr>
          <a:xfrm>
            <a:off x="355320" y="2559240"/>
            <a:ext cx="5651280" cy="461880"/>
          </a:xfrm>
          <a:custGeom>
            <a:avLst/>
            <a:gdLst>
              <a:gd name="textAreaLeft" fmla="*/ 0 w 5651280"/>
              <a:gd name="textAreaRight" fmla="*/ 5651640 w 5651280"/>
              <a:gd name="textAreaTop" fmla="*/ 0 h 461880"/>
              <a:gd name="textAreaBottom" fmla="*/ 462240 h 461880"/>
            </a:gdLst>
            <a:ahLst/>
            <a:rect l="textAreaLeft" t="textAreaTop" r="textAreaRight" b="textAreaBottom"/>
            <a:pathLst>
              <a:path w="5651685" h="462087">
                <a:moveTo>
                  <a:pt x="0" y="0"/>
                </a:moveTo>
                <a:lnTo>
                  <a:pt x="5651685" y="0"/>
                </a:lnTo>
                <a:lnTo>
                  <a:pt x="5651685" y="462087"/>
                </a:lnTo>
                <a:lnTo>
                  <a:pt x="0" y="462087"/>
                </a:lnTo>
                <a:lnTo>
                  <a:pt x="0" y="0"/>
                </a:ln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67" name="Text 20"/>
          <p:cNvSpPr/>
          <p:nvPr/>
        </p:nvSpPr>
        <p:spPr>
          <a:xfrm>
            <a:off x="533160" y="2665800"/>
            <a:ext cx="5384880" cy="24840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400" spc="-1" strike="noStrike">
                <a:solidFill>
                  <a:srgbClr val="ffffff"/>
                </a:solidFill>
                <a:latin typeface="Liter"/>
                <a:ea typeface="Liter"/>
              </a:rPr>
              <a:t>Tabella delle Prestazioni</a:t>
            </a:r>
            <a:endParaRPr b="0" lang="it-IT" sz="1400" spc="-1" strike="noStrike">
              <a:solidFill>
                <a:srgbClr val="000000"/>
              </a:solidFill>
              <a:latin typeface="Arial"/>
            </a:endParaRPr>
          </a:p>
        </p:txBody>
      </p:sp>
      <p:graphicFrame>
        <p:nvGraphicFramePr>
          <p:cNvPr id="268" name="Table 0"/>
          <p:cNvGraphicFramePr/>
          <p:nvPr/>
        </p:nvGraphicFramePr>
        <p:xfrm>
          <a:off x="497520" y="3163680"/>
          <a:ext cx="5366880" cy="2130480"/>
        </p:xfrm>
        <a:graphic>
          <a:graphicData uri="http://schemas.openxmlformats.org/drawingml/2006/table">
            <a:tbl>
              <a:tblPr/>
              <a:tblGrid>
                <a:gridCol w="1066320"/>
                <a:gridCol w="1528200"/>
                <a:gridCol w="1350360"/>
                <a:gridCol w="1421640"/>
              </a:tblGrid>
              <a:tr h="300600">
                <a:tc>
                  <a:txBody>
                    <a:bodyPr lIns="0" rIns="0" tIns="70920" bIns="70920" anchor="ctr">
                      <a:noAutofit/>
                    </a:bodyPr>
                    <a:p>
                      <a:pPr defTabSz="914400">
                        <a:lnSpc>
                          <a:spcPct val="100000"/>
                        </a:lnSpc>
                      </a:pPr>
                      <a:r>
                        <a:rPr b="1" lang="en-US" sz="1100" spc="-1" strike="noStrike">
                          <a:solidFill>
                            <a:srgbClr val="2e3440"/>
                          </a:solidFill>
                          <a:latin typeface="微软雅黑"/>
                          <a:ea typeface="微软雅黑"/>
                        </a:rPr>
                        <a:t>Thread</a:t>
                      </a:r>
                      <a:endParaRPr b="0" lang="it-IT" sz="1100" spc="-1" strike="noStrike">
                        <a:solidFill>
                          <a:srgbClr val="000000"/>
                        </a:solidFill>
                        <a:latin typeface="Arial"/>
                      </a:endParaRPr>
                    </a:p>
                  </a:txBody>
                  <a:tcPr anchor="ctr">
                    <a:lnL>
                      <a:noFill/>
                    </a:lnL>
                    <a:lnR>
                      <a:noFill/>
                    </a:lnR>
                    <a:lnT>
                      <a:noFill/>
                    </a:lnT>
                    <a:lnB w="18000">
                      <a:solidFill>
                        <a:srgbClr val="5e81ac"/>
                      </a:solidFill>
                      <a:prstDash val="solid"/>
                    </a:lnB>
                    <a:noFill/>
                  </a:tcPr>
                </a:tc>
                <a:tc>
                  <a:txBody>
                    <a:bodyPr lIns="0" rIns="0" tIns="70920" bIns="70920" anchor="ctr">
                      <a:noAutofit/>
                    </a:bodyPr>
                    <a:p>
                      <a:pPr algn="r" defTabSz="914400">
                        <a:lnSpc>
                          <a:spcPct val="100000"/>
                        </a:lnSpc>
                      </a:pPr>
                      <a:r>
                        <a:rPr b="1" lang="en-US" sz="1100" spc="-1" strike="noStrike">
                          <a:solidFill>
                            <a:srgbClr val="2e3440"/>
                          </a:solidFill>
                          <a:latin typeface="微软雅黑"/>
                          <a:ea typeface="微软雅黑"/>
                        </a:rPr>
                        <a:t>Tempo (s)</a:t>
                      </a:r>
                      <a:endParaRPr b="0" lang="it-IT" sz="1100" spc="-1" strike="noStrike">
                        <a:solidFill>
                          <a:srgbClr val="000000"/>
                        </a:solidFill>
                        <a:latin typeface="Arial"/>
                      </a:endParaRPr>
                    </a:p>
                  </a:txBody>
                  <a:tcPr anchor="ctr">
                    <a:lnL>
                      <a:noFill/>
                    </a:lnL>
                    <a:lnR>
                      <a:noFill/>
                    </a:lnR>
                    <a:lnT>
                      <a:noFill/>
                    </a:lnT>
                    <a:lnB w="18000">
                      <a:solidFill>
                        <a:srgbClr val="5e81ac"/>
                      </a:solidFill>
                      <a:prstDash val="solid"/>
                    </a:lnB>
                    <a:noFill/>
                  </a:tcPr>
                </a:tc>
                <a:tc>
                  <a:txBody>
                    <a:bodyPr lIns="0" rIns="0" tIns="70920" bIns="70920" anchor="ctr">
                      <a:noAutofit/>
                    </a:bodyPr>
                    <a:p>
                      <a:pPr algn="r" defTabSz="914400">
                        <a:lnSpc>
                          <a:spcPct val="100000"/>
                        </a:lnSpc>
                      </a:pPr>
                      <a:r>
                        <a:rPr b="1" lang="en-US" sz="1100" spc="-1" strike="noStrike">
                          <a:solidFill>
                            <a:srgbClr val="2e3440"/>
                          </a:solidFill>
                          <a:latin typeface="微软雅黑"/>
                          <a:ea typeface="微软雅黑"/>
                        </a:rPr>
                        <a:t>Speedup</a:t>
                      </a:r>
                      <a:endParaRPr b="0" lang="it-IT" sz="1100" spc="-1" strike="noStrike">
                        <a:solidFill>
                          <a:srgbClr val="000000"/>
                        </a:solidFill>
                        <a:latin typeface="Arial"/>
                      </a:endParaRPr>
                    </a:p>
                  </a:txBody>
                  <a:tcPr anchor="ctr">
                    <a:lnL>
                      <a:noFill/>
                    </a:lnL>
                    <a:lnR>
                      <a:noFill/>
                    </a:lnR>
                    <a:lnT>
                      <a:noFill/>
                    </a:lnT>
                    <a:lnB w="18000">
                      <a:solidFill>
                        <a:srgbClr val="5e81ac"/>
                      </a:solidFill>
                      <a:prstDash val="solid"/>
                    </a:lnB>
                    <a:noFill/>
                  </a:tcPr>
                </a:tc>
                <a:tc>
                  <a:txBody>
                    <a:bodyPr lIns="0" rIns="0" tIns="70920" bIns="70920" anchor="ctr">
                      <a:noAutofit/>
                    </a:bodyPr>
                    <a:p>
                      <a:pPr algn="r" defTabSz="914400">
                        <a:lnSpc>
                          <a:spcPct val="100000"/>
                        </a:lnSpc>
                      </a:pPr>
                      <a:r>
                        <a:rPr b="1" lang="en-US" sz="1100" spc="-1" strike="noStrike">
                          <a:solidFill>
                            <a:srgbClr val="2e3440"/>
                          </a:solidFill>
                          <a:latin typeface="微软雅黑"/>
                          <a:ea typeface="微软雅黑"/>
                        </a:rPr>
                        <a:t>Efficienza</a:t>
                      </a:r>
                      <a:endParaRPr b="0" lang="it-IT" sz="1100" spc="-1" strike="noStrike">
                        <a:solidFill>
                          <a:srgbClr val="000000"/>
                        </a:solidFill>
                        <a:latin typeface="Arial"/>
                      </a:endParaRPr>
                    </a:p>
                  </a:txBody>
                  <a:tcPr anchor="ctr">
                    <a:lnL>
                      <a:noFill/>
                    </a:lnL>
                    <a:lnR>
                      <a:noFill/>
                    </a:lnR>
                    <a:lnT>
                      <a:noFill/>
                    </a:lnT>
                    <a:lnB w="18000">
                      <a:solidFill>
                        <a:srgbClr val="5e81ac"/>
                      </a:solidFill>
                      <a:prstDash val="solid"/>
                    </a:lnB>
                    <a:noFill/>
                  </a:tcPr>
                </a:tc>
              </a:tr>
              <a:tr h="300600">
                <a:tc>
                  <a:txBody>
                    <a:bodyPr lIns="0" rIns="0" tIns="35280" bIns="35280" anchor="ctr">
                      <a:noAutofit/>
                    </a:bodyPr>
                    <a:p>
                      <a:pPr defTabSz="914400">
                        <a:lnSpc>
                          <a:spcPct val="100000"/>
                        </a:lnSpc>
                      </a:pPr>
                      <a:r>
                        <a:rPr b="1" lang="en-US" sz="1100" spc="-1" strike="noStrike">
                          <a:solidFill>
                            <a:srgbClr val="2e3440"/>
                          </a:solidFill>
                          <a:latin typeface="微软雅黑"/>
                          <a:ea typeface="微软雅黑"/>
                        </a:rPr>
                        <a:t>1</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5e81ac">
                        <a:alpha val="5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7.9519</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5e81ac">
                        <a:alpha val="5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1.00x</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5e81ac">
                        <a:alpha val="5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100%</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5e81ac">
                        <a:alpha val="5000"/>
                      </a:srgbClr>
                    </a:solidFill>
                  </a:tcPr>
                </a:tc>
              </a:tr>
              <a:tr h="300600">
                <a:tc>
                  <a:txBody>
                    <a:bodyPr lIns="0" rIns="0" tIns="35280" bIns="35280" anchor="ctr">
                      <a:noAutofit/>
                    </a:bodyPr>
                    <a:p>
                      <a:pPr defTabSz="914400">
                        <a:lnSpc>
                          <a:spcPct val="100000"/>
                        </a:lnSpc>
                      </a:pPr>
                      <a:r>
                        <a:rPr b="1" lang="en-US" sz="1100" spc="-1" strike="noStrike">
                          <a:solidFill>
                            <a:srgbClr val="2e3440"/>
                          </a:solidFill>
                          <a:latin typeface="微软雅黑"/>
                          <a:ea typeface="微软雅黑"/>
                        </a:rPr>
                        <a:t>2</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no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4.1156</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no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1.93x</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no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96.5%</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noFill/>
                  </a:tcPr>
                </a:tc>
              </a:tr>
              <a:tr h="300600">
                <a:tc>
                  <a:txBody>
                    <a:bodyPr lIns="0" rIns="0" tIns="35280" bIns="35280" anchor="ctr">
                      <a:noAutofit/>
                    </a:bodyPr>
                    <a:p>
                      <a:pPr defTabSz="914400">
                        <a:lnSpc>
                          <a:spcPct val="100000"/>
                        </a:lnSpc>
                      </a:pPr>
                      <a:r>
                        <a:rPr b="1" lang="en-US" sz="1100" spc="-1" strike="noStrike">
                          <a:solidFill>
                            <a:srgbClr val="2e3440"/>
                          </a:solidFill>
                          <a:latin typeface="微软雅黑"/>
                          <a:ea typeface="微软雅黑"/>
                        </a:rPr>
                        <a:t>4</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88c0d0">
                        <a:alpha val="10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1.8547</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88c0d0">
                        <a:alpha val="10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4.29x</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88c0d0">
                        <a:alpha val="10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107.2%</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88c0d0">
                        <a:alpha val="10000"/>
                      </a:srgbClr>
                    </a:solidFill>
                  </a:tcPr>
                </a:tc>
              </a:tr>
              <a:tr h="300600">
                <a:tc>
                  <a:txBody>
                    <a:bodyPr lIns="0" rIns="0" tIns="35280" bIns="35280" anchor="ctr">
                      <a:noAutofit/>
                    </a:bodyPr>
                    <a:p>
                      <a:pPr defTabSz="914400">
                        <a:lnSpc>
                          <a:spcPct val="100000"/>
                        </a:lnSpc>
                      </a:pPr>
                      <a:r>
                        <a:rPr b="1" lang="en-US" sz="1100" spc="-1" strike="noStrike">
                          <a:solidFill>
                            <a:srgbClr val="2e3440"/>
                          </a:solidFill>
                          <a:latin typeface="微软雅黑"/>
                          <a:ea typeface="微软雅黑"/>
                        </a:rPr>
                        <a:t>8</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5e81ac">
                        <a:alpha val="5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1.2917</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5e81ac">
                        <a:alpha val="5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6.16x</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5e81ac">
                        <a:alpha val="5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77.0%</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solidFill>
                      <a:srgbClr val="5e81ac">
                        <a:alpha val="5000"/>
                      </a:srgbClr>
                    </a:solidFill>
                  </a:tcPr>
                </a:tc>
              </a:tr>
              <a:tr h="300600">
                <a:tc>
                  <a:txBody>
                    <a:bodyPr lIns="0" rIns="0" tIns="35280" bIns="35280" anchor="ctr">
                      <a:noAutofit/>
                    </a:bodyPr>
                    <a:p>
                      <a:pPr defTabSz="914400">
                        <a:lnSpc>
                          <a:spcPct val="100000"/>
                        </a:lnSpc>
                      </a:pPr>
                      <a:r>
                        <a:rPr b="1" lang="en-US" sz="1100" spc="-1" strike="noStrike">
                          <a:solidFill>
                            <a:srgbClr val="2e3440"/>
                          </a:solidFill>
                          <a:latin typeface="微软雅黑"/>
                          <a:ea typeface="微软雅黑"/>
                        </a:rPr>
                        <a:t>16</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no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1.2967</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no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6.13x</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no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38.3%</a:t>
                      </a:r>
                      <a:endParaRPr b="0" lang="it-IT" sz="1100" spc="-1" strike="noStrike">
                        <a:solidFill>
                          <a:srgbClr val="000000"/>
                        </a:solidFill>
                        <a:latin typeface="Arial"/>
                      </a:endParaRPr>
                    </a:p>
                  </a:txBody>
                  <a:tcPr anchor="ctr">
                    <a:lnL>
                      <a:noFill/>
                    </a:lnL>
                    <a:lnR>
                      <a:noFill/>
                    </a:lnR>
                    <a:lnT>
                      <a:noFill/>
                    </a:lnT>
                    <a:lnB w="9360">
                      <a:solidFill>
                        <a:srgbClr val="000000"/>
                      </a:solidFill>
                      <a:prstDash val="solid"/>
                    </a:lnB>
                    <a:noFill/>
                  </a:tcPr>
                </a:tc>
              </a:tr>
              <a:tr h="300600">
                <a:tc>
                  <a:txBody>
                    <a:bodyPr lIns="0" rIns="0" tIns="35280" bIns="35280" anchor="ctr">
                      <a:noAutofit/>
                    </a:bodyPr>
                    <a:p>
                      <a:pPr defTabSz="914400">
                        <a:lnSpc>
                          <a:spcPct val="100000"/>
                        </a:lnSpc>
                      </a:pPr>
                      <a:r>
                        <a:rPr b="1" lang="en-US" sz="1100" spc="-1" strike="noStrike">
                          <a:solidFill>
                            <a:srgbClr val="2e3440"/>
                          </a:solidFill>
                          <a:latin typeface="微软雅黑"/>
                          <a:ea typeface="微软雅黑"/>
                        </a:rPr>
                        <a:t>24</a:t>
                      </a:r>
                      <a:endParaRPr b="0" lang="it-IT" sz="1100" spc="-1" strike="noStrike">
                        <a:solidFill>
                          <a:srgbClr val="000000"/>
                        </a:solidFill>
                        <a:latin typeface="Arial"/>
                      </a:endParaRPr>
                    </a:p>
                  </a:txBody>
                  <a:tcPr anchor="ctr">
                    <a:lnL>
                      <a:noFill/>
                    </a:lnL>
                    <a:lnR>
                      <a:noFill/>
                    </a:lnR>
                    <a:lnT>
                      <a:noFill/>
                    </a:lnT>
                    <a:lnB>
                      <a:noFill/>
                    </a:lnB>
                    <a:solidFill>
                      <a:srgbClr val="88c0d0">
                        <a:alpha val="20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1.2713</a:t>
                      </a:r>
                      <a:endParaRPr b="0" lang="it-IT" sz="1100" spc="-1" strike="noStrike">
                        <a:solidFill>
                          <a:srgbClr val="000000"/>
                        </a:solidFill>
                        <a:latin typeface="Arial"/>
                      </a:endParaRPr>
                    </a:p>
                  </a:txBody>
                  <a:tcPr anchor="ctr">
                    <a:lnL>
                      <a:noFill/>
                    </a:lnL>
                    <a:lnR>
                      <a:noFill/>
                    </a:lnR>
                    <a:lnT>
                      <a:noFill/>
                    </a:lnT>
                    <a:lnB>
                      <a:noFill/>
                    </a:lnB>
                    <a:solidFill>
                      <a:srgbClr val="88c0d0">
                        <a:alpha val="20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6.25x</a:t>
                      </a:r>
                      <a:endParaRPr b="0" lang="it-IT" sz="1100" spc="-1" strike="noStrike">
                        <a:solidFill>
                          <a:srgbClr val="000000"/>
                        </a:solidFill>
                        <a:latin typeface="Arial"/>
                      </a:endParaRPr>
                    </a:p>
                  </a:txBody>
                  <a:tcPr anchor="ctr">
                    <a:lnL>
                      <a:noFill/>
                    </a:lnL>
                    <a:lnR>
                      <a:noFill/>
                    </a:lnR>
                    <a:lnT>
                      <a:noFill/>
                    </a:lnT>
                    <a:lnB>
                      <a:noFill/>
                    </a:lnB>
                    <a:solidFill>
                      <a:srgbClr val="88c0d0">
                        <a:alpha val="20000"/>
                      </a:srgbClr>
                    </a:solidFill>
                  </a:tcPr>
                </a:tc>
                <a:tc>
                  <a:txBody>
                    <a:bodyPr lIns="0" rIns="0" tIns="35280" bIns="35280" anchor="ctr">
                      <a:noAutofit/>
                    </a:bodyPr>
                    <a:p>
                      <a:pPr algn="r" defTabSz="914400">
                        <a:lnSpc>
                          <a:spcPct val="100000"/>
                        </a:lnSpc>
                      </a:pPr>
                      <a:r>
                        <a:rPr b="0" lang="en-US" sz="1100" spc="-1" strike="noStrike">
                          <a:solidFill>
                            <a:srgbClr val="2e3440"/>
                          </a:solidFill>
                          <a:latin typeface="微软雅黑"/>
                          <a:ea typeface="微软雅黑"/>
                        </a:rPr>
                        <a:t>26.0%</a:t>
                      </a:r>
                      <a:endParaRPr b="0" lang="it-IT" sz="1100" spc="-1" strike="noStrike">
                        <a:solidFill>
                          <a:srgbClr val="000000"/>
                        </a:solidFill>
                        <a:latin typeface="Arial"/>
                      </a:endParaRPr>
                    </a:p>
                  </a:txBody>
                  <a:tcPr anchor="ctr">
                    <a:lnL>
                      <a:noFill/>
                    </a:lnL>
                    <a:lnR>
                      <a:noFill/>
                    </a:lnR>
                    <a:lnT>
                      <a:noFill/>
                    </a:lnT>
                    <a:lnB>
                      <a:noFill/>
                    </a:lnB>
                    <a:solidFill>
                      <a:srgbClr val="88c0d0">
                        <a:alpha val="20000"/>
                      </a:srgbClr>
                    </a:solidFill>
                  </a:tcPr>
                </a:tc>
              </a:tr>
            </a:tbl>
          </a:graphicData>
        </a:graphic>
      </p:graphicFrame>
      <p:sp>
        <p:nvSpPr>
          <p:cNvPr id="269" name="Shape 21"/>
          <p:cNvSpPr/>
          <p:nvPr/>
        </p:nvSpPr>
        <p:spPr>
          <a:xfrm>
            <a:off x="6186960" y="2559240"/>
            <a:ext cx="5651280" cy="3092040"/>
          </a:xfrm>
          <a:custGeom>
            <a:avLst/>
            <a:gdLst>
              <a:gd name="textAreaLeft" fmla="*/ 0 w 5651280"/>
              <a:gd name="textAreaRight" fmla="*/ 5651640 w 5651280"/>
              <a:gd name="textAreaTop" fmla="*/ 0 h 3092040"/>
              <a:gd name="textAreaBottom" fmla="*/ 3092400 h 3092040"/>
            </a:gdLst>
            <a:ahLst/>
            <a:rect l="textAreaLeft" t="textAreaTop" r="textAreaRight" b="textAreaBottom"/>
            <a:pathLst>
              <a:path w="5651685" h="3092431">
                <a:moveTo>
                  <a:pt x="71095" y="0"/>
                </a:moveTo>
                <a:lnTo>
                  <a:pt x="5580590" y="0"/>
                </a:lnTo>
                <a:cubicBezTo>
                  <a:pt x="5619855" y="0"/>
                  <a:pt x="5651685" y="31830"/>
                  <a:pt x="5651685" y="71095"/>
                </a:cubicBezTo>
                <a:lnTo>
                  <a:pt x="5651685" y="3021336"/>
                </a:lnTo>
                <a:cubicBezTo>
                  <a:pt x="5651685" y="3060601"/>
                  <a:pt x="5619855" y="3092431"/>
                  <a:pt x="5580590" y="3092431"/>
                </a:cubicBezTo>
                <a:lnTo>
                  <a:pt x="71095" y="3092431"/>
                </a:lnTo>
                <a:cubicBezTo>
                  <a:pt x="31830" y="3092431"/>
                  <a:pt x="0" y="3060601"/>
                  <a:pt x="0" y="3021336"/>
                </a:cubicBezTo>
                <a:lnTo>
                  <a:pt x="0" y="71095"/>
                </a:lnTo>
                <a:cubicBezTo>
                  <a:pt x="0" y="31857"/>
                  <a:pt x="31857" y="0"/>
                  <a:pt x="71095" y="0"/>
                </a:cubicBezTo>
                <a:close/>
              </a:path>
            </a:pathLst>
          </a:custGeom>
          <a:gradFill rotWithShape="0">
            <a:gsLst>
              <a:gs pos="0">
                <a:srgbClr val="5e81ac"/>
              </a:gs>
              <a:gs pos="100000">
                <a:srgbClr val="88c0d0"/>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70" name="Text 22"/>
          <p:cNvSpPr/>
          <p:nvPr/>
        </p:nvSpPr>
        <p:spPr>
          <a:xfrm>
            <a:off x="6364440" y="2737080"/>
            <a:ext cx="5402520" cy="28404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679" spc="-1" strike="noStrike">
                <a:solidFill>
                  <a:srgbClr val="ffffff"/>
                </a:solidFill>
                <a:latin typeface="Liter"/>
                <a:ea typeface="Liter"/>
              </a:rPr>
              <a:t>Insight Chiave</a:t>
            </a:r>
            <a:endParaRPr b="0" lang="it-IT" sz="1679" spc="-1" strike="noStrike">
              <a:solidFill>
                <a:srgbClr val="000000"/>
              </a:solidFill>
              <a:latin typeface="Arial"/>
            </a:endParaRPr>
          </a:p>
        </p:txBody>
      </p:sp>
      <p:sp>
        <p:nvSpPr>
          <p:cNvPr id="271" name="Shape 23"/>
          <p:cNvSpPr/>
          <p:nvPr/>
        </p:nvSpPr>
        <p:spPr>
          <a:xfrm>
            <a:off x="6364440" y="3128040"/>
            <a:ext cx="5295960" cy="710640"/>
          </a:xfrm>
          <a:custGeom>
            <a:avLst/>
            <a:gdLst>
              <a:gd name="textAreaLeft" fmla="*/ 0 w 5295960"/>
              <a:gd name="textAreaRight" fmla="*/ 5296320 w 5295960"/>
              <a:gd name="textAreaTop" fmla="*/ 0 h 710640"/>
              <a:gd name="textAreaBottom" fmla="*/ 711000 h 710640"/>
            </a:gdLst>
            <a:ahLst/>
            <a:rect l="textAreaLeft" t="textAreaTop" r="textAreaRight" b="textAreaBottom"/>
            <a:pathLst>
              <a:path w="5296233" h="710904">
                <a:moveTo>
                  <a:pt x="71090" y="0"/>
                </a:moveTo>
                <a:lnTo>
                  <a:pt x="5225143" y="0"/>
                </a:lnTo>
                <a:cubicBezTo>
                  <a:pt x="5264405" y="0"/>
                  <a:pt x="5296233" y="31828"/>
                  <a:pt x="5296233" y="71090"/>
                </a:cubicBezTo>
                <a:lnTo>
                  <a:pt x="5296233" y="639813"/>
                </a:lnTo>
                <a:cubicBezTo>
                  <a:pt x="5296233" y="679076"/>
                  <a:pt x="5264405" y="710904"/>
                  <a:pt x="5225143" y="710904"/>
                </a:cubicBezTo>
                <a:lnTo>
                  <a:pt x="71090" y="710904"/>
                </a:lnTo>
                <a:cubicBezTo>
                  <a:pt x="31828" y="710904"/>
                  <a:pt x="0" y="679076"/>
                  <a:pt x="0" y="639813"/>
                </a:cubicBezTo>
                <a:lnTo>
                  <a:pt x="0" y="71090"/>
                </a:lnTo>
                <a:cubicBezTo>
                  <a:pt x="0" y="31855"/>
                  <a:pt x="31855" y="0"/>
                  <a:pt x="71090"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72" name="Text 24"/>
          <p:cNvSpPr/>
          <p:nvPr/>
        </p:nvSpPr>
        <p:spPr>
          <a:xfrm>
            <a:off x="6471000" y="3234600"/>
            <a:ext cx="5162400" cy="248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60" spc="-1" strike="noStrike">
                <a:solidFill>
                  <a:srgbClr val="ffffff"/>
                </a:solidFill>
                <a:latin typeface="Quattrocento Sans"/>
                <a:ea typeface="Quattrocento Sans"/>
              </a:rPr>
              <a:t>Scalabilità Lineare</a:t>
            </a:r>
            <a:endParaRPr b="0" lang="it-IT" sz="1260" spc="-1" strike="noStrike">
              <a:solidFill>
                <a:srgbClr val="000000"/>
              </a:solidFill>
              <a:latin typeface="Arial"/>
            </a:endParaRPr>
          </a:p>
        </p:txBody>
      </p:sp>
      <p:sp>
        <p:nvSpPr>
          <p:cNvPr id="273" name="Text 25"/>
          <p:cNvSpPr/>
          <p:nvPr/>
        </p:nvSpPr>
        <p:spPr>
          <a:xfrm>
            <a:off x="6471000" y="3519000"/>
            <a:ext cx="5153760" cy="2127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20" spc="-1" strike="noStrike">
                <a:solidFill>
                  <a:srgbClr val="ffffff"/>
                </a:solidFill>
                <a:latin typeface="Quattrocento Sans"/>
                <a:ea typeface="Quattrocento Sans"/>
              </a:rPr>
              <a:t>Fino a 4 thread (Speedup 4.29x con efficienza &gt; 100%)</a:t>
            </a:r>
            <a:endParaRPr b="0" lang="it-IT" sz="1120" spc="-1" strike="noStrike">
              <a:solidFill>
                <a:srgbClr val="000000"/>
              </a:solidFill>
              <a:latin typeface="Arial"/>
            </a:endParaRPr>
          </a:p>
        </p:txBody>
      </p:sp>
      <p:sp>
        <p:nvSpPr>
          <p:cNvPr id="274" name="Shape 26"/>
          <p:cNvSpPr/>
          <p:nvPr/>
        </p:nvSpPr>
        <p:spPr>
          <a:xfrm>
            <a:off x="6364440" y="3945600"/>
            <a:ext cx="5295960" cy="710640"/>
          </a:xfrm>
          <a:custGeom>
            <a:avLst/>
            <a:gdLst>
              <a:gd name="textAreaLeft" fmla="*/ 0 w 5295960"/>
              <a:gd name="textAreaRight" fmla="*/ 5296320 w 5295960"/>
              <a:gd name="textAreaTop" fmla="*/ 0 h 710640"/>
              <a:gd name="textAreaBottom" fmla="*/ 711000 h 710640"/>
            </a:gdLst>
            <a:ahLst/>
            <a:rect l="textAreaLeft" t="textAreaTop" r="textAreaRight" b="textAreaBottom"/>
            <a:pathLst>
              <a:path w="5296233" h="710904">
                <a:moveTo>
                  <a:pt x="71090" y="0"/>
                </a:moveTo>
                <a:lnTo>
                  <a:pt x="5225143" y="0"/>
                </a:lnTo>
                <a:cubicBezTo>
                  <a:pt x="5264405" y="0"/>
                  <a:pt x="5296233" y="31828"/>
                  <a:pt x="5296233" y="71090"/>
                </a:cubicBezTo>
                <a:lnTo>
                  <a:pt x="5296233" y="639813"/>
                </a:lnTo>
                <a:cubicBezTo>
                  <a:pt x="5296233" y="679076"/>
                  <a:pt x="5264405" y="710904"/>
                  <a:pt x="5225143" y="710904"/>
                </a:cubicBezTo>
                <a:lnTo>
                  <a:pt x="71090" y="710904"/>
                </a:lnTo>
                <a:cubicBezTo>
                  <a:pt x="31828" y="710904"/>
                  <a:pt x="0" y="679076"/>
                  <a:pt x="0" y="639813"/>
                </a:cubicBezTo>
                <a:lnTo>
                  <a:pt x="0" y="71090"/>
                </a:lnTo>
                <a:cubicBezTo>
                  <a:pt x="0" y="31855"/>
                  <a:pt x="31855" y="0"/>
                  <a:pt x="71090"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75" name="Text 27"/>
          <p:cNvSpPr/>
          <p:nvPr/>
        </p:nvSpPr>
        <p:spPr>
          <a:xfrm>
            <a:off x="6471000" y="4052160"/>
            <a:ext cx="5162400" cy="248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60" spc="-1" strike="noStrike">
                <a:solidFill>
                  <a:srgbClr val="ffffff"/>
                </a:solidFill>
                <a:latin typeface="Quattrocento Sans"/>
                <a:ea typeface="Quattrocento Sans"/>
              </a:rPr>
              <a:t>Plateau oltre 8 thread</a:t>
            </a:r>
            <a:endParaRPr b="0" lang="it-IT" sz="1260" spc="-1" strike="noStrike">
              <a:solidFill>
                <a:srgbClr val="000000"/>
              </a:solidFill>
              <a:latin typeface="Arial"/>
            </a:endParaRPr>
          </a:p>
        </p:txBody>
      </p:sp>
      <p:sp>
        <p:nvSpPr>
          <p:cNvPr id="276" name="Text 28"/>
          <p:cNvSpPr/>
          <p:nvPr/>
        </p:nvSpPr>
        <p:spPr>
          <a:xfrm>
            <a:off x="6471000" y="4336560"/>
            <a:ext cx="5153760" cy="2127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20" spc="-1" strike="noStrike">
                <a:solidFill>
                  <a:srgbClr val="ffffff"/>
                </a:solidFill>
                <a:latin typeface="Quattrocento Sans"/>
                <a:ea typeface="Quattrocento Sans"/>
              </a:rPr>
              <a:t>Corrispondente al limite dei thread logici CPU</a:t>
            </a:r>
            <a:endParaRPr b="0" lang="it-IT" sz="1120" spc="-1" strike="noStrike">
              <a:solidFill>
                <a:srgbClr val="000000"/>
              </a:solidFill>
              <a:latin typeface="Arial"/>
            </a:endParaRPr>
          </a:p>
        </p:txBody>
      </p:sp>
      <p:sp>
        <p:nvSpPr>
          <p:cNvPr id="277" name="Shape 29"/>
          <p:cNvSpPr/>
          <p:nvPr/>
        </p:nvSpPr>
        <p:spPr>
          <a:xfrm>
            <a:off x="6364440" y="4763160"/>
            <a:ext cx="5295960" cy="710640"/>
          </a:xfrm>
          <a:custGeom>
            <a:avLst/>
            <a:gdLst>
              <a:gd name="textAreaLeft" fmla="*/ 0 w 5295960"/>
              <a:gd name="textAreaRight" fmla="*/ 5296320 w 5295960"/>
              <a:gd name="textAreaTop" fmla="*/ 0 h 710640"/>
              <a:gd name="textAreaBottom" fmla="*/ 711000 h 710640"/>
            </a:gdLst>
            <a:ahLst/>
            <a:rect l="textAreaLeft" t="textAreaTop" r="textAreaRight" b="textAreaBottom"/>
            <a:pathLst>
              <a:path w="5296233" h="710904">
                <a:moveTo>
                  <a:pt x="71090" y="0"/>
                </a:moveTo>
                <a:lnTo>
                  <a:pt x="5225143" y="0"/>
                </a:lnTo>
                <a:cubicBezTo>
                  <a:pt x="5264405" y="0"/>
                  <a:pt x="5296233" y="31828"/>
                  <a:pt x="5296233" y="71090"/>
                </a:cubicBezTo>
                <a:lnTo>
                  <a:pt x="5296233" y="639813"/>
                </a:lnTo>
                <a:cubicBezTo>
                  <a:pt x="5296233" y="679076"/>
                  <a:pt x="5264405" y="710904"/>
                  <a:pt x="5225143" y="710904"/>
                </a:cubicBezTo>
                <a:lnTo>
                  <a:pt x="71090" y="710904"/>
                </a:lnTo>
                <a:cubicBezTo>
                  <a:pt x="31828" y="710904"/>
                  <a:pt x="0" y="679076"/>
                  <a:pt x="0" y="639813"/>
                </a:cubicBezTo>
                <a:lnTo>
                  <a:pt x="0" y="71090"/>
                </a:lnTo>
                <a:cubicBezTo>
                  <a:pt x="0" y="31855"/>
                  <a:pt x="31855" y="0"/>
                  <a:pt x="71090"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78" name="Text 30"/>
          <p:cNvSpPr/>
          <p:nvPr/>
        </p:nvSpPr>
        <p:spPr>
          <a:xfrm>
            <a:off x="6471000" y="4869720"/>
            <a:ext cx="5162400" cy="248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60" spc="-1" strike="noStrike">
                <a:solidFill>
                  <a:srgbClr val="ffffff"/>
                </a:solidFill>
                <a:latin typeface="Quattrocento Sans"/>
                <a:ea typeface="Quattrocento Sans"/>
              </a:rPr>
              <a:t>Stabilità</a:t>
            </a:r>
            <a:endParaRPr b="0" lang="it-IT" sz="1260" spc="-1" strike="noStrike">
              <a:solidFill>
                <a:srgbClr val="000000"/>
              </a:solidFill>
              <a:latin typeface="Arial"/>
            </a:endParaRPr>
          </a:p>
        </p:txBody>
      </p:sp>
      <p:sp>
        <p:nvSpPr>
          <p:cNvPr id="279" name="Text 31"/>
          <p:cNvSpPr/>
          <p:nvPr/>
        </p:nvSpPr>
        <p:spPr>
          <a:xfrm>
            <a:off x="6471000" y="5154120"/>
            <a:ext cx="5153760" cy="21276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20" spc="-1" strike="noStrike">
                <a:solidFill>
                  <a:srgbClr val="ffffff"/>
                </a:solidFill>
                <a:latin typeface="Quattrocento Sans"/>
                <a:ea typeface="Quattrocento Sans"/>
              </a:rPr>
              <a:t>Deviazione standard &lt; 0.14s nelle configurazioni parallele</a:t>
            </a:r>
            <a:endParaRPr b="0" lang="it-IT" sz="1120" spc="-1" strike="noStrike">
              <a:solidFill>
                <a:srgbClr val="000000"/>
              </a:solidFill>
              <a:latin typeface="Arial"/>
            </a:endParaRPr>
          </a:p>
        </p:txBody>
      </p:sp>
      <p:sp>
        <p:nvSpPr>
          <p:cNvPr id="280" name="Shape 32"/>
          <p:cNvSpPr/>
          <p:nvPr/>
        </p:nvSpPr>
        <p:spPr>
          <a:xfrm>
            <a:off x="6202800" y="5793840"/>
            <a:ext cx="5640840" cy="710640"/>
          </a:xfrm>
          <a:custGeom>
            <a:avLst/>
            <a:gdLst>
              <a:gd name="textAreaLeft" fmla="*/ 0 w 5640840"/>
              <a:gd name="textAreaRight" fmla="*/ 5641200 w 5640840"/>
              <a:gd name="textAreaTop" fmla="*/ 0 h 710640"/>
              <a:gd name="textAreaBottom" fmla="*/ 711000 h 710640"/>
            </a:gdLst>
            <a:ahLst/>
            <a:rect l="textAreaLeft" t="textAreaTop" r="textAreaRight" b="textAreaBottom"/>
            <a:pathLst>
              <a:path w="5641183" h="710904">
                <a:moveTo>
                  <a:pt x="32314" y="0"/>
                </a:moveTo>
                <a:lnTo>
                  <a:pt x="5570093" y="0"/>
                </a:lnTo>
                <a:cubicBezTo>
                  <a:pt x="5609355" y="0"/>
                  <a:pt x="5641183" y="31828"/>
                  <a:pt x="5641183" y="71090"/>
                </a:cubicBezTo>
                <a:lnTo>
                  <a:pt x="5641183" y="639813"/>
                </a:lnTo>
                <a:cubicBezTo>
                  <a:pt x="5641183" y="679076"/>
                  <a:pt x="5609355" y="710904"/>
                  <a:pt x="5570093" y="710904"/>
                </a:cubicBezTo>
                <a:lnTo>
                  <a:pt x="32314" y="710904"/>
                </a:lnTo>
                <a:cubicBezTo>
                  <a:pt x="14467" y="710904"/>
                  <a:pt x="0" y="696436"/>
                  <a:pt x="0" y="678590"/>
                </a:cubicBezTo>
                <a:lnTo>
                  <a:pt x="0" y="32314"/>
                </a:lnTo>
                <a:cubicBezTo>
                  <a:pt x="0" y="14467"/>
                  <a:pt x="14467" y="0"/>
                  <a:pt x="32314"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81" name="Shape 33"/>
          <p:cNvSpPr/>
          <p:nvPr/>
        </p:nvSpPr>
        <p:spPr>
          <a:xfrm>
            <a:off x="6202800" y="5793840"/>
            <a:ext cx="32040" cy="710640"/>
          </a:xfrm>
          <a:custGeom>
            <a:avLst/>
            <a:gdLst>
              <a:gd name="textAreaLeft" fmla="*/ 0 w 32040"/>
              <a:gd name="textAreaRight" fmla="*/ 32400 w 32040"/>
              <a:gd name="textAreaTop" fmla="*/ 0 h 710640"/>
              <a:gd name="textAreaBottom" fmla="*/ 711000 h 710640"/>
            </a:gdLst>
            <a:ahLst/>
            <a:rect l="textAreaLeft" t="textAreaTop" r="textAreaRight" b="textAreaBottom"/>
            <a:pathLst>
              <a:path w="32314" h="710904">
                <a:moveTo>
                  <a:pt x="32314" y="0"/>
                </a:moveTo>
                <a:lnTo>
                  <a:pt x="32314" y="0"/>
                </a:lnTo>
                <a:lnTo>
                  <a:pt x="32314" y="710904"/>
                </a:lnTo>
                <a:lnTo>
                  <a:pt x="32314" y="710904"/>
                </a:lnTo>
                <a:cubicBezTo>
                  <a:pt x="14467" y="710904"/>
                  <a:pt x="0" y="696436"/>
                  <a:pt x="0" y="678590"/>
                </a:cubicBezTo>
                <a:lnTo>
                  <a:pt x="0" y="32314"/>
                </a:lnTo>
                <a:cubicBezTo>
                  <a:pt x="0" y="14467"/>
                  <a:pt x="14467" y="0"/>
                  <a:pt x="32314"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82" name="Text 34"/>
          <p:cNvSpPr/>
          <p:nvPr/>
        </p:nvSpPr>
        <p:spPr>
          <a:xfrm>
            <a:off x="6361200" y="5936040"/>
            <a:ext cx="5411520" cy="426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20" spc="-1" strike="noStrike">
                <a:solidFill>
                  <a:srgbClr val="2e3440"/>
                </a:solidFill>
                <a:latin typeface="Quattrocento Sans"/>
                <a:ea typeface="Quattrocento Sans"/>
              </a:rPr>
              <a:t>Superlinearità:</a:t>
            </a:r>
            <a:r>
              <a:rPr b="0" lang="en-US" sz="1120" spc="-1" strike="noStrike">
                <a:solidFill>
                  <a:srgbClr val="2e3440"/>
                </a:solidFill>
                <a:latin typeface="Quattrocento Sans"/>
                <a:ea typeface="Quattrocento Sans"/>
              </a:rPr>
              <a:t> Lo speedup di 4.29x con 4 thread (&gt; del teorico 4x) è dovuto alla combinazione di Hyper-Threading, cache più efficiente e istruzioni SIMD.</a:t>
            </a:r>
            <a:endParaRPr b="0" lang="it-IT" sz="1120" spc="-1" strike="noStrike">
              <a:solidFill>
                <a:srgbClr val="000000"/>
              </a:solidFill>
              <a:latin typeface="Arial"/>
            </a:endParaRPr>
          </a:p>
        </p:txBody>
      </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283"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17" strike="noStrike">
                <a:solidFill>
                  <a:srgbClr val="5e81ac"/>
                </a:solidFill>
                <a:latin typeface="Quattrocento Sans"/>
                <a:ea typeface="Quattrocento Sans"/>
              </a:rPr>
              <a:t>Visualizzazione Dati</a:t>
            </a:r>
            <a:endParaRPr b="0" lang="it-IT" sz="1200" spc="-1" strike="noStrike">
              <a:solidFill>
                <a:srgbClr val="000000"/>
              </a:solidFill>
              <a:latin typeface="Arial"/>
            </a:endParaRPr>
          </a:p>
        </p:txBody>
      </p:sp>
      <p:sp>
        <p:nvSpPr>
          <p:cNvPr id="284"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600" spc="-1" strike="noStrike">
                <a:solidFill>
                  <a:srgbClr val="2e3440"/>
                </a:solidFill>
                <a:latin typeface="Liter"/>
                <a:ea typeface="Liter"/>
              </a:rPr>
              <a:t>Curva di Speedup</a:t>
            </a:r>
            <a:endParaRPr b="0" lang="it-IT" sz="3600" spc="-1" strike="noStrike">
              <a:solidFill>
                <a:srgbClr val="000000"/>
              </a:solidFill>
              <a:latin typeface="Arial"/>
            </a:endParaRPr>
          </a:p>
        </p:txBody>
      </p:sp>
      <p:sp>
        <p:nvSpPr>
          <p:cNvPr id="285" name="Shape 2"/>
          <p:cNvSpPr/>
          <p:nvPr/>
        </p:nvSpPr>
        <p:spPr>
          <a:xfrm>
            <a:off x="380880" y="1219320"/>
            <a:ext cx="7571880" cy="4190760"/>
          </a:xfrm>
          <a:custGeom>
            <a:avLst/>
            <a:gdLst>
              <a:gd name="textAreaLeft" fmla="*/ 0 w 7571880"/>
              <a:gd name="textAreaRight" fmla="*/ 7572240 w 7571880"/>
              <a:gd name="textAreaTop" fmla="*/ 0 h 4190760"/>
              <a:gd name="textAreaBottom" fmla="*/ 4191120 h 4190760"/>
            </a:gdLst>
            <a:ahLst/>
            <a:rect l="textAreaLeft" t="textAreaTop" r="textAreaRight" b="textAreaBottom"/>
            <a:pathLst>
              <a:path w="7572375" h="4191000">
                <a:moveTo>
                  <a:pt x="76192" y="0"/>
                </a:moveTo>
                <a:lnTo>
                  <a:pt x="7496183" y="0"/>
                </a:lnTo>
                <a:cubicBezTo>
                  <a:pt x="7538263" y="0"/>
                  <a:pt x="7572375" y="34112"/>
                  <a:pt x="7572375" y="76192"/>
                </a:cubicBezTo>
                <a:lnTo>
                  <a:pt x="7572375" y="4114808"/>
                </a:lnTo>
                <a:cubicBezTo>
                  <a:pt x="7572375" y="4156888"/>
                  <a:pt x="7538263" y="4191000"/>
                  <a:pt x="7496183" y="4191000"/>
                </a:cubicBezTo>
                <a:lnTo>
                  <a:pt x="76192" y="4191000"/>
                </a:lnTo>
                <a:cubicBezTo>
                  <a:pt x="34112" y="4191000"/>
                  <a:pt x="0" y="4156888"/>
                  <a:pt x="0" y="4114808"/>
                </a:cubicBezTo>
                <a:lnTo>
                  <a:pt x="0" y="76192"/>
                </a:lnTo>
                <a:cubicBezTo>
                  <a:pt x="0" y="34141"/>
                  <a:pt x="34141" y="0"/>
                  <a:pt x="76192"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86" name="Image 0"/>
          <p:cNvSpPr/>
          <p:nvPr/>
        </p:nvSpPr>
        <p:spPr>
          <a:xfrm>
            <a:off x="533520" y="1371600"/>
            <a:ext cx="7267320" cy="388584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87" name="Shape 3"/>
          <p:cNvSpPr/>
          <p:nvPr/>
        </p:nvSpPr>
        <p:spPr>
          <a:xfrm>
            <a:off x="8102520" y="1219320"/>
            <a:ext cx="3704760" cy="2361960"/>
          </a:xfrm>
          <a:custGeom>
            <a:avLst/>
            <a:gdLst>
              <a:gd name="textAreaLeft" fmla="*/ 0 w 3704760"/>
              <a:gd name="textAreaRight" fmla="*/ 3705120 w 3704760"/>
              <a:gd name="textAreaTop" fmla="*/ 0 h 2361960"/>
              <a:gd name="textAreaBottom" fmla="*/ 2362320 h 2361960"/>
            </a:gdLst>
            <a:ahLst/>
            <a:rect l="textAreaLeft" t="textAreaTop" r="textAreaRight" b="textAreaBottom"/>
            <a:pathLst>
              <a:path w="3705225" h="2362200">
                <a:moveTo>
                  <a:pt x="76205" y="0"/>
                </a:moveTo>
                <a:lnTo>
                  <a:pt x="3629020" y="0"/>
                </a:lnTo>
                <a:cubicBezTo>
                  <a:pt x="3671079" y="0"/>
                  <a:pt x="3705225" y="34146"/>
                  <a:pt x="3705225" y="76205"/>
                </a:cubicBezTo>
                <a:lnTo>
                  <a:pt x="3705225" y="2285995"/>
                </a:lnTo>
                <a:cubicBezTo>
                  <a:pt x="3705225" y="2328082"/>
                  <a:pt x="3671107" y="2362200"/>
                  <a:pt x="3629020" y="2362200"/>
                </a:cubicBezTo>
                <a:lnTo>
                  <a:pt x="76205" y="2362200"/>
                </a:lnTo>
                <a:cubicBezTo>
                  <a:pt x="34146" y="2362200"/>
                  <a:pt x="0" y="2328054"/>
                  <a:pt x="0" y="2285995"/>
                </a:cubicBezTo>
                <a:lnTo>
                  <a:pt x="0" y="76205"/>
                </a:lnTo>
                <a:cubicBezTo>
                  <a:pt x="0" y="34146"/>
                  <a:pt x="34146" y="0"/>
                  <a:pt x="76205" y="0"/>
                </a:cubicBezTo>
                <a:close/>
              </a:path>
            </a:pathLst>
          </a:custGeom>
          <a:gradFill rotWithShape="0">
            <a:gsLst>
              <a:gs pos="0">
                <a:srgbClr val="5e81ac"/>
              </a:gs>
              <a:gs pos="100000">
                <a:srgbClr val="88c0d0"/>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88" name="Text 4"/>
          <p:cNvSpPr/>
          <p:nvPr/>
        </p:nvSpPr>
        <p:spPr>
          <a:xfrm>
            <a:off x="8254800" y="1371600"/>
            <a:ext cx="3495240" cy="26640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500" spc="-1" strike="noStrike">
                <a:solidFill>
                  <a:srgbClr val="ffffff"/>
                </a:solidFill>
                <a:latin typeface="Liter"/>
                <a:ea typeface="Liter"/>
              </a:rPr>
              <a:t>Interpretazione</a:t>
            </a:r>
            <a:endParaRPr b="0" lang="it-IT" sz="1500" spc="-1" strike="noStrike">
              <a:solidFill>
                <a:srgbClr val="000000"/>
              </a:solidFill>
              <a:latin typeface="Arial"/>
            </a:endParaRPr>
          </a:p>
        </p:txBody>
      </p:sp>
      <p:sp>
        <p:nvSpPr>
          <p:cNvPr id="289" name="Shape 5"/>
          <p:cNvSpPr/>
          <p:nvPr/>
        </p:nvSpPr>
        <p:spPr>
          <a:xfrm>
            <a:off x="8254800" y="1752480"/>
            <a:ext cx="3400200" cy="914040"/>
          </a:xfrm>
          <a:custGeom>
            <a:avLst/>
            <a:gdLst>
              <a:gd name="textAreaLeft" fmla="*/ 0 w 3400200"/>
              <a:gd name="textAreaRight" fmla="*/ 3400560 w 3400200"/>
              <a:gd name="textAreaTop" fmla="*/ 0 h 914040"/>
              <a:gd name="textAreaBottom" fmla="*/ 914400 h 914040"/>
            </a:gdLst>
            <a:ahLst/>
            <a:rect l="textAreaLeft" t="textAreaTop" r="textAreaRight" b="textAreaBottom"/>
            <a:pathLst>
              <a:path w="3400425" h="914400">
                <a:moveTo>
                  <a:pt x="76197" y="0"/>
                </a:moveTo>
                <a:lnTo>
                  <a:pt x="3324228" y="0"/>
                </a:lnTo>
                <a:cubicBezTo>
                  <a:pt x="3366310" y="0"/>
                  <a:pt x="3400425" y="34115"/>
                  <a:pt x="3400425" y="76197"/>
                </a:cubicBezTo>
                <a:lnTo>
                  <a:pt x="3400425" y="838203"/>
                </a:lnTo>
                <a:cubicBezTo>
                  <a:pt x="3400425" y="880285"/>
                  <a:pt x="3366310" y="914400"/>
                  <a:pt x="3324228" y="914400"/>
                </a:cubicBezTo>
                <a:lnTo>
                  <a:pt x="76197" y="914400"/>
                </a:lnTo>
                <a:cubicBezTo>
                  <a:pt x="34115" y="914400"/>
                  <a:pt x="0" y="880285"/>
                  <a:pt x="0" y="838203"/>
                </a:cubicBezTo>
                <a:lnTo>
                  <a:pt x="0" y="76197"/>
                </a:lnTo>
                <a:cubicBezTo>
                  <a:pt x="0" y="34143"/>
                  <a:pt x="34143" y="0"/>
                  <a:pt x="76197"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90" name="Text 6"/>
          <p:cNvSpPr/>
          <p:nvPr/>
        </p:nvSpPr>
        <p:spPr>
          <a:xfrm>
            <a:off x="8369280" y="1866960"/>
            <a:ext cx="32475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Fase 1: Scalabilità Lineare (1-4 thread)</a:t>
            </a:r>
            <a:endParaRPr b="0" lang="it-IT" sz="1200" spc="-1" strike="noStrike">
              <a:solidFill>
                <a:srgbClr val="000000"/>
              </a:solidFill>
              <a:latin typeface="Arial"/>
            </a:endParaRPr>
          </a:p>
        </p:txBody>
      </p:sp>
      <p:sp>
        <p:nvSpPr>
          <p:cNvPr id="291" name="Text 7"/>
          <p:cNvSpPr/>
          <p:nvPr/>
        </p:nvSpPr>
        <p:spPr>
          <a:xfrm>
            <a:off x="8369280" y="2095560"/>
            <a:ext cx="324756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Speedup quasi perfetto fino a 4.29x con 4 thread</a:t>
            </a:r>
            <a:endParaRPr b="0" lang="it-IT" sz="1200" spc="-1" strike="noStrike">
              <a:solidFill>
                <a:srgbClr val="000000"/>
              </a:solidFill>
              <a:latin typeface="Arial"/>
            </a:endParaRPr>
          </a:p>
        </p:txBody>
      </p:sp>
      <p:sp>
        <p:nvSpPr>
          <p:cNvPr id="292" name="Shape 8"/>
          <p:cNvSpPr/>
          <p:nvPr/>
        </p:nvSpPr>
        <p:spPr>
          <a:xfrm>
            <a:off x="8254800" y="2743200"/>
            <a:ext cx="3400200" cy="685440"/>
          </a:xfrm>
          <a:custGeom>
            <a:avLst/>
            <a:gdLst>
              <a:gd name="textAreaLeft" fmla="*/ 0 w 3400200"/>
              <a:gd name="textAreaRight" fmla="*/ 3400560 w 3400200"/>
              <a:gd name="textAreaTop" fmla="*/ 0 h 685440"/>
              <a:gd name="textAreaBottom" fmla="*/ 685800 h 685440"/>
            </a:gdLst>
            <a:ahLst/>
            <a:rect l="textAreaLeft" t="textAreaTop" r="textAreaRight" b="textAreaBottom"/>
            <a:pathLst>
              <a:path w="3400425" h="685800">
                <a:moveTo>
                  <a:pt x="76199" y="0"/>
                </a:moveTo>
                <a:lnTo>
                  <a:pt x="3324226" y="0"/>
                </a:lnTo>
                <a:cubicBezTo>
                  <a:pt x="3366309" y="0"/>
                  <a:pt x="3400425" y="34116"/>
                  <a:pt x="3400425" y="76199"/>
                </a:cubicBezTo>
                <a:lnTo>
                  <a:pt x="3400425" y="609601"/>
                </a:lnTo>
                <a:cubicBezTo>
                  <a:pt x="3400425" y="651684"/>
                  <a:pt x="3366309" y="685800"/>
                  <a:pt x="3324226" y="685800"/>
                </a:cubicBezTo>
                <a:lnTo>
                  <a:pt x="76199" y="685800"/>
                </a:lnTo>
                <a:cubicBezTo>
                  <a:pt x="34116" y="685800"/>
                  <a:pt x="0" y="651684"/>
                  <a:pt x="0" y="609601"/>
                </a:cubicBezTo>
                <a:lnTo>
                  <a:pt x="0" y="76199"/>
                </a:lnTo>
                <a:cubicBezTo>
                  <a:pt x="0" y="34144"/>
                  <a:pt x="34144" y="0"/>
                  <a:pt x="76199"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93" name="Text 9"/>
          <p:cNvSpPr/>
          <p:nvPr/>
        </p:nvSpPr>
        <p:spPr>
          <a:xfrm>
            <a:off x="8369280" y="2857680"/>
            <a:ext cx="32475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Fase 2: Plateau (8+ thread)</a:t>
            </a:r>
            <a:endParaRPr b="0" lang="it-IT" sz="1200" spc="-1" strike="noStrike">
              <a:solidFill>
                <a:srgbClr val="000000"/>
              </a:solidFill>
              <a:latin typeface="Arial"/>
            </a:endParaRPr>
          </a:p>
        </p:txBody>
      </p:sp>
      <p:sp>
        <p:nvSpPr>
          <p:cNvPr id="294" name="Text 10"/>
          <p:cNvSpPr/>
          <p:nvPr/>
        </p:nvSpPr>
        <p:spPr>
          <a:xfrm>
            <a:off x="8369280" y="3086280"/>
            <a:ext cx="32475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Speedup massimo 6.25x, poi stabilizzazione</a:t>
            </a:r>
            <a:endParaRPr b="0" lang="it-IT" sz="1200" spc="-1" strike="noStrike">
              <a:solidFill>
                <a:srgbClr val="000000"/>
              </a:solidFill>
              <a:latin typeface="Arial"/>
            </a:endParaRPr>
          </a:p>
        </p:txBody>
      </p:sp>
      <p:sp>
        <p:nvSpPr>
          <p:cNvPr id="295" name="Shape 11"/>
          <p:cNvSpPr/>
          <p:nvPr/>
        </p:nvSpPr>
        <p:spPr>
          <a:xfrm>
            <a:off x="8119800" y="3733920"/>
            <a:ext cx="3693600" cy="1638000"/>
          </a:xfrm>
          <a:custGeom>
            <a:avLst/>
            <a:gdLst>
              <a:gd name="textAreaLeft" fmla="*/ 0 w 3693600"/>
              <a:gd name="textAreaRight" fmla="*/ 3693960 w 3693600"/>
              <a:gd name="textAreaTop" fmla="*/ 0 h 1638000"/>
              <a:gd name="textAreaBottom" fmla="*/ 1638360 h 1638000"/>
            </a:gdLst>
            <a:ahLst/>
            <a:rect l="textAreaLeft" t="textAreaTop" r="textAreaRight" b="textAreaBottom"/>
            <a:pathLst>
              <a:path w="3693968" h="1638300">
                <a:moveTo>
                  <a:pt x="34636" y="0"/>
                </a:moveTo>
                <a:lnTo>
                  <a:pt x="3617771" y="0"/>
                </a:lnTo>
                <a:cubicBezTo>
                  <a:pt x="3659853" y="0"/>
                  <a:pt x="3693968" y="34115"/>
                  <a:pt x="3693968" y="76197"/>
                </a:cubicBezTo>
                <a:lnTo>
                  <a:pt x="3693968" y="1562103"/>
                </a:lnTo>
                <a:cubicBezTo>
                  <a:pt x="3693968" y="1604185"/>
                  <a:pt x="3659853" y="1638300"/>
                  <a:pt x="3617771" y="1638300"/>
                </a:cubicBezTo>
                <a:lnTo>
                  <a:pt x="34636" y="1638300"/>
                </a:lnTo>
                <a:cubicBezTo>
                  <a:pt x="15507" y="1638300"/>
                  <a:pt x="0" y="1622793"/>
                  <a:pt x="0" y="1603664"/>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96" name="Shape 12"/>
          <p:cNvSpPr/>
          <p:nvPr/>
        </p:nvSpPr>
        <p:spPr>
          <a:xfrm>
            <a:off x="8119800" y="3733920"/>
            <a:ext cx="34200" cy="1638000"/>
          </a:xfrm>
          <a:custGeom>
            <a:avLst/>
            <a:gdLst>
              <a:gd name="textAreaLeft" fmla="*/ 0 w 34200"/>
              <a:gd name="textAreaRight" fmla="*/ 34560 w 34200"/>
              <a:gd name="textAreaTop" fmla="*/ 0 h 1638000"/>
              <a:gd name="textAreaBottom" fmla="*/ 1638360 h 1638000"/>
            </a:gdLst>
            <a:ahLst/>
            <a:rect l="textAreaLeft" t="textAreaTop" r="textAreaRight" b="textAreaBottom"/>
            <a:pathLst>
              <a:path w="34636" h="1638300">
                <a:moveTo>
                  <a:pt x="34636" y="0"/>
                </a:moveTo>
                <a:lnTo>
                  <a:pt x="34636" y="0"/>
                </a:lnTo>
                <a:lnTo>
                  <a:pt x="34636" y="1638300"/>
                </a:lnTo>
                <a:lnTo>
                  <a:pt x="34636" y="1638300"/>
                </a:lnTo>
                <a:cubicBezTo>
                  <a:pt x="15507" y="1638300"/>
                  <a:pt x="0" y="1622793"/>
                  <a:pt x="0" y="1603664"/>
                </a:cubicBez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297" name="Text 13"/>
          <p:cNvSpPr/>
          <p:nvPr/>
        </p:nvSpPr>
        <p:spPr>
          <a:xfrm>
            <a:off x="8289720" y="3886200"/>
            <a:ext cx="345708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Liter"/>
                <a:ea typeface="Liter"/>
              </a:rPr>
              <a:t>Cosa Mostra</a:t>
            </a:r>
            <a:endParaRPr b="0" lang="it-IT" sz="1350" spc="-1" strike="noStrike">
              <a:solidFill>
                <a:srgbClr val="000000"/>
              </a:solidFill>
              <a:latin typeface="Arial"/>
            </a:endParaRPr>
          </a:p>
        </p:txBody>
      </p:sp>
      <p:sp>
        <p:nvSpPr>
          <p:cNvPr id="298" name="Text 14"/>
          <p:cNvSpPr/>
          <p:nvPr/>
        </p:nvSpPr>
        <p:spPr>
          <a:xfrm>
            <a:off x="8289720" y="4229280"/>
            <a:ext cx="3447720" cy="99036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200" spc="-1" strike="noStrike">
                <a:solidFill>
                  <a:srgbClr val="2e3440"/>
                </a:solidFill>
                <a:latin typeface="Quattrocento Sans"/>
                <a:ea typeface="Quattrocento Sans"/>
              </a:rPr>
              <a:t>La curva evidenzia una scalabilità quasi lineare nei primi 4 thread, seguita da un plateau oltre gli 8 thread, corrispondente al numero di thread logici disponibili sulla CPU.</a:t>
            </a:r>
            <a:endParaRPr b="0" lang="it-IT" sz="1200" spc="-1" strike="noStrike">
              <a:solidFill>
                <a:srgbClr val="000000"/>
              </a:solidFill>
              <a:latin typeface="Arial"/>
            </a:endParaRPr>
          </a:p>
        </p:txBody>
      </p:sp>
      <p:sp>
        <p:nvSpPr>
          <p:cNvPr id="299" name="Shape 15"/>
          <p:cNvSpPr/>
          <p:nvPr/>
        </p:nvSpPr>
        <p:spPr>
          <a:xfrm>
            <a:off x="398160" y="5486400"/>
            <a:ext cx="3693600" cy="990360"/>
          </a:xfrm>
          <a:custGeom>
            <a:avLst/>
            <a:gdLst>
              <a:gd name="textAreaLeft" fmla="*/ 0 w 3693600"/>
              <a:gd name="textAreaRight" fmla="*/ 3693960 w 3693600"/>
              <a:gd name="textAreaTop" fmla="*/ 0 h 990360"/>
              <a:gd name="textAreaBottom" fmla="*/ 990720 h 990360"/>
            </a:gdLst>
            <a:ahLst/>
            <a:rect l="textAreaLeft" t="textAreaTop" r="textAreaRight" b="textAreaBottom"/>
            <a:pathLst>
              <a:path w="3693968" h="990600">
                <a:moveTo>
                  <a:pt x="34636" y="0"/>
                </a:moveTo>
                <a:lnTo>
                  <a:pt x="3617771" y="0"/>
                </a:lnTo>
                <a:cubicBezTo>
                  <a:pt x="3659854" y="0"/>
                  <a:pt x="3693968" y="34115"/>
                  <a:pt x="3693968" y="76197"/>
                </a:cubicBezTo>
                <a:lnTo>
                  <a:pt x="3693968" y="914403"/>
                </a:lnTo>
                <a:cubicBezTo>
                  <a:pt x="3693968" y="956485"/>
                  <a:pt x="3659854" y="990600"/>
                  <a:pt x="3617771" y="990600"/>
                </a:cubicBezTo>
                <a:lnTo>
                  <a:pt x="34636" y="990600"/>
                </a:lnTo>
                <a:cubicBezTo>
                  <a:pt x="15507" y="990600"/>
                  <a:pt x="0" y="975093"/>
                  <a:pt x="0" y="955964"/>
                </a:cubicBezTo>
                <a:lnTo>
                  <a:pt x="0" y="34636"/>
                </a:lnTo>
                <a:cubicBezTo>
                  <a:pt x="0" y="15507"/>
                  <a:pt x="15507" y="0"/>
                  <a:pt x="34636" y="0"/>
                </a:cubicBezTo>
                <a:close/>
              </a:path>
            </a:pathLst>
          </a:custGeom>
          <a:solidFill>
            <a:srgbClr val="5e81ac">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00" name="Shape 16"/>
          <p:cNvSpPr/>
          <p:nvPr/>
        </p:nvSpPr>
        <p:spPr>
          <a:xfrm>
            <a:off x="398160" y="5486400"/>
            <a:ext cx="34200" cy="990360"/>
          </a:xfrm>
          <a:custGeom>
            <a:avLst/>
            <a:gdLst>
              <a:gd name="textAreaLeft" fmla="*/ 0 w 34200"/>
              <a:gd name="textAreaRight" fmla="*/ 34560 w 34200"/>
              <a:gd name="textAreaTop" fmla="*/ 0 h 990360"/>
              <a:gd name="textAreaBottom" fmla="*/ 990720 h 990360"/>
            </a:gdLst>
            <a:ahLst/>
            <a:rect l="textAreaLeft" t="textAreaTop" r="textAreaRight" b="textAreaBottom"/>
            <a:pathLst>
              <a:path w="34636" h="990600">
                <a:moveTo>
                  <a:pt x="34636" y="0"/>
                </a:moveTo>
                <a:lnTo>
                  <a:pt x="34636" y="0"/>
                </a:lnTo>
                <a:lnTo>
                  <a:pt x="34636" y="990600"/>
                </a:lnTo>
                <a:lnTo>
                  <a:pt x="34636" y="990600"/>
                </a:lnTo>
                <a:cubicBezTo>
                  <a:pt x="15507" y="990600"/>
                  <a:pt x="0" y="975093"/>
                  <a:pt x="0" y="955964"/>
                </a:cubicBez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01" name="Text 17"/>
          <p:cNvSpPr/>
          <p:nvPr/>
        </p:nvSpPr>
        <p:spPr>
          <a:xfrm>
            <a:off x="529920" y="5600880"/>
            <a:ext cx="353340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Quattrocento Sans"/>
                <a:ea typeface="Quattrocento Sans"/>
              </a:rPr>
              <a:t>Speedup Lineare Ideale</a:t>
            </a:r>
            <a:endParaRPr b="0" lang="it-IT" sz="1350" spc="-1" strike="noStrike">
              <a:solidFill>
                <a:srgbClr val="000000"/>
              </a:solidFill>
              <a:latin typeface="Arial"/>
            </a:endParaRPr>
          </a:p>
        </p:txBody>
      </p:sp>
      <p:sp>
        <p:nvSpPr>
          <p:cNvPr id="302" name="Text 18"/>
          <p:cNvSpPr/>
          <p:nvPr/>
        </p:nvSpPr>
        <p:spPr>
          <a:xfrm>
            <a:off x="529920" y="5905440"/>
            <a:ext cx="352404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Speedup = Numero di thread (linea rossa tratteggiata)</a:t>
            </a:r>
            <a:endParaRPr b="0" lang="it-IT" sz="1200" spc="-1" strike="noStrike">
              <a:solidFill>
                <a:srgbClr val="000000"/>
              </a:solidFill>
              <a:latin typeface="Arial"/>
            </a:endParaRPr>
          </a:p>
        </p:txBody>
      </p:sp>
      <p:sp>
        <p:nvSpPr>
          <p:cNvPr id="303" name="Shape 19"/>
          <p:cNvSpPr/>
          <p:nvPr/>
        </p:nvSpPr>
        <p:spPr>
          <a:xfrm>
            <a:off x="4259160" y="5486400"/>
            <a:ext cx="3693600" cy="990360"/>
          </a:xfrm>
          <a:custGeom>
            <a:avLst/>
            <a:gdLst>
              <a:gd name="textAreaLeft" fmla="*/ 0 w 3693600"/>
              <a:gd name="textAreaRight" fmla="*/ 3693960 w 3693600"/>
              <a:gd name="textAreaTop" fmla="*/ 0 h 990360"/>
              <a:gd name="textAreaBottom" fmla="*/ 990720 h 990360"/>
            </a:gdLst>
            <a:ahLst/>
            <a:rect l="textAreaLeft" t="textAreaTop" r="textAreaRight" b="textAreaBottom"/>
            <a:pathLst>
              <a:path w="3693968" h="990600">
                <a:moveTo>
                  <a:pt x="34636" y="0"/>
                </a:moveTo>
                <a:lnTo>
                  <a:pt x="3617771" y="0"/>
                </a:lnTo>
                <a:cubicBezTo>
                  <a:pt x="3659854" y="0"/>
                  <a:pt x="3693968" y="34115"/>
                  <a:pt x="3693968" y="76197"/>
                </a:cubicBezTo>
                <a:lnTo>
                  <a:pt x="3693968" y="914403"/>
                </a:lnTo>
                <a:cubicBezTo>
                  <a:pt x="3693968" y="956485"/>
                  <a:pt x="3659854" y="990600"/>
                  <a:pt x="3617771" y="990600"/>
                </a:cubicBezTo>
                <a:lnTo>
                  <a:pt x="34636" y="990600"/>
                </a:lnTo>
                <a:cubicBezTo>
                  <a:pt x="15507" y="990600"/>
                  <a:pt x="0" y="975093"/>
                  <a:pt x="0" y="955964"/>
                </a:cubicBezTo>
                <a:lnTo>
                  <a:pt x="0" y="34636"/>
                </a:lnTo>
                <a:cubicBezTo>
                  <a:pt x="0" y="15507"/>
                  <a:pt x="15507" y="0"/>
                  <a:pt x="34636"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04" name="Shape 20"/>
          <p:cNvSpPr/>
          <p:nvPr/>
        </p:nvSpPr>
        <p:spPr>
          <a:xfrm>
            <a:off x="4259160" y="5486400"/>
            <a:ext cx="34200" cy="990360"/>
          </a:xfrm>
          <a:custGeom>
            <a:avLst/>
            <a:gdLst>
              <a:gd name="textAreaLeft" fmla="*/ 0 w 34200"/>
              <a:gd name="textAreaRight" fmla="*/ 34560 w 34200"/>
              <a:gd name="textAreaTop" fmla="*/ 0 h 990360"/>
              <a:gd name="textAreaBottom" fmla="*/ 990720 h 990360"/>
            </a:gdLst>
            <a:ahLst/>
            <a:rect l="textAreaLeft" t="textAreaTop" r="textAreaRight" b="textAreaBottom"/>
            <a:pathLst>
              <a:path w="34636" h="990600">
                <a:moveTo>
                  <a:pt x="34636" y="0"/>
                </a:moveTo>
                <a:lnTo>
                  <a:pt x="34636" y="0"/>
                </a:lnTo>
                <a:lnTo>
                  <a:pt x="34636" y="990600"/>
                </a:lnTo>
                <a:lnTo>
                  <a:pt x="34636" y="990600"/>
                </a:lnTo>
                <a:cubicBezTo>
                  <a:pt x="15507" y="990600"/>
                  <a:pt x="0" y="975093"/>
                  <a:pt x="0" y="95596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05" name="Text 21"/>
          <p:cNvSpPr/>
          <p:nvPr/>
        </p:nvSpPr>
        <p:spPr>
          <a:xfrm>
            <a:off x="4390560" y="5600880"/>
            <a:ext cx="353340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Quattrocento Sans"/>
                <a:ea typeface="Quattrocento Sans"/>
              </a:rPr>
              <a:t>Speedup Reale</a:t>
            </a:r>
            <a:endParaRPr b="0" lang="it-IT" sz="1350" spc="-1" strike="noStrike">
              <a:solidFill>
                <a:srgbClr val="000000"/>
              </a:solidFill>
              <a:latin typeface="Arial"/>
            </a:endParaRPr>
          </a:p>
        </p:txBody>
      </p:sp>
      <p:sp>
        <p:nvSpPr>
          <p:cNvPr id="306" name="Text 22"/>
          <p:cNvSpPr/>
          <p:nvPr/>
        </p:nvSpPr>
        <p:spPr>
          <a:xfrm>
            <a:off x="4390560" y="5905440"/>
            <a:ext cx="35240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Dati sperimentali misurati (linea blu continua)</a:t>
            </a:r>
            <a:endParaRPr b="0" lang="it-IT" sz="1200" spc="-1" strike="noStrike">
              <a:solidFill>
                <a:srgbClr val="000000"/>
              </a:solidFill>
              <a:latin typeface="Arial"/>
            </a:endParaRPr>
          </a:p>
        </p:txBody>
      </p:sp>
      <p:sp>
        <p:nvSpPr>
          <p:cNvPr id="307" name="Shape 23"/>
          <p:cNvSpPr/>
          <p:nvPr/>
        </p:nvSpPr>
        <p:spPr>
          <a:xfrm>
            <a:off x="8119800" y="5486400"/>
            <a:ext cx="3693600" cy="990360"/>
          </a:xfrm>
          <a:custGeom>
            <a:avLst/>
            <a:gdLst>
              <a:gd name="textAreaLeft" fmla="*/ 0 w 3693600"/>
              <a:gd name="textAreaRight" fmla="*/ 3693960 w 3693600"/>
              <a:gd name="textAreaTop" fmla="*/ 0 h 990360"/>
              <a:gd name="textAreaBottom" fmla="*/ 990720 h 990360"/>
            </a:gdLst>
            <a:ahLst/>
            <a:rect l="textAreaLeft" t="textAreaTop" r="textAreaRight" b="textAreaBottom"/>
            <a:pathLst>
              <a:path w="3693968" h="990600">
                <a:moveTo>
                  <a:pt x="34636" y="0"/>
                </a:moveTo>
                <a:lnTo>
                  <a:pt x="3617771" y="0"/>
                </a:lnTo>
                <a:cubicBezTo>
                  <a:pt x="3659854" y="0"/>
                  <a:pt x="3693968" y="34115"/>
                  <a:pt x="3693968" y="76197"/>
                </a:cubicBezTo>
                <a:lnTo>
                  <a:pt x="3693968" y="914403"/>
                </a:lnTo>
                <a:cubicBezTo>
                  <a:pt x="3693968" y="956485"/>
                  <a:pt x="3659854" y="990600"/>
                  <a:pt x="3617771" y="990600"/>
                </a:cubicBezTo>
                <a:lnTo>
                  <a:pt x="34636" y="990600"/>
                </a:lnTo>
                <a:cubicBezTo>
                  <a:pt x="15507" y="990600"/>
                  <a:pt x="0" y="975093"/>
                  <a:pt x="0" y="955964"/>
                </a:cubicBezTo>
                <a:lnTo>
                  <a:pt x="0" y="34636"/>
                </a:lnTo>
                <a:cubicBezTo>
                  <a:pt x="0" y="15507"/>
                  <a:pt x="15507" y="0"/>
                  <a:pt x="34636" y="0"/>
                </a:cubicBezTo>
                <a:close/>
              </a:path>
            </a:pathLst>
          </a:custGeom>
          <a:solidFill>
            <a:srgbClr val="5e81ac">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08" name="Shape 24"/>
          <p:cNvSpPr/>
          <p:nvPr/>
        </p:nvSpPr>
        <p:spPr>
          <a:xfrm>
            <a:off x="8119800" y="5486400"/>
            <a:ext cx="34200" cy="990360"/>
          </a:xfrm>
          <a:custGeom>
            <a:avLst/>
            <a:gdLst>
              <a:gd name="textAreaLeft" fmla="*/ 0 w 34200"/>
              <a:gd name="textAreaRight" fmla="*/ 34560 w 34200"/>
              <a:gd name="textAreaTop" fmla="*/ 0 h 990360"/>
              <a:gd name="textAreaBottom" fmla="*/ 990720 h 990360"/>
            </a:gdLst>
            <a:ahLst/>
            <a:rect l="textAreaLeft" t="textAreaTop" r="textAreaRight" b="textAreaBottom"/>
            <a:pathLst>
              <a:path w="34636" h="990600">
                <a:moveTo>
                  <a:pt x="34636" y="0"/>
                </a:moveTo>
                <a:lnTo>
                  <a:pt x="34636" y="0"/>
                </a:lnTo>
                <a:lnTo>
                  <a:pt x="34636" y="990600"/>
                </a:lnTo>
                <a:lnTo>
                  <a:pt x="34636" y="990600"/>
                </a:lnTo>
                <a:cubicBezTo>
                  <a:pt x="15507" y="990600"/>
                  <a:pt x="0" y="975093"/>
                  <a:pt x="0" y="955964"/>
                </a:cubicBez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09" name="Text 25"/>
          <p:cNvSpPr/>
          <p:nvPr/>
        </p:nvSpPr>
        <p:spPr>
          <a:xfrm>
            <a:off x="8251560" y="5600880"/>
            <a:ext cx="353340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Quattrocento Sans"/>
                <a:ea typeface="Quattrocento Sans"/>
              </a:rPr>
              <a:t>Plateau Prestazionale</a:t>
            </a:r>
            <a:endParaRPr b="0" lang="it-IT" sz="1350" spc="-1" strike="noStrike">
              <a:solidFill>
                <a:srgbClr val="000000"/>
              </a:solidFill>
              <a:latin typeface="Arial"/>
            </a:endParaRPr>
          </a:p>
        </p:txBody>
      </p:sp>
      <p:sp>
        <p:nvSpPr>
          <p:cNvPr id="310" name="Text 26"/>
          <p:cNvSpPr/>
          <p:nvPr/>
        </p:nvSpPr>
        <p:spPr>
          <a:xfrm>
            <a:off x="8251560" y="5905440"/>
            <a:ext cx="35240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Stabilizzazione oltre 8 thread</a:t>
            </a:r>
            <a:endParaRPr b="0" lang="it-IT" sz="1200" spc="-1" strike="noStrike">
              <a:solidFill>
                <a:srgbClr val="000000"/>
              </a:solidFill>
              <a:latin typeface="Arial"/>
            </a:endParaRPr>
          </a:p>
        </p:txBody>
      </p:sp>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311" name="Text 0"/>
          <p:cNvSpPr/>
          <p:nvPr/>
        </p:nvSpPr>
        <p:spPr>
          <a:xfrm>
            <a:off x="365760" y="365760"/>
            <a:ext cx="11532960" cy="219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50" spc="114" strike="noStrike">
                <a:solidFill>
                  <a:srgbClr val="5e81ac"/>
                </a:solidFill>
                <a:latin typeface="Quattrocento Sans"/>
                <a:ea typeface="Quattrocento Sans"/>
              </a:rPr>
              <a:t>Analisi Temporale</a:t>
            </a:r>
            <a:endParaRPr b="0" lang="it-IT" sz="1150" spc="-1" strike="noStrike">
              <a:solidFill>
                <a:srgbClr val="000000"/>
              </a:solidFill>
              <a:latin typeface="Arial"/>
            </a:endParaRPr>
          </a:p>
        </p:txBody>
      </p:sp>
      <p:sp>
        <p:nvSpPr>
          <p:cNvPr id="312" name="Text 1"/>
          <p:cNvSpPr/>
          <p:nvPr/>
        </p:nvSpPr>
        <p:spPr>
          <a:xfrm>
            <a:off x="365760" y="658440"/>
            <a:ext cx="11679480" cy="43884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459" spc="-1" strike="noStrike">
                <a:solidFill>
                  <a:srgbClr val="2e3440"/>
                </a:solidFill>
                <a:latin typeface="Liter"/>
                <a:ea typeface="Liter"/>
              </a:rPr>
              <a:t>Tempi di Esecuzione</a:t>
            </a:r>
            <a:endParaRPr b="0" lang="it-IT" sz="3459" spc="-1" strike="noStrike">
              <a:solidFill>
                <a:srgbClr val="000000"/>
              </a:solidFill>
              <a:latin typeface="Arial"/>
            </a:endParaRPr>
          </a:p>
        </p:txBody>
      </p:sp>
      <p:sp>
        <p:nvSpPr>
          <p:cNvPr id="313" name="Shape 2"/>
          <p:cNvSpPr/>
          <p:nvPr/>
        </p:nvSpPr>
        <p:spPr>
          <a:xfrm>
            <a:off x="365760" y="1170720"/>
            <a:ext cx="7590960" cy="4024080"/>
          </a:xfrm>
          <a:custGeom>
            <a:avLst/>
            <a:gdLst>
              <a:gd name="textAreaLeft" fmla="*/ 0 w 7590960"/>
              <a:gd name="textAreaRight" fmla="*/ 7591320 w 7590960"/>
              <a:gd name="textAreaTop" fmla="*/ 0 h 4024080"/>
              <a:gd name="textAreaBottom" fmla="*/ 4024440 h 4024080"/>
            </a:gdLst>
            <a:ahLst/>
            <a:rect l="textAreaLeft" t="textAreaTop" r="textAreaRight" b="textAreaBottom"/>
            <a:pathLst>
              <a:path w="7591418" h="4024366">
                <a:moveTo>
                  <a:pt x="73163" y="0"/>
                </a:moveTo>
                <a:lnTo>
                  <a:pt x="7518255" y="0"/>
                </a:lnTo>
                <a:cubicBezTo>
                  <a:pt x="7558662" y="0"/>
                  <a:pt x="7591418" y="32756"/>
                  <a:pt x="7591418" y="73163"/>
                </a:cubicBezTo>
                <a:lnTo>
                  <a:pt x="7591418" y="3951203"/>
                </a:lnTo>
                <a:cubicBezTo>
                  <a:pt x="7591418" y="3991610"/>
                  <a:pt x="7558662" y="4024366"/>
                  <a:pt x="7518255" y="4024366"/>
                </a:cubicBezTo>
                <a:lnTo>
                  <a:pt x="73163" y="4024366"/>
                </a:lnTo>
                <a:cubicBezTo>
                  <a:pt x="32756" y="4024366"/>
                  <a:pt x="0" y="3991610"/>
                  <a:pt x="0" y="3951203"/>
                </a:cubicBezTo>
                <a:lnTo>
                  <a:pt x="0" y="73163"/>
                </a:lnTo>
                <a:cubicBezTo>
                  <a:pt x="0" y="32783"/>
                  <a:pt x="32783" y="0"/>
                  <a:pt x="73163" y="0"/>
                </a:cubicBezTo>
                <a:close/>
              </a:path>
            </a:pathLst>
          </a:custGeom>
          <a:solidFill>
            <a:srgbClr val="ffffff"/>
          </a:solidFill>
          <a:ln w="0">
            <a:noFill/>
          </a:ln>
          <a:effectLst>
            <a:outerShdw algn="bl" blurRad="54720" dir="5400000" dist="3672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14" name="Image 0"/>
          <p:cNvSpPr/>
          <p:nvPr/>
        </p:nvSpPr>
        <p:spPr>
          <a:xfrm>
            <a:off x="512280" y="1317240"/>
            <a:ext cx="6978240" cy="37314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15" name="Shape 3"/>
          <p:cNvSpPr/>
          <p:nvPr/>
        </p:nvSpPr>
        <p:spPr>
          <a:xfrm>
            <a:off x="8105760" y="1170720"/>
            <a:ext cx="3722040" cy="2048400"/>
          </a:xfrm>
          <a:custGeom>
            <a:avLst/>
            <a:gdLst>
              <a:gd name="textAreaLeft" fmla="*/ 0 w 3722040"/>
              <a:gd name="textAreaRight" fmla="*/ 3722400 w 3722040"/>
              <a:gd name="textAreaTop" fmla="*/ 0 h 2048400"/>
              <a:gd name="textAreaBottom" fmla="*/ 2048760 h 2048400"/>
            </a:gdLst>
            <a:ahLst/>
            <a:rect l="textAreaLeft" t="textAreaTop" r="textAreaRight" b="textAreaBottom"/>
            <a:pathLst>
              <a:path w="3722539" h="2048768">
                <a:moveTo>
                  <a:pt x="73162" y="0"/>
                </a:moveTo>
                <a:lnTo>
                  <a:pt x="3649377" y="0"/>
                </a:lnTo>
                <a:cubicBezTo>
                  <a:pt x="3689783" y="0"/>
                  <a:pt x="3722539" y="32756"/>
                  <a:pt x="3722539" y="73162"/>
                </a:cubicBezTo>
                <a:lnTo>
                  <a:pt x="3722539" y="1975607"/>
                </a:lnTo>
                <a:cubicBezTo>
                  <a:pt x="3722539" y="2016013"/>
                  <a:pt x="3689783" y="2048768"/>
                  <a:pt x="3649377" y="2048768"/>
                </a:cubicBezTo>
                <a:lnTo>
                  <a:pt x="73162" y="2048768"/>
                </a:lnTo>
                <a:cubicBezTo>
                  <a:pt x="32756" y="2048768"/>
                  <a:pt x="0" y="2016013"/>
                  <a:pt x="0" y="1975607"/>
                </a:cubicBezTo>
                <a:lnTo>
                  <a:pt x="0" y="73162"/>
                </a:lnTo>
                <a:cubicBezTo>
                  <a:pt x="0" y="32783"/>
                  <a:pt x="32783" y="0"/>
                  <a:pt x="73162" y="0"/>
                </a:cubicBezTo>
                <a:close/>
              </a:path>
            </a:pathLst>
          </a:custGeom>
          <a:gradFill rotWithShape="0">
            <a:gsLst>
              <a:gs pos="0">
                <a:srgbClr val="88c0d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16" name="Text 4"/>
          <p:cNvSpPr/>
          <p:nvPr/>
        </p:nvSpPr>
        <p:spPr>
          <a:xfrm>
            <a:off x="8251920" y="1317240"/>
            <a:ext cx="3520800" cy="255600"/>
          </a:xfrm>
          <a:prstGeom prst="rect">
            <a:avLst/>
          </a:prstGeom>
          <a:noFill/>
          <a:ln w="0">
            <a:noFill/>
          </a:ln>
        </p:spPr>
        <p:style>
          <a:lnRef idx="0"/>
          <a:fillRef idx="0"/>
          <a:effectRef idx="0"/>
          <a:fontRef idx="minor"/>
        </p:style>
        <p:txBody>
          <a:bodyPr lIns="0" rIns="0" tIns="0" bIns="0" anchor="ctr">
            <a:noAutofit/>
          </a:bodyPr>
          <a:p>
            <a:pPr>
              <a:lnSpc>
                <a:spcPct val="120000"/>
              </a:lnSpc>
            </a:pPr>
            <a:r>
              <a:rPr b="1" lang="en-US" sz="1440" spc="-1" strike="noStrike">
                <a:solidFill>
                  <a:srgbClr val="ffffff"/>
                </a:solidFill>
                <a:latin typeface="Liter"/>
                <a:ea typeface="Liter"/>
              </a:rPr>
              <a:t>Trend Osservato</a:t>
            </a:r>
            <a:endParaRPr b="0" lang="it-IT" sz="1440" spc="-1" strike="noStrike">
              <a:solidFill>
                <a:srgbClr val="000000"/>
              </a:solidFill>
              <a:latin typeface="Arial"/>
            </a:endParaRPr>
          </a:p>
        </p:txBody>
      </p:sp>
      <p:sp>
        <p:nvSpPr>
          <p:cNvPr id="317" name="Shape 5"/>
          <p:cNvSpPr/>
          <p:nvPr/>
        </p:nvSpPr>
        <p:spPr>
          <a:xfrm>
            <a:off x="8251920" y="1683000"/>
            <a:ext cx="3429360" cy="658080"/>
          </a:xfrm>
          <a:custGeom>
            <a:avLst/>
            <a:gdLst>
              <a:gd name="textAreaLeft" fmla="*/ 0 w 3429360"/>
              <a:gd name="textAreaRight" fmla="*/ 3429720 w 3429360"/>
              <a:gd name="textAreaTop" fmla="*/ 0 h 658080"/>
              <a:gd name="textAreaBottom" fmla="*/ 658440 h 658080"/>
            </a:gdLst>
            <a:ahLst/>
            <a:rect l="textAreaLeft" t="textAreaTop" r="textAreaRight" b="textAreaBottom"/>
            <a:pathLst>
              <a:path w="3429857" h="658533">
                <a:moveTo>
                  <a:pt x="73170" y="0"/>
                </a:moveTo>
                <a:lnTo>
                  <a:pt x="3356688" y="0"/>
                </a:lnTo>
                <a:cubicBezTo>
                  <a:pt x="3397098" y="0"/>
                  <a:pt x="3429857" y="32759"/>
                  <a:pt x="3429857" y="73170"/>
                </a:cubicBezTo>
                <a:lnTo>
                  <a:pt x="3429857" y="585363"/>
                </a:lnTo>
                <a:cubicBezTo>
                  <a:pt x="3429857" y="625774"/>
                  <a:pt x="3397098" y="658533"/>
                  <a:pt x="3356688" y="658533"/>
                </a:cubicBezTo>
                <a:lnTo>
                  <a:pt x="73170" y="658533"/>
                </a:lnTo>
                <a:cubicBezTo>
                  <a:pt x="32759" y="658533"/>
                  <a:pt x="0" y="625774"/>
                  <a:pt x="0" y="585363"/>
                </a:cubicBezTo>
                <a:lnTo>
                  <a:pt x="0" y="73170"/>
                </a:lnTo>
                <a:cubicBezTo>
                  <a:pt x="0" y="32786"/>
                  <a:pt x="32786" y="0"/>
                  <a:pt x="73170"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18" name="Text 6"/>
          <p:cNvSpPr/>
          <p:nvPr/>
        </p:nvSpPr>
        <p:spPr>
          <a:xfrm>
            <a:off x="8361720" y="1792800"/>
            <a:ext cx="3283200" cy="219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50" spc="-1" strike="noStrike">
                <a:solidFill>
                  <a:srgbClr val="ffffff"/>
                </a:solidFill>
                <a:latin typeface="Quattrocento Sans"/>
                <a:ea typeface="Quattrocento Sans"/>
              </a:rPr>
              <a:t>Crollo Rapido (1-4 thread)</a:t>
            </a:r>
            <a:endParaRPr b="0" lang="it-IT" sz="1150" spc="-1" strike="noStrike">
              <a:solidFill>
                <a:srgbClr val="000000"/>
              </a:solidFill>
              <a:latin typeface="Arial"/>
            </a:endParaRPr>
          </a:p>
        </p:txBody>
      </p:sp>
      <p:sp>
        <p:nvSpPr>
          <p:cNvPr id="319" name="Text 7"/>
          <p:cNvSpPr/>
          <p:nvPr/>
        </p:nvSpPr>
        <p:spPr>
          <a:xfrm>
            <a:off x="8361720" y="2012040"/>
            <a:ext cx="3283200" cy="219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50" spc="-1" strike="noStrike">
                <a:solidFill>
                  <a:srgbClr val="ffffff"/>
                </a:solidFill>
                <a:latin typeface="Quattrocento Sans"/>
                <a:ea typeface="Quattrocento Sans"/>
              </a:rPr>
              <a:t>Da 7.95s a 1.85s (-76.7%)</a:t>
            </a:r>
            <a:endParaRPr b="0" lang="it-IT" sz="1150" spc="-1" strike="noStrike">
              <a:solidFill>
                <a:srgbClr val="000000"/>
              </a:solidFill>
              <a:latin typeface="Arial"/>
            </a:endParaRPr>
          </a:p>
        </p:txBody>
      </p:sp>
      <p:sp>
        <p:nvSpPr>
          <p:cNvPr id="320" name="Shape 8"/>
          <p:cNvSpPr/>
          <p:nvPr/>
        </p:nvSpPr>
        <p:spPr>
          <a:xfrm>
            <a:off x="8251920" y="2414520"/>
            <a:ext cx="3429360" cy="658080"/>
          </a:xfrm>
          <a:custGeom>
            <a:avLst/>
            <a:gdLst>
              <a:gd name="textAreaLeft" fmla="*/ 0 w 3429360"/>
              <a:gd name="textAreaRight" fmla="*/ 3429720 w 3429360"/>
              <a:gd name="textAreaTop" fmla="*/ 0 h 658080"/>
              <a:gd name="textAreaBottom" fmla="*/ 658440 h 658080"/>
            </a:gdLst>
            <a:ahLst/>
            <a:rect l="textAreaLeft" t="textAreaTop" r="textAreaRight" b="textAreaBottom"/>
            <a:pathLst>
              <a:path w="3429857" h="658533">
                <a:moveTo>
                  <a:pt x="73170" y="0"/>
                </a:moveTo>
                <a:lnTo>
                  <a:pt x="3356688" y="0"/>
                </a:lnTo>
                <a:cubicBezTo>
                  <a:pt x="3397098" y="0"/>
                  <a:pt x="3429857" y="32759"/>
                  <a:pt x="3429857" y="73170"/>
                </a:cubicBezTo>
                <a:lnTo>
                  <a:pt x="3429857" y="585363"/>
                </a:lnTo>
                <a:cubicBezTo>
                  <a:pt x="3429857" y="625774"/>
                  <a:pt x="3397098" y="658533"/>
                  <a:pt x="3356688" y="658533"/>
                </a:cubicBezTo>
                <a:lnTo>
                  <a:pt x="73170" y="658533"/>
                </a:lnTo>
                <a:cubicBezTo>
                  <a:pt x="32759" y="658533"/>
                  <a:pt x="0" y="625774"/>
                  <a:pt x="0" y="585363"/>
                </a:cubicBezTo>
                <a:lnTo>
                  <a:pt x="0" y="73170"/>
                </a:lnTo>
                <a:cubicBezTo>
                  <a:pt x="0" y="32786"/>
                  <a:pt x="32786" y="0"/>
                  <a:pt x="73170"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21" name="Text 9"/>
          <p:cNvSpPr/>
          <p:nvPr/>
        </p:nvSpPr>
        <p:spPr>
          <a:xfrm>
            <a:off x="8361720" y="2524320"/>
            <a:ext cx="3283200" cy="219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50" spc="-1" strike="noStrike">
                <a:solidFill>
                  <a:srgbClr val="ffffff"/>
                </a:solidFill>
                <a:latin typeface="Quattrocento Sans"/>
                <a:ea typeface="Quattrocento Sans"/>
              </a:rPr>
              <a:t>Stabilizzazione (8+ thread)</a:t>
            </a:r>
            <a:endParaRPr b="0" lang="it-IT" sz="1150" spc="-1" strike="noStrike">
              <a:solidFill>
                <a:srgbClr val="000000"/>
              </a:solidFill>
              <a:latin typeface="Arial"/>
            </a:endParaRPr>
          </a:p>
        </p:txBody>
      </p:sp>
      <p:sp>
        <p:nvSpPr>
          <p:cNvPr id="322" name="Text 10"/>
          <p:cNvSpPr/>
          <p:nvPr/>
        </p:nvSpPr>
        <p:spPr>
          <a:xfrm>
            <a:off x="8361720" y="2743920"/>
            <a:ext cx="3283200" cy="219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150" spc="-1" strike="noStrike">
                <a:solidFill>
                  <a:srgbClr val="ffffff"/>
                </a:solidFill>
                <a:latin typeface="Quattrocento Sans"/>
                <a:ea typeface="Quattrocento Sans"/>
              </a:rPr>
              <a:t>Attorno a 1.27-1.35s</a:t>
            </a:r>
            <a:endParaRPr b="0" lang="it-IT" sz="1150" spc="-1" strike="noStrike">
              <a:solidFill>
                <a:srgbClr val="000000"/>
              </a:solidFill>
              <a:latin typeface="Arial"/>
            </a:endParaRPr>
          </a:p>
        </p:txBody>
      </p:sp>
      <p:sp>
        <p:nvSpPr>
          <p:cNvPr id="323" name="Shape 11"/>
          <p:cNvSpPr/>
          <p:nvPr/>
        </p:nvSpPr>
        <p:spPr>
          <a:xfrm>
            <a:off x="8122320" y="3366000"/>
            <a:ext cx="3702240" cy="1334880"/>
          </a:xfrm>
          <a:custGeom>
            <a:avLst/>
            <a:gdLst>
              <a:gd name="textAreaLeft" fmla="*/ 0 w 3702240"/>
              <a:gd name="textAreaRight" fmla="*/ 3702600 w 3702240"/>
              <a:gd name="textAreaTop" fmla="*/ 0 h 1334880"/>
              <a:gd name="textAreaBottom" fmla="*/ 1335240 h 1334880"/>
            </a:gdLst>
            <a:ahLst/>
            <a:rect l="textAreaLeft" t="textAreaTop" r="textAreaRight" b="textAreaBottom"/>
            <a:pathLst>
              <a:path w="3702583" h="1335358">
                <a:moveTo>
                  <a:pt x="33259" y="0"/>
                </a:moveTo>
                <a:lnTo>
                  <a:pt x="3629419" y="0"/>
                </a:lnTo>
                <a:cubicBezTo>
                  <a:pt x="3669826" y="0"/>
                  <a:pt x="3702583" y="32757"/>
                  <a:pt x="3702583" y="73164"/>
                </a:cubicBezTo>
                <a:lnTo>
                  <a:pt x="3702583" y="1262194"/>
                </a:lnTo>
                <a:cubicBezTo>
                  <a:pt x="3702583" y="1302601"/>
                  <a:pt x="3669826" y="1335358"/>
                  <a:pt x="3629419" y="1335358"/>
                </a:cubicBezTo>
                <a:lnTo>
                  <a:pt x="33259" y="1335358"/>
                </a:lnTo>
                <a:cubicBezTo>
                  <a:pt x="14891" y="1335358"/>
                  <a:pt x="0" y="1320467"/>
                  <a:pt x="0" y="1302099"/>
                </a:cubicBezTo>
                <a:lnTo>
                  <a:pt x="0" y="33259"/>
                </a:lnTo>
                <a:cubicBezTo>
                  <a:pt x="0" y="14903"/>
                  <a:pt x="14903" y="0"/>
                  <a:pt x="33259" y="0"/>
                </a:cubicBezTo>
                <a:close/>
              </a:path>
            </a:pathLst>
          </a:custGeom>
          <a:solidFill>
            <a:srgbClr val="ffffff"/>
          </a:solidFill>
          <a:ln w="0">
            <a:noFill/>
          </a:ln>
          <a:effectLst>
            <a:outerShdw algn="bl" blurRad="54720" dir="5400000" dist="3672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24" name="Shape 12"/>
          <p:cNvSpPr/>
          <p:nvPr/>
        </p:nvSpPr>
        <p:spPr>
          <a:xfrm>
            <a:off x="8122320" y="3366000"/>
            <a:ext cx="32760" cy="1334880"/>
          </a:xfrm>
          <a:custGeom>
            <a:avLst/>
            <a:gdLst>
              <a:gd name="textAreaLeft" fmla="*/ 0 w 32760"/>
              <a:gd name="textAreaRight" fmla="*/ 33120 w 32760"/>
              <a:gd name="textAreaTop" fmla="*/ 0 h 1334880"/>
              <a:gd name="textAreaBottom" fmla="*/ 1335240 h 1334880"/>
            </a:gdLst>
            <a:ahLst/>
            <a:rect l="textAreaLeft" t="textAreaTop" r="textAreaRight" b="textAreaBottom"/>
            <a:pathLst>
              <a:path w="33259" h="1335358">
                <a:moveTo>
                  <a:pt x="33259" y="0"/>
                </a:moveTo>
                <a:lnTo>
                  <a:pt x="33259" y="0"/>
                </a:lnTo>
                <a:lnTo>
                  <a:pt x="33259" y="1335358"/>
                </a:lnTo>
                <a:lnTo>
                  <a:pt x="33259" y="1335358"/>
                </a:lnTo>
                <a:cubicBezTo>
                  <a:pt x="14891" y="1335358"/>
                  <a:pt x="0" y="1320467"/>
                  <a:pt x="0" y="1302099"/>
                </a:cubicBezTo>
                <a:lnTo>
                  <a:pt x="0" y="33259"/>
                </a:lnTo>
                <a:cubicBezTo>
                  <a:pt x="0" y="14903"/>
                  <a:pt x="14903" y="0"/>
                  <a:pt x="33259"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25" name="Text 13"/>
          <p:cNvSpPr/>
          <p:nvPr/>
        </p:nvSpPr>
        <p:spPr>
          <a:xfrm>
            <a:off x="8285040" y="3512160"/>
            <a:ext cx="3475080" cy="2556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00" spc="-1" strike="noStrike">
                <a:solidFill>
                  <a:srgbClr val="2e3440"/>
                </a:solidFill>
                <a:latin typeface="Liter"/>
                <a:ea typeface="Liter"/>
              </a:rPr>
              <a:t>Cosa Mostra</a:t>
            </a:r>
            <a:endParaRPr b="0" lang="it-IT" sz="1300" spc="-1" strike="noStrike">
              <a:solidFill>
                <a:srgbClr val="000000"/>
              </a:solidFill>
              <a:latin typeface="Arial"/>
            </a:endParaRPr>
          </a:p>
        </p:txBody>
      </p:sp>
      <p:sp>
        <p:nvSpPr>
          <p:cNvPr id="326" name="Text 14"/>
          <p:cNvSpPr/>
          <p:nvPr/>
        </p:nvSpPr>
        <p:spPr>
          <a:xfrm>
            <a:off x="8285040" y="3841560"/>
            <a:ext cx="3466080" cy="71316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150" spc="-1" strike="noStrike">
                <a:solidFill>
                  <a:srgbClr val="2e3440"/>
                </a:solidFill>
                <a:latin typeface="Quattrocento Sans"/>
                <a:ea typeface="Quattrocento Sans"/>
              </a:rPr>
              <a:t>Il tempo crolla rapidamente nei primi 4 thread, poi si stabilizza. Diminuisce di poco oltre gli 8 thread, confermando il plateau prestazionale.</a:t>
            </a:r>
            <a:endParaRPr b="0" lang="it-IT" sz="1150" spc="-1" strike="noStrike">
              <a:solidFill>
                <a:srgbClr val="000000"/>
              </a:solidFill>
              <a:latin typeface="Arial"/>
            </a:endParaRPr>
          </a:p>
        </p:txBody>
      </p:sp>
      <p:sp>
        <p:nvSpPr>
          <p:cNvPr id="327" name="Shape 15"/>
          <p:cNvSpPr/>
          <p:nvPr/>
        </p:nvSpPr>
        <p:spPr>
          <a:xfrm>
            <a:off x="8122320" y="4847400"/>
            <a:ext cx="3702240" cy="731520"/>
          </a:xfrm>
          <a:custGeom>
            <a:avLst/>
            <a:gdLst>
              <a:gd name="textAreaLeft" fmla="*/ 0 w 3702240"/>
              <a:gd name="textAreaRight" fmla="*/ 3702600 w 3702240"/>
              <a:gd name="textAreaTop" fmla="*/ 0 h 731520"/>
              <a:gd name="textAreaBottom" fmla="*/ 731880 h 731520"/>
            </a:gdLst>
            <a:ahLst/>
            <a:rect l="textAreaLeft" t="textAreaTop" r="textAreaRight" b="textAreaBottom"/>
            <a:pathLst>
              <a:path w="3702583" h="731703">
                <a:moveTo>
                  <a:pt x="33259" y="0"/>
                </a:moveTo>
                <a:lnTo>
                  <a:pt x="3629413" y="0"/>
                </a:lnTo>
                <a:cubicBezTo>
                  <a:pt x="3669824" y="0"/>
                  <a:pt x="3702583" y="32759"/>
                  <a:pt x="3702583" y="73170"/>
                </a:cubicBezTo>
                <a:lnTo>
                  <a:pt x="3702583" y="658533"/>
                </a:lnTo>
                <a:cubicBezTo>
                  <a:pt x="3702583" y="698943"/>
                  <a:pt x="3669824" y="731703"/>
                  <a:pt x="3629413" y="731703"/>
                </a:cubicBezTo>
                <a:lnTo>
                  <a:pt x="33259" y="731703"/>
                </a:lnTo>
                <a:cubicBezTo>
                  <a:pt x="14891" y="731703"/>
                  <a:pt x="0" y="716812"/>
                  <a:pt x="0" y="698444"/>
                </a:cubicBezTo>
                <a:lnTo>
                  <a:pt x="0" y="33259"/>
                </a:lnTo>
                <a:cubicBezTo>
                  <a:pt x="0" y="14903"/>
                  <a:pt x="14903" y="0"/>
                  <a:pt x="33259" y="0"/>
                </a:cubicBezTo>
                <a:close/>
              </a:path>
            </a:pathLst>
          </a:custGeom>
          <a:solidFill>
            <a:srgbClr val="5e81ac">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28" name="Shape 16"/>
          <p:cNvSpPr/>
          <p:nvPr/>
        </p:nvSpPr>
        <p:spPr>
          <a:xfrm>
            <a:off x="8122320" y="4847400"/>
            <a:ext cx="32760" cy="731520"/>
          </a:xfrm>
          <a:custGeom>
            <a:avLst/>
            <a:gdLst>
              <a:gd name="textAreaLeft" fmla="*/ 0 w 32760"/>
              <a:gd name="textAreaRight" fmla="*/ 33120 w 32760"/>
              <a:gd name="textAreaTop" fmla="*/ 0 h 731520"/>
              <a:gd name="textAreaBottom" fmla="*/ 731880 h 731520"/>
            </a:gdLst>
            <a:ahLst/>
            <a:rect l="textAreaLeft" t="textAreaTop" r="textAreaRight" b="textAreaBottom"/>
            <a:pathLst>
              <a:path w="33259" h="731703">
                <a:moveTo>
                  <a:pt x="33259" y="0"/>
                </a:moveTo>
                <a:lnTo>
                  <a:pt x="33259" y="0"/>
                </a:lnTo>
                <a:lnTo>
                  <a:pt x="33259" y="731703"/>
                </a:lnTo>
                <a:lnTo>
                  <a:pt x="33259" y="731703"/>
                </a:lnTo>
                <a:cubicBezTo>
                  <a:pt x="14891" y="731703"/>
                  <a:pt x="0" y="716812"/>
                  <a:pt x="0" y="698444"/>
                </a:cubicBezTo>
                <a:lnTo>
                  <a:pt x="0" y="33259"/>
                </a:lnTo>
                <a:cubicBezTo>
                  <a:pt x="0" y="14903"/>
                  <a:pt x="14903" y="0"/>
                  <a:pt x="33259"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29" name="Text 17"/>
          <p:cNvSpPr/>
          <p:nvPr/>
        </p:nvSpPr>
        <p:spPr>
          <a:xfrm>
            <a:off x="8285040" y="4993920"/>
            <a:ext cx="3466080" cy="4388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50" spc="-1" strike="noStrike">
                <a:solidFill>
                  <a:srgbClr val="2e3440"/>
                </a:solidFill>
                <a:latin typeface="Quattrocento Sans"/>
                <a:ea typeface="Quattrocento Sans"/>
              </a:rPr>
              <a:t>Miglioramento:</a:t>
            </a:r>
            <a:r>
              <a:rPr b="0" lang="en-US" sz="1150" spc="-1" strike="noStrike">
                <a:solidFill>
                  <a:srgbClr val="2e3440"/>
                </a:solidFill>
                <a:latin typeface="Quattrocento Sans"/>
                <a:ea typeface="Quattrocento Sans"/>
              </a:rPr>
              <a:t> Riduzione del </a:t>
            </a:r>
            <a:r>
              <a:rPr b="1" lang="en-US" sz="1150" spc="-1" strike="noStrike">
                <a:solidFill>
                  <a:srgbClr val="2e3440"/>
                </a:solidFill>
                <a:latin typeface="Quattrocento Sans"/>
                <a:ea typeface="Quattrocento Sans"/>
              </a:rPr>
              <a:t>84%</a:t>
            </a:r>
            <a:r>
              <a:rPr b="0" lang="en-US" sz="1150" spc="-1" strike="noStrike">
                <a:solidFill>
                  <a:srgbClr val="2e3440"/>
                </a:solidFill>
                <a:latin typeface="Quattrocento Sans"/>
                <a:ea typeface="Quattrocento Sans"/>
              </a:rPr>
              <a:t> del tempo di esecuzione rispetto alla baseline sequenziale.</a:t>
            </a:r>
            <a:endParaRPr b="0" lang="it-IT" sz="1150" spc="-1" strike="noStrike">
              <a:solidFill>
                <a:srgbClr val="000000"/>
              </a:solidFill>
              <a:latin typeface="Arial"/>
            </a:endParaRPr>
          </a:p>
        </p:txBody>
      </p:sp>
      <p:sp>
        <p:nvSpPr>
          <p:cNvPr id="330" name="Shape 18"/>
          <p:cNvSpPr/>
          <p:nvPr/>
        </p:nvSpPr>
        <p:spPr>
          <a:xfrm>
            <a:off x="365760" y="5668920"/>
            <a:ext cx="2780280" cy="821160"/>
          </a:xfrm>
          <a:custGeom>
            <a:avLst/>
            <a:gdLst>
              <a:gd name="textAreaLeft" fmla="*/ 0 w 2780280"/>
              <a:gd name="textAreaRight" fmla="*/ 2780640 w 2780280"/>
              <a:gd name="textAreaTop" fmla="*/ 0 h 821160"/>
              <a:gd name="textAreaBottom" fmla="*/ 821520 h 821160"/>
            </a:gdLst>
            <a:ahLst/>
            <a:rect l="textAreaLeft" t="textAreaTop" r="textAreaRight" b="textAreaBottom"/>
            <a:pathLst>
              <a:path w="2780471" h="821503">
                <a:moveTo>
                  <a:pt x="33259" y="0"/>
                </a:moveTo>
                <a:lnTo>
                  <a:pt x="2747212" y="0"/>
                </a:lnTo>
                <a:cubicBezTo>
                  <a:pt x="2765580" y="0"/>
                  <a:pt x="2780471" y="14891"/>
                  <a:pt x="2780471" y="33259"/>
                </a:cubicBezTo>
                <a:lnTo>
                  <a:pt x="2780471" y="748332"/>
                </a:lnTo>
                <a:cubicBezTo>
                  <a:pt x="2780471" y="788716"/>
                  <a:pt x="2747684" y="821503"/>
                  <a:pt x="2707300" y="821503"/>
                </a:cubicBezTo>
                <a:lnTo>
                  <a:pt x="73171" y="821503"/>
                </a:lnTo>
                <a:cubicBezTo>
                  <a:pt x="32787" y="821503"/>
                  <a:pt x="0" y="788716"/>
                  <a:pt x="0" y="748332"/>
                </a:cubicBezTo>
                <a:lnTo>
                  <a:pt x="0" y="33259"/>
                </a:lnTo>
                <a:cubicBezTo>
                  <a:pt x="0" y="14903"/>
                  <a:pt x="14903" y="0"/>
                  <a:pt x="33259" y="0"/>
                </a:cubicBezTo>
                <a:close/>
              </a:path>
            </a:pathLst>
          </a:custGeom>
          <a:solidFill>
            <a:srgbClr val="ffffff"/>
          </a:solidFill>
          <a:ln w="0">
            <a:noFill/>
          </a:ln>
          <a:effectLst>
            <a:outerShdw algn="bl" blurRad="54720" dir="5400000" dist="3672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31" name="Shape 19"/>
          <p:cNvSpPr/>
          <p:nvPr/>
        </p:nvSpPr>
        <p:spPr>
          <a:xfrm>
            <a:off x="365760" y="5668920"/>
            <a:ext cx="2780280" cy="32760"/>
          </a:xfrm>
          <a:custGeom>
            <a:avLst/>
            <a:gdLst>
              <a:gd name="textAreaLeft" fmla="*/ 0 w 2780280"/>
              <a:gd name="textAreaRight" fmla="*/ 2780640 w 2780280"/>
              <a:gd name="textAreaTop" fmla="*/ 0 h 32760"/>
              <a:gd name="textAreaBottom" fmla="*/ 33120 h 32760"/>
            </a:gdLst>
            <a:ahLst/>
            <a:rect l="textAreaLeft" t="textAreaTop" r="textAreaRight" b="textAreaBottom"/>
            <a:pathLst>
              <a:path w="2780471" h="33259">
                <a:moveTo>
                  <a:pt x="33259" y="0"/>
                </a:moveTo>
                <a:lnTo>
                  <a:pt x="2747212" y="0"/>
                </a:lnTo>
                <a:cubicBezTo>
                  <a:pt x="2765580" y="0"/>
                  <a:pt x="2780471" y="14891"/>
                  <a:pt x="2780471" y="33259"/>
                </a:cubicBezTo>
                <a:lnTo>
                  <a:pt x="2780471" y="33259"/>
                </a:lnTo>
                <a:lnTo>
                  <a:pt x="0" y="33259"/>
                </a:lnTo>
                <a:lnTo>
                  <a:pt x="0" y="33259"/>
                </a:lnTo>
                <a:cubicBezTo>
                  <a:pt x="0" y="14903"/>
                  <a:pt x="14903" y="0"/>
                  <a:pt x="33259" y="0"/>
                </a:cubicBezTo>
                <a:close/>
              </a:path>
            </a:pathLst>
          </a:custGeom>
          <a:solidFill>
            <a:srgbClr val="5e81ac"/>
          </a:solidFill>
          <a:ln w="0">
            <a:noFill/>
          </a:ln>
        </p:spPr>
        <p:style>
          <a:lnRef idx="0"/>
          <a:fillRef idx="0"/>
          <a:effectRef idx="0"/>
          <a:fontRef idx="minor"/>
        </p:style>
        <p:txBody>
          <a:bodyPr lIns="90000" rIns="90000" tIns="-11880" bIns="-11880" anchor="t">
            <a:noAutofit/>
          </a:bodyPr>
          <a:p>
            <a:endParaRPr b="0" lang="it-IT" sz="1800" spc="-1" strike="noStrike">
              <a:solidFill>
                <a:srgbClr val="000000"/>
              </a:solidFill>
              <a:latin typeface="Arial"/>
            </a:endParaRPr>
          </a:p>
        </p:txBody>
      </p:sp>
      <p:sp>
        <p:nvSpPr>
          <p:cNvPr id="332" name="Text 20"/>
          <p:cNvSpPr/>
          <p:nvPr/>
        </p:nvSpPr>
        <p:spPr>
          <a:xfrm>
            <a:off x="439200" y="5795280"/>
            <a:ext cx="2633760" cy="219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50" spc="-1" strike="noStrike">
                <a:solidFill>
                  <a:srgbClr val="2e3440">
                    <a:alpha val="70000"/>
                  </a:srgbClr>
                </a:solidFill>
                <a:latin typeface="Quattrocento Sans"/>
                <a:ea typeface="Quattrocento Sans"/>
              </a:rPr>
              <a:t>1 Thread</a:t>
            </a:r>
            <a:endParaRPr b="0" lang="it-IT" sz="1150" spc="-1" strike="noStrike">
              <a:solidFill>
                <a:srgbClr val="000000"/>
              </a:solidFill>
              <a:latin typeface="Arial"/>
            </a:endParaRPr>
          </a:p>
        </p:txBody>
      </p:sp>
      <p:sp>
        <p:nvSpPr>
          <p:cNvPr id="333" name="Text 21"/>
          <p:cNvSpPr/>
          <p:nvPr/>
        </p:nvSpPr>
        <p:spPr>
          <a:xfrm>
            <a:off x="407160" y="6051600"/>
            <a:ext cx="2697840" cy="32904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1" lang="en-US" sz="2160" spc="-1" strike="noStrike">
                <a:solidFill>
                  <a:srgbClr val="2e3440"/>
                </a:solidFill>
                <a:latin typeface="Quattrocento Sans"/>
                <a:ea typeface="Quattrocento Sans"/>
              </a:rPr>
              <a:t>7.95s</a:t>
            </a:r>
            <a:endParaRPr b="0" lang="it-IT" sz="2160" spc="-1" strike="noStrike">
              <a:solidFill>
                <a:srgbClr val="000000"/>
              </a:solidFill>
              <a:latin typeface="Arial"/>
            </a:endParaRPr>
          </a:p>
        </p:txBody>
      </p:sp>
      <p:sp>
        <p:nvSpPr>
          <p:cNvPr id="334" name="Shape 22"/>
          <p:cNvSpPr/>
          <p:nvPr/>
        </p:nvSpPr>
        <p:spPr>
          <a:xfrm>
            <a:off x="3259080" y="5668920"/>
            <a:ext cx="2780280" cy="821160"/>
          </a:xfrm>
          <a:custGeom>
            <a:avLst/>
            <a:gdLst>
              <a:gd name="textAreaLeft" fmla="*/ 0 w 2780280"/>
              <a:gd name="textAreaRight" fmla="*/ 2780640 w 2780280"/>
              <a:gd name="textAreaTop" fmla="*/ 0 h 821160"/>
              <a:gd name="textAreaBottom" fmla="*/ 821520 h 821160"/>
            </a:gdLst>
            <a:ahLst/>
            <a:rect l="textAreaLeft" t="textAreaTop" r="textAreaRight" b="textAreaBottom"/>
            <a:pathLst>
              <a:path w="2780471" h="821503">
                <a:moveTo>
                  <a:pt x="33259" y="0"/>
                </a:moveTo>
                <a:lnTo>
                  <a:pt x="2747212" y="0"/>
                </a:lnTo>
                <a:cubicBezTo>
                  <a:pt x="2765580" y="0"/>
                  <a:pt x="2780471" y="14891"/>
                  <a:pt x="2780471" y="33259"/>
                </a:cubicBezTo>
                <a:lnTo>
                  <a:pt x="2780471" y="748332"/>
                </a:lnTo>
                <a:cubicBezTo>
                  <a:pt x="2780471" y="788716"/>
                  <a:pt x="2747684" y="821503"/>
                  <a:pt x="2707300" y="821503"/>
                </a:cubicBezTo>
                <a:lnTo>
                  <a:pt x="73171" y="821503"/>
                </a:lnTo>
                <a:cubicBezTo>
                  <a:pt x="32787" y="821503"/>
                  <a:pt x="0" y="788716"/>
                  <a:pt x="0" y="748332"/>
                </a:cubicBezTo>
                <a:lnTo>
                  <a:pt x="0" y="33259"/>
                </a:lnTo>
                <a:cubicBezTo>
                  <a:pt x="0" y="14903"/>
                  <a:pt x="14903" y="0"/>
                  <a:pt x="33259" y="0"/>
                </a:cubicBezTo>
                <a:close/>
              </a:path>
            </a:pathLst>
          </a:custGeom>
          <a:solidFill>
            <a:srgbClr val="ffffff"/>
          </a:solidFill>
          <a:ln w="0">
            <a:noFill/>
          </a:ln>
          <a:effectLst>
            <a:outerShdw algn="bl" blurRad="54720" dir="5400000" dist="3672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35" name="Shape 23"/>
          <p:cNvSpPr/>
          <p:nvPr/>
        </p:nvSpPr>
        <p:spPr>
          <a:xfrm>
            <a:off x="3259080" y="5668920"/>
            <a:ext cx="2780280" cy="32760"/>
          </a:xfrm>
          <a:custGeom>
            <a:avLst/>
            <a:gdLst>
              <a:gd name="textAreaLeft" fmla="*/ 0 w 2780280"/>
              <a:gd name="textAreaRight" fmla="*/ 2780640 w 2780280"/>
              <a:gd name="textAreaTop" fmla="*/ 0 h 32760"/>
              <a:gd name="textAreaBottom" fmla="*/ 33120 h 32760"/>
            </a:gdLst>
            <a:ahLst/>
            <a:rect l="textAreaLeft" t="textAreaTop" r="textAreaRight" b="textAreaBottom"/>
            <a:pathLst>
              <a:path w="2780471" h="33259">
                <a:moveTo>
                  <a:pt x="33259" y="0"/>
                </a:moveTo>
                <a:lnTo>
                  <a:pt x="2747212" y="0"/>
                </a:lnTo>
                <a:cubicBezTo>
                  <a:pt x="2765580" y="0"/>
                  <a:pt x="2780471" y="14891"/>
                  <a:pt x="2780471" y="33259"/>
                </a:cubicBezTo>
                <a:lnTo>
                  <a:pt x="2780471" y="33259"/>
                </a:lnTo>
                <a:lnTo>
                  <a:pt x="0" y="33259"/>
                </a:lnTo>
                <a:lnTo>
                  <a:pt x="0" y="33259"/>
                </a:lnTo>
                <a:cubicBezTo>
                  <a:pt x="0" y="14903"/>
                  <a:pt x="14903" y="0"/>
                  <a:pt x="33259" y="0"/>
                </a:cubicBezTo>
                <a:close/>
              </a:path>
            </a:pathLst>
          </a:custGeom>
          <a:solidFill>
            <a:srgbClr val="88c0d0"/>
          </a:solidFill>
          <a:ln w="0">
            <a:noFill/>
          </a:ln>
        </p:spPr>
        <p:style>
          <a:lnRef idx="0"/>
          <a:fillRef idx="0"/>
          <a:effectRef idx="0"/>
          <a:fontRef idx="minor"/>
        </p:style>
        <p:txBody>
          <a:bodyPr lIns="90000" rIns="90000" tIns="-11880" bIns="-11880" anchor="t">
            <a:noAutofit/>
          </a:bodyPr>
          <a:p>
            <a:endParaRPr b="0" lang="it-IT" sz="1800" spc="-1" strike="noStrike">
              <a:solidFill>
                <a:srgbClr val="000000"/>
              </a:solidFill>
              <a:latin typeface="Arial"/>
            </a:endParaRPr>
          </a:p>
        </p:txBody>
      </p:sp>
      <p:sp>
        <p:nvSpPr>
          <p:cNvPr id="336" name="Text 24"/>
          <p:cNvSpPr/>
          <p:nvPr/>
        </p:nvSpPr>
        <p:spPr>
          <a:xfrm>
            <a:off x="3332160" y="5795280"/>
            <a:ext cx="2633760" cy="219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50" spc="-1" strike="noStrike">
                <a:solidFill>
                  <a:srgbClr val="2e3440">
                    <a:alpha val="70000"/>
                  </a:srgbClr>
                </a:solidFill>
                <a:latin typeface="Quattrocento Sans"/>
                <a:ea typeface="Quattrocento Sans"/>
              </a:rPr>
              <a:t>4 Thread</a:t>
            </a:r>
            <a:endParaRPr b="0" lang="it-IT" sz="1150" spc="-1" strike="noStrike">
              <a:solidFill>
                <a:srgbClr val="000000"/>
              </a:solidFill>
              <a:latin typeface="Arial"/>
            </a:endParaRPr>
          </a:p>
        </p:txBody>
      </p:sp>
      <p:sp>
        <p:nvSpPr>
          <p:cNvPr id="337" name="Text 25"/>
          <p:cNvSpPr/>
          <p:nvPr/>
        </p:nvSpPr>
        <p:spPr>
          <a:xfrm>
            <a:off x="3300120" y="6051600"/>
            <a:ext cx="2697840" cy="32904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1" lang="en-US" sz="2160" spc="-1" strike="noStrike">
                <a:solidFill>
                  <a:srgbClr val="2e3440"/>
                </a:solidFill>
                <a:latin typeface="Quattrocento Sans"/>
                <a:ea typeface="Quattrocento Sans"/>
              </a:rPr>
              <a:t>1.85s</a:t>
            </a:r>
            <a:endParaRPr b="0" lang="it-IT" sz="2160" spc="-1" strike="noStrike">
              <a:solidFill>
                <a:srgbClr val="000000"/>
              </a:solidFill>
              <a:latin typeface="Arial"/>
            </a:endParaRPr>
          </a:p>
        </p:txBody>
      </p:sp>
      <p:sp>
        <p:nvSpPr>
          <p:cNvPr id="338" name="Shape 26"/>
          <p:cNvSpPr/>
          <p:nvPr/>
        </p:nvSpPr>
        <p:spPr>
          <a:xfrm>
            <a:off x="6152400" y="5668920"/>
            <a:ext cx="2780280" cy="821160"/>
          </a:xfrm>
          <a:custGeom>
            <a:avLst/>
            <a:gdLst>
              <a:gd name="textAreaLeft" fmla="*/ 0 w 2780280"/>
              <a:gd name="textAreaRight" fmla="*/ 2780640 w 2780280"/>
              <a:gd name="textAreaTop" fmla="*/ 0 h 821160"/>
              <a:gd name="textAreaBottom" fmla="*/ 821520 h 821160"/>
            </a:gdLst>
            <a:ahLst/>
            <a:rect l="textAreaLeft" t="textAreaTop" r="textAreaRight" b="textAreaBottom"/>
            <a:pathLst>
              <a:path w="2780471" h="821503">
                <a:moveTo>
                  <a:pt x="33259" y="0"/>
                </a:moveTo>
                <a:lnTo>
                  <a:pt x="2747212" y="0"/>
                </a:lnTo>
                <a:cubicBezTo>
                  <a:pt x="2765580" y="0"/>
                  <a:pt x="2780471" y="14891"/>
                  <a:pt x="2780471" y="33259"/>
                </a:cubicBezTo>
                <a:lnTo>
                  <a:pt x="2780471" y="748332"/>
                </a:lnTo>
                <a:cubicBezTo>
                  <a:pt x="2780471" y="788716"/>
                  <a:pt x="2747684" y="821503"/>
                  <a:pt x="2707300" y="821503"/>
                </a:cubicBezTo>
                <a:lnTo>
                  <a:pt x="73171" y="821503"/>
                </a:lnTo>
                <a:cubicBezTo>
                  <a:pt x="32787" y="821503"/>
                  <a:pt x="0" y="788716"/>
                  <a:pt x="0" y="748332"/>
                </a:cubicBezTo>
                <a:lnTo>
                  <a:pt x="0" y="33259"/>
                </a:lnTo>
                <a:cubicBezTo>
                  <a:pt x="0" y="14903"/>
                  <a:pt x="14903" y="0"/>
                  <a:pt x="33259" y="0"/>
                </a:cubicBezTo>
                <a:close/>
              </a:path>
            </a:pathLst>
          </a:custGeom>
          <a:solidFill>
            <a:srgbClr val="ffffff"/>
          </a:solidFill>
          <a:ln w="0">
            <a:noFill/>
          </a:ln>
          <a:effectLst>
            <a:outerShdw algn="bl" blurRad="54720" dir="5400000" dist="3672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39" name="Shape 27"/>
          <p:cNvSpPr/>
          <p:nvPr/>
        </p:nvSpPr>
        <p:spPr>
          <a:xfrm>
            <a:off x="6152400" y="5668920"/>
            <a:ext cx="2780280" cy="32760"/>
          </a:xfrm>
          <a:custGeom>
            <a:avLst/>
            <a:gdLst>
              <a:gd name="textAreaLeft" fmla="*/ 0 w 2780280"/>
              <a:gd name="textAreaRight" fmla="*/ 2780640 w 2780280"/>
              <a:gd name="textAreaTop" fmla="*/ 0 h 32760"/>
              <a:gd name="textAreaBottom" fmla="*/ 33120 h 32760"/>
            </a:gdLst>
            <a:ahLst/>
            <a:rect l="textAreaLeft" t="textAreaTop" r="textAreaRight" b="textAreaBottom"/>
            <a:pathLst>
              <a:path w="2780471" h="33259">
                <a:moveTo>
                  <a:pt x="33259" y="0"/>
                </a:moveTo>
                <a:lnTo>
                  <a:pt x="2747212" y="0"/>
                </a:lnTo>
                <a:cubicBezTo>
                  <a:pt x="2765580" y="0"/>
                  <a:pt x="2780471" y="14891"/>
                  <a:pt x="2780471" y="33259"/>
                </a:cubicBezTo>
                <a:lnTo>
                  <a:pt x="2780471" y="33259"/>
                </a:lnTo>
                <a:lnTo>
                  <a:pt x="0" y="33259"/>
                </a:lnTo>
                <a:lnTo>
                  <a:pt x="0" y="33259"/>
                </a:lnTo>
                <a:cubicBezTo>
                  <a:pt x="0" y="14903"/>
                  <a:pt x="14903" y="0"/>
                  <a:pt x="33259" y="0"/>
                </a:cubicBezTo>
                <a:close/>
              </a:path>
            </a:pathLst>
          </a:custGeom>
          <a:solidFill>
            <a:srgbClr val="5e81ac"/>
          </a:solidFill>
          <a:ln w="0">
            <a:noFill/>
          </a:ln>
        </p:spPr>
        <p:style>
          <a:lnRef idx="0"/>
          <a:fillRef idx="0"/>
          <a:effectRef idx="0"/>
          <a:fontRef idx="minor"/>
        </p:style>
        <p:txBody>
          <a:bodyPr lIns="90000" rIns="90000" tIns="-11880" bIns="-11880" anchor="t">
            <a:noAutofit/>
          </a:bodyPr>
          <a:p>
            <a:endParaRPr b="0" lang="it-IT" sz="1800" spc="-1" strike="noStrike">
              <a:solidFill>
                <a:srgbClr val="000000"/>
              </a:solidFill>
              <a:latin typeface="Arial"/>
            </a:endParaRPr>
          </a:p>
        </p:txBody>
      </p:sp>
      <p:sp>
        <p:nvSpPr>
          <p:cNvPr id="340" name="Text 28"/>
          <p:cNvSpPr/>
          <p:nvPr/>
        </p:nvSpPr>
        <p:spPr>
          <a:xfrm>
            <a:off x="6225480" y="5795280"/>
            <a:ext cx="2633760" cy="219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50" spc="-1" strike="noStrike">
                <a:solidFill>
                  <a:srgbClr val="2e3440">
                    <a:alpha val="70000"/>
                  </a:srgbClr>
                </a:solidFill>
                <a:latin typeface="Quattrocento Sans"/>
                <a:ea typeface="Quattrocento Sans"/>
              </a:rPr>
              <a:t>8 Thread</a:t>
            </a:r>
            <a:endParaRPr b="0" lang="it-IT" sz="1150" spc="-1" strike="noStrike">
              <a:solidFill>
                <a:srgbClr val="000000"/>
              </a:solidFill>
              <a:latin typeface="Arial"/>
            </a:endParaRPr>
          </a:p>
        </p:txBody>
      </p:sp>
      <p:sp>
        <p:nvSpPr>
          <p:cNvPr id="341" name="Text 29"/>
          <p:cNvSpPr/>
          <p:nvPr/>
        </p:nvSpPr>
        <p:spPr>
          <a:xfrm>
            <a:off x="6193440" y="6051600"/>
            <a:ext cx="2697840" cy="32904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1" lang="en-US" sz="2160" spc="-1" strike="noStrike">
                <a:solidFill>
                  <a:srgbClr val="2e3440"/>
                </a:solidFill>
                <a:latin typeface="Quattrocento Sans"/>
                <a:ea typeface="Quattrocento Sans"/>
              </a:rPr>
              <a:t>1.29s</a:t>
            </a:r>
            <a:endParaRPr b="0" lang="it-IT" sz="2160" spc="-1" strike="noStrike">
              <a:solidFill>
                <a:srgbClr val="000000"/>
              </a:solidFill>
              <a:latin typeface="Arial"/>
            </a:endParaRPr>
          </a:p>
        </p:txBody>
      </p:sp>
      <p:sp>
        <p:nvSpPr>
          <p:cNvPr id="342" name="Shape 30"/>
          <p:cNvSpPr/>
          <p:nvPr/>
        </p:nvSpPr>
        <p:spPr>
          <a:xfrm>
            <a:off x="9045720" y="5652360"/>
            <a:ext cx="2780280" cy="840960"/>
          </a:xfrm>
          <a:custGeom>
            <a:avLst/>
            <a:gdLst>
              <a:gd name="textAreaLeft" fmla="*/ 0 w 2780280"/>
              <a:gd name="textAreaRight" fmla="*/ 2780640 w 2780280"/>
              <a:gd name="textAreaTop" fmla="*/ 0 h 840960"/>
              <a:gd name="textAreaBottom" fmla="*/ 841320 h 840960"/>
            </a:gdLst>
            <a:ahLst/>
            <a:rect l="textAreaLeft" t="textAreaTop" r="textAreaRight" b="textAreaBottom"/>
            <a:pathLst>
              <a:path w="2780471" h="841458">
                <a:moveTo>
                  <a:pt x="73173" y="0"/>
                </a:moveTo>
                <a:lnTo>
                  <a:pt x="2707298" y="0"/>
                </a:lnTo>
                <a:cubicBezTo>
                  <a:pt x="2747710" y="0"/>
                  <a:pt x="2780471" y="32761"/>
                  <a:pt x="2780471" y="73173"/>
                </a:cubicBezTo>
                <a:lnTo>
                  <a:pt x="2780471" y="768285"/>
                </a:lnTo>
                <a:cubicBezTo>
                  <a:pt x="2780471" y="808698"/>
                  <a:pt x="2747710" y="841458"/>
                  <a:pt x="2707298" y="841458"/>
                </a:cubicBezTo>
                <a:lnTo>
                  <a:pt x="73173" y="841458"/>
                </a:lnTo>
                <a:cubicBezTo>
                  <a:pt x="32761" y="841458"/>
                  <a:pt x="0" y="808698"/>
                  <a:pt x="0" y="768285"/>
                </a:cubicBezTo>
                <a:lnTo>
                  <a:pt x="0" y="73173"/>
                </a:lnTo>
                <a:cubicBezTo>
                  <a:pt x="0" y="32761"/>
                  <a:pt x="32761" y="0"/>
                  <a:pt x="73173" y="0"/>
                </a:cubicBezTo>
                <a:close/>
              </a:path>
            </a:pathLst>
          </a:custGeom>
          <a:gradFill rotWithShape="0">
            <a:gsLst>
              <a:gs pos="0">
                <a:srgbClr val="5e81ac"/>
              </a:gs>
              <a:gs pos="100000">
                <a:srgbClr val="88c0d0"/>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43" name="Text 31"/>
          <p:cNvSpPr/>
          <p:nvPr/>
        </p:nvSpPr>
        <p:spPr>
          <a:xfrm>
            <a:off x="9118800" y="5762160"/>
            <a:ext cx="2633760" cy="219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150" spc="-1" strike="noStrike">
                <a:solidFill>
                  <a:srgbClr val="ffffff">
                    <a:alpha val="80000"/>
                  </a:srgbClr>
                </a:solidFill>
                <a:latin typeface="Quattrocento Sans"/>
                <a:ea typeface="Quattrocento Sans"/>
              </a:rPr>
              <a:t>24 Thread (Best)</a:t>
            </a:r>
            <a:endParaRPr b="0" lang="it-IT" sz="1150" spc="-1" strike="noStrike">
              <a:solidFill>
                <a:srgbClr val="000000"/>
              </a:solidFill>
              <a:latin typeface="Arial"/>
            </a:endParaRPr>
          </a:p>
        </p:txBody>
      </p:sp>
      <p:sp>
        <p:nvSpPr>
          <p:cNvPr id="344" name="Text 32"/>
          <p:cNvSpPr/>
          <p:nvPr/>
        </p:nvSpPr>
        <p:spPr>
          <a:xfrm>
            <a:off x="9086760" y="6018120"/>
            <a:ext cx="2697840" cy="32904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1" lang="en-US" sz="2160" spc="-1" strike="noStrike">
                <a:solidFill>
                  <a:srgbClr val="ffffff"/>
                </a:solidFill>
                <a:latin typeface="Quattrocento Sans"/>
                <a:ea typeface="Quattrocento Sans"/>
              </a:rPr>
              <a:t>1.27s</a:t>
            </a:r>
            <a:endParaRPr b="0" lang="it-IT" sz="2160" spc="-1" strike="noStrike">
              <a:solidFill>
                <a:srgbClr val="000000"/>
              </a:solidFill>
              <a:latin typeface="Arial"/>
            </a:endParaRPr>
          </a:p>
        </p:txBody>
      </p:sp>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345"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17" strike="noStrike">
                <a:solidFill>
                  <a:srgbClr val="5e81ac"/>
                </a:solidFill>
                <a:latin typeface="Quattrocento Sans"/>
                <a:ea typeface="Quattrocento Sans"/>
              </a:rPr>
              <a:t>Analisi Teorica</a:t>
            </a:r>
            <a:endParaRPr b="0" lang="it-IT" sz="1200" spc="-1" strike="noStrike">
              <a:solidFill>
                <a:srgbClr val="000000"/>
              </a:solidFill>
              <a:latin typeface="Arial"/>
            </a:endParaRPr>
          </a:p>
        </p:txBody>
      </p:sp>
      <p:sp>
        <p:nvSpPr>
          <p:cNvPr id="346"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600" spc="-1" strike="noStrike">
                <a:solidFill>
                  <a:srgbClr val="2e3440"/>
                </a:solidFill>
                <a:latin typeface="Liter"/>
                <a:ea typeface="Liter"/>
              </a:rPr>
              <a:t>Analisi delle Performance</a:t>
            </a:r>
            <a:endParaRPr b="0" lang="it-IT" sz="3600" spc="-1" strike="noStrike">
              <a:solidFill>
                <a:srgbClr val="000000"/>
              </a:solidFill>
              <a:latin typeface="Arial"/>
            </a:endParaRPr>
          </a:p>
        </p:txBody>
      </p:sp>
      <p:sp>
        <p:nvSpPr>
          <p:cNvPr id="347" name="Shape 2"/>
          <p:cNvSpPr/>
          <p:nvPr/>
        </p:nvSpPr>
        <p:spPr>
          <a:xfrm>
            <a:off x="380880" y="1312560"/>
            <a:ext cx="5619240" cy="2988720"/>
          </a:xfrm>
          <a:custGeom>
            <a:avLst/>
            <a:gdLst>
              <a:gd name="textAreaLeft" fmla="*/ 0 w 5619240"/>
              <a:gd name="textAreaRight" fmla="*/ 5619600 w 5619240"/>
              <a:gd name="textAreaTop" fmla="*/ 0 h 2988720"/>
              <a:gd name="textAreaBottom" fmla="*/ 2989080 h 2988720"/>
            </a:gdLst>
            <a:ahLst/>
            <a:rect l="textAreaLeft" t="textAreaTop" r="textAreaRight" b="textAreaBottom"/>
            <a:pathLst>
              <a:path w="5619750" h="2989118">
                <a:moveTo>
                  <a:pt x="34636" y="0"/>
                </a:moveTo>
                <a:lnTo>
                  <a:pt x="5585114" y="0"/>
                </a:lnTo>
                <a:cubicBezTo>
                  <a:pt x="5604243" y="0"/>
                  <a:pt x="5619750" y="15507"/>
                  <a:pt x="5619750" y="34636"/>
                </a:cubicBezTo>
                <a:lnTo>
                  <a:pt x="5619750" y="2912926"/>
                </a:lnTo>
                <a:cubicBezTo>
                  <a:pt x="5619750" y="2955006"/>
                  <a:pt x="5585637" y="2989118"/>
                  <a:pt x="5543557" y="2989118"/>
                </a:cubicBezTo>
                <a:lnTo>
                  <a:pt x="76193" y="2989118"/>
                </a:lnTo>
                <a:cubicBezTo>
                  <a:pt x="34113" y="2989118"/>
                  <a:pt x="0" y="2955006"/>
                  <a:pt x="0" y="2912926"/>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48" name="Shape 3"/>
          <p:cNvSpPr/>
          <p:nvPr/>
        </p:nvSpPr>
        <p:spPr>
          <a:xfrm>
            <a:off x="380880" y="1312560"/>
            <a:ext cx="5619240" cy="34200"/>
          </a:xfrm>
          <a:custGeom>
            <a:avLst/>
            <a:gdLst>
              <a:gd name="textAreaLeft" fmla="*/ 0 w 5619240"/>
              <a:gd name="textAreaRight" fmla="*/ 5619600 w 5619240"/>
              <a:gd name="textAreaTop" fmla="*/ 0 h 34200"/>
              <a:gd name="textAreaBottom" fmla="*/ 34560 h 34200"/>
            </a:gdLst>
            <a:ahLst/>
            <a:rect l="textAreaLeft" t="textAreaTop" r="textAreaRight" b="textAreaBottom"/>
            <a:pathLst>
              <a:path w="5619750" h="34636">
                <a:moveTo>
                  <a:pt x="34636" y="0"/>
                </a:moveTo>
                <a:lnTo>
                  <a:pt x="5585114" y="0"/>
                </a:lnTo>
                <a:cubicBezTo>
                  <a:pt x="5604243" y="0"/>
                  <a:pt x="5619750" y="15507"/>
                  <a:pt x="5619750" y="34636"/>
                </a:cubicBezTo>
                <a:lnTo>
                  <a:pt x="5619750" y="34636"/>
                </a:lnTo>
                <a:lnTo>
                  <a:pt x="0" y="34636"/>
                </a:ln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10440" bIns="-10440" anchor="t">
            <a:noAutofit/>
          </a:bodyPr>
          <a:p>
            <a:endParaRPr b="0" lang="it-IT" sz="1800" spc="-1" strike="noStrike">
              <a:solidFill>
                <a:srgbClr val="000000"/>
              </a:solidFill>
              <a:latin typeface="Arial"/>
            </a:endParaRPr>
          </a:p>
        </p:txBody>
      </p:sp>
      <p:sp>
        <p:nvSpPr>
          <p:cNvPr id="349" name="Shape 4"/>
          <p:cNvSpPr/>
          <p:nvPr/>
        </p:nvSpPr>
        <p:spPr>
          <a:xfrm>
            <a:off x="380880" y="1330200"/>
            <a:ext cx="5619240" cy="533160"/>
          </a:xfrm>
          <a:custGeom>
            <a:avLst/>
            <a:gdLst>
              <a:gd name="textAreaLeft" fmla="*/ 0 w 5619240"/>
              <a:gd name="textAreaRight" fmla="*/ 5619600 w 5619240"/>
              <a:gd name="textAreaTop" fmla="*/ 0 h 533160"/>
              <a:gd name="textAreaBottom" fmla="*/ 533520 h 533160"/>
            </a:gdLst>
            <a:ahLst/>
            <a:rect l="textAreaLeft" t="textAreaTop" r="textAreaRight" b="textAreaBottom"/>
            <a:pathLst>
              <a:path w="5619750" h="533400">
                <a:moveTo>
                  <a:pt x="0" y="0"/>
                </a:moveTo>
                <a:lnTo>
                  <a:pt x="5619750" y="0"/>
                </a:lnTo>
                <a:lnTo>
                  <a:pt x="5619750" y="533400"/>
                </a:lnTo>
                <a:lnTo>
                  <a:pt x="0" y="533400"/>
                </a:lnTo>
                <a:lnTo>
                  <a:pt x="0" y="0"/>
                </a:ln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50" name="Text 5"/>
          <p:cNvSpPr/>
          <p:nvPr/>
        </p:nvSpPr>
        <p:spPr>
          <a:xfrm>
            <a:off x="571680" y="1444320"/>
            <a:ext cx="535284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ffffff"/>
                </a:solidFill>
                <a:latin typeface="Liter"/>
                <a:ea typeface="Liter"/>
              </a:rPr>
              <a:t>Legge di Amdahl</a:t>
            </a:r>
            <a:endParaRPr b="0" lang="it-IT" sz="1800" spc="-1" strike="noStrike">
              <a:solidFill>
                <a:srgbClr val="000000"/>
              </a:solidFill>
              <a:latin typeface="Arial"/>
            </a:endParaRPr>
          </a:p>
        </p:txBody>
      </p:sp>
      <p:sp>
        <p:nvSpPr>
          <p:cNvPr id="351" name="Text 6"/>
          <p:cNvSpPr/>
          <p:nvPr/>
        </p:nvSpPr>
        <p:spPr>
          <a:xfrm>
            <a:off x="571680" y="2053800"/>
            <a:ext cx="531468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La Legge di Amdahl stima il massimo speedup teorico:</a:t>
            </a:r>
            <a:endParaRPr b="0" lang="it-IT" sz="1200" spc="-1" strike="noStrike">
              <a:solidFill>
                <a:srgbClr val="000000"/>
              </a:solidFill>
              <a:latin typeface="Arial"/>
            </a:endParaRPr>
          </a:p>
        </p:txBody>
      </p:sp>
      <p:sp>
        <p:nvSpPr>
          <p:cNvPr id="352" name="Shape 7"/>
          <p:cNvSpPr/>
          <p:nvPr/>
        </p:nvSpPr>
        <p:spPr>
          <a:xfrm>
            <a:off x="571680" y="2435040"/>
            <a:ext cx="5238360" cy="571320"/>
          </a:xfrm>
          <a:custGeom>
            <a:avLst/>
            <a:gdLst>
              <a:gd name="textAreaLeft" fmla="*/ 0 w 5238360"/>
              <a:gd name="textAreaRight" fmla="*/ 5238720 w 5238360"/>
              <a:gd name="textAreaTop" fmla="*/ 0 h 571320"/>
              <a:gd name="textAreaBottom" fmla="*/ 571680 h 571320"/>
            </a:gdLst>
            <a:ahLst/>
            <a:rect l="textAreaLeft" t="textAreaTop" r="textAreaRight" b="textAreaBottom"/>
            <a:pathLst>
              <a:path w="5238750" h="571500">
                <a:moveTo>
                  <a:pt x="76198" y="0"/>
                </a:moveTo>
                <a:lnTo>
                  <a:pt x="5162552" y="0"/>
                </a:lnTo>
                <a:cubicBezTo>
                  <a:pt x="5204635" y="0"/>
                  <a:pt x="5238750" y="34115"/>
                  <a:pt x="5238750" y="76198"/>
                </a:cubicBezTo>
                <a:lnTo>
                  <a:pt x="5238750" y="495302"/>
                </a:lnTo>
                <a:cubicBezTo>
                  <a:pt x="5238750" y="537385"/>
                  <a:pt x="5204635" y="571500"/>
                  <a:pt x="5162552" y="571500"/>
                </a:cubicBezTo>
                <a:lnTo>
                  <a:pt x="76198" y="571500"/>
                </a:lnTo>
                <a:cubicBezTo>
                  <a:pt x="34115" y="571500"/>
                  <a:pt x="0" y="537385"/>
                  <a:pt x="0" y="495302"/>
                </a:cubicBezTo>
                <a:lnTo>
                  <a:pt x="0" y="76198"/>
                </a:lnTo>
                <a:cubicBezTo>
                  <a:pt x="0" y="34115"/>
                  <a:pt x="34115" y="0"/>
                  <a:pt x="76198" y="0"/>
                </a:cubicBezTo>
                <a:close/>
              </a:path>
            </a:pathLst>
          </a:custGeom>
          <a:solidFill>
            <a:srgbClr val="2e3440">
              <a:alpha val="5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ffffff"/>
              </a:solidFill>
              <a:latin typeface="Arial"/>
            </a:endParaRPr>
          </a:p>
        </p:txBody>
      </p:sp>
      <p:sp>
        <p:nvSpPr>
          <p:cNvPr id="353" name="Text 8"/>
          <p:cNvSpPr/>
          <p:nvPr/>
        </p:nvSpPr>
        <p:spPr>
          <a:xfrm>
            <a:off x="681120" y="2587320"/>
            <a:ext cx="5019480" cy="26640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350" spc="-1" strike="noStrike">
                <a:solidFill>
                  <a:srgbClr val="2e3440"/>
                </a:solidFill>
                <a:latin typeface="MiSans"/>
                <a:ea typeface="MiSans"/>
              </a:rPr>
              <a:t>S(n) = 1 / [(1-p) + p/n]</a:t>
            </a:r>
            <a:endParaRPr b="0" lang="it-IT" sz="1350" spc="-1" strike="noStrike">
              <a:solidFill>
                <a:srgbClr val="000000"/>
              </a:solidFill>
              <a:latin typeface="Arial"/>
            </a:endParaRPr>
          </a:p>
        </p:txBody>
      </p:sp>
      <p:sp>
        <p:nvSpPr>
          <p:cNvPr id="354" name="Shape 9"/>
          <p:cNvSpPr/>
          <p:nvPr/>
        </p:nvSpPr>
        <p:spPr>
          <a:xfrm>
            <a:off x="588960" y="3159000"/>
            <a:ext cx="2522160" cy="723600"/>
          </a:xfrm>
          <a:custGeom>
            <a:avLst/>
            <a:gdLst>
              <a:gd name="textAreaLeft" fmla="*/ 0 w 2522160"/>
              <a:gd name="textAreaRight" fmla="*/ 2522520 w 2522160"/>
              <a:gd name="textAreaTop" fmla="*/ 0 h 723600"/>
              <a:gd name="textAreaBottom" fmla="*/ 723960 h 723600"/>
            </a:gdLst>
            <a:ahLst/>
            <a:rect l="textAreaLeft" t="textAreaTop" r="textAreaRight" b="textAreaBottom"/>
            <a:pathLst>
              <a:path w="2522393" h="723900">
                <a:moveTo>
                  <a:pt x="34636" y="0"/>
                </a:moveTo>
                <a:lnTo>
                  <a:pt x="2446195" y="0"/>
                </a:lnTo>
                <a:cubicBezTo>
                  <a:pt x="2488250" y="0"/>
                  <a:pt x="2522393" y="34143"/>
                  <a:pt x="2522393" y="76198"/>
                </a:cubicBezTo>
                <a:lnTo>
                  <a:pt x="2522393" y="647702"/>
                </a:lnTo>
                <a:cubicBezTo>
                  <a:pt x="2522393" y="689757"/>
                  <a:pt x="2488250" y="723900"/>
                  <a:pt x="2446195" y="723900"/>
                </a:cubicBezTo>
                <a:lnTo>
                  <a:pt x="34636" y="723900"/>
                </a:lnTo>
                <a:cubicBezTo>
                  <a:pt x="15507" y="723900"/>
                  <a:pt x="0" y="708393"/>
                  <a:pt x="0" y="689264"/>
                </a:cubicBezTo>
                <a:lnTo>
                  <a:pt x="0" y="34636"/>
                </a:lnTo>
                <a:cubicBezTo>
                  <a:pt x="0" y="15507"/>
                  <a:pt x="15507" y="0"/>
                  <a:pt x="34636" y="0"/>
                </a:cubicBezTo>
                <a:close/>
              </a:path>
            </a:pathLst>
          </a:custGeom>
          <a:solidFill>
            <a:srgbClr val="5e81ac">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55" name="Shape 10"/>
          <p:cNvSpPr/>
          <p:nvPr/>
        </p:nvSpPr>
        <p:spPr>
          <a:xfrm>
            <a:off x="588960" y="3159000"/>
            <a:ext cx="34200" cy="723600"/>
          </a:xfrm>
          <a:custGeom>
            <a:avLst/>
            <a:gdLst>
              <a:gd name="textAreaLeft" fmla="*/ 0 w 34200"/>
              <a:gd name="textAreaRight" fmla="*/ 34560 w 34200"/>
              <a:gd name="textAreaTop" fmla="*/ 0 h 723600"/>
              <a:gd name="textAreaBottom" fmla="*/ 723960 h 723600"/>
            </a:gdLst>
            <a:ahLst/>
            <a:rect l="textAreaLeft" t="textAreaTop" r="textAreaRight" b="textAreaBottom"/>
            <a:pathLst>
              <a:path w="34636" h="723900">
                <a:moveTo>
                  <a:pt x="34636" y="0"/>
                </a:moveTo>
                <a:lnTo>
                  <a:pt x="34636" y="0"/>
                </a:lnTo>
                <a:lnTo>
                  <a:pt x="34636" y="723900"/>
                </a:lnTo>
                <a:lnTo>
                  <a:pt x="34636" y="723900"/>
                </a:lnTo>
                <a:cubicBezTo>
                  <a:pt x="15507" y="723900"/>
                  <a:pt x="0" y="708393"/>
                  <a:pt x="0" y="689264"/>
                </a:cubicBez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56" name="Text 11"/>
          <p:cNvSpPr/>
          <p:nvPr/>
        </p:nvSpPr>
        <p:spPr>
          <a:xfrm>
            <a:off x="720360" y="3273120"/>
            <a:ext cx="23522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p = 96.6%</a:t>
            </a:r>
            <a:endParaRPr b="0" lang="it-IT" sz="1200" spc="-1" strike="noStrike">
              <a:solidFill>
                <a:srgbClr val="000000"/>
              </a:solidFill>
              <a:latin typeface="Arial"/>
            </a:endParaRPr>
          </a:p>
        </p:txBody>
      </p:sp>
      <p:sp>
        <p:nvSpPr>
          <p:cNvPr id="357" name="Text 12"/>
          <p:cNvSpPr/>
          <p:nvPr/>
        </p:nvSpPr>
        <p:spPr>
          <a:xfrm>
            <a:off x="720360" y="3539880"/>
            <a:ext cx="23522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Frazione parallelizzabile</a:t>
            </a:r>
            <a:endParaRPr b="0" lang="it-IT" sz="1200" spc="-1" strike="noStrike">
              <a:solidFill>
                <a:srgbClr val="000000"/>
              </a:solidFill>
              <a:latin typeface="Arial"/>
            </a:endParaRPr>
          </a:p>
        </p:txBody>
      </p:sp>
      <p:sp>
        <p:nvSpPr>
          <p:cNvPr id="358" name="Shape 13"/>
          <p:cNvSpPr/>
          <p:nvPr/>
        </p:nvSpPr>
        <p:spPr>
          <a:xfrm>
            <a:off x="3284280" y="3159000"/>
            <a:ext cx="2522160" cy="723600"/>
          </a:xfrm>
          <a:custGeom>
            <a:avLst/>
            <a:gdLst>
              <a:gd name="textAreaLeft" fmla="*/ 0 w 2522160"/>
              <a:gd name="textAreaRight" fmla="*/ 2522520 w 2522160"/>
              <a:gd name="textAreaTop" fmla="*/ 0 h 723600"/>
              <a:gd name="textAreaBottom" fmla="*/ 723960 h 723600"/>
            </a:gdLst>
            <a:ahLst/>
            <a:rect l="textAreaLeft" t="textAreaTop" r="textAreaRight" b="textAreaBottom"/>
            <a:pathLst>
              <a:path w="2522393" h="723900">
                <a:moveTo>
                  <a:pt x="34636" y="0"/>
                </a:moveTo>
                <a:lnTo>
                  <a:pt x="2446195" y="0"/>
                </a:lnTo>
                <a:cubicBezTo>
                  <a:pt x="2488250" y="0"/>
                  <a:pt x="2522393" y="34143"/>
                  <a:pt x="2522393" y="76198"/>
                </a:cubicBezTo>
                <a:lnTo>
                  <a:pt x="2522393" y="647702"/>
                </a:lnTo>
                <a:cubicBezTo>
                  <a:pt x="2522393" y="689757"/>
                  <a:pt x="2488250" y="723900"/>
                  <a:pt x="2446195" y="723900"/>
                </a:cubicBezTo>
                <a:lnTo>
                  <a:pt x="34636" y="723900"/>
                </a:lnTo>
                <a:cubicBezTo>
                  <a:pt x="15507" y="723900"/>
                  <a:pt x="0" y="708393"/>
                  <a:pt x="0" y="689264"/>
                </a:cubicBezTo>
                <a:lnTo>
                  <a:pt x="0" y="34636"/>
                </a:lnTo>
                <a:cubicBezTo>
                  <a:pt x="0" y="15507"/>
                  <a:pt x="15507" y="0"/>
                  <a:pt x="34636"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59" name="Shape 14"/>
          <p:cNvSpPr/>
          <p:nvPr/>
        </p:nvSpPr>
        <p:spPr>
          <a:xfrm>
            <a:off x="3284280" y="3159000"/>
            <a:ext cx="34200" cy="723600"/>
          </a:xfrm>
          <a:custGeom>
            <a:avLst/>
            <a:gdLst>
              <a:gd name="textAreaLeft" fmla="*/ 0 w 34200"/>
              <a:gd name="textAreaRight" fmla="*/ 34560 w 34200"/>
              <a:gd name="textAreaTop" fmla="*/ 0 h 723600"/>
              <a:gd name="textAreaBottom" fmla="*/ 723960 h 723600"/>
            </a:gdLst>
            <a:ahLst/>
            <a:rect l="textAreaLeft" t="textAreaTop" r="textAreaRight" b="textAreaBottom"/>
            <a:pathLst>
              <a:path w="34636" h="723900">
                <a:moveTo>
                  <a:pt x="34636" y="0"/>
                </a:moveTo>
                <a:lnTo>
                  <a:pt x="34636" y="0"/>
                </a:lnTo>
                <a:lnTo>
                  <a:pt x="34636" y="723900"/>
                </a:lnTo>
                <a:lnTo>
                  <a:pt x="34636" y="723900"/>
                </a:lnTo>
                <a:cubicBezTo>
                  <a:pt x="15507" y="723900"/>
                  <a:pt x="0" y="708393"/>
                  <a:pt x="0" y="68926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60" name="Text 15"/>
          <p:cNvSpPr/>
          <p:nvPr/>
        </p:nvSpPr>
        <p:spPr>
          <a:xfrm>
            <a:off x="3416040" y="3273120"/>
            <a:ext cx="23522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S(∞) ≈ 28.6x</a:t>
            </a:r>
            <a:endParaRPr b="0" lang="it-IT" sz="1200" spc="-1" strike="noStrike">
              <a:solidFill>
                <a:srgbClr val="000000"/>
              </a:solidFill>
              <a:latin typeface="Arial"/>
            </a:endParaRPr>
          </a:p>
        </p:txBody>
      </p:sp>
      <p:sp>
        <p:nvSpPr>
          <p:cNvPr id="361" name="Text 16"/>
          <p:cNvSpPr/>
          <p:nvPr/>
        </p:nvSpPr>
        <p:spPr>
          <a:xfrm>
            <a:off x="3416040" y="3539880"/>
            <a:ext cx="23522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Limite teorico con infiniti core</a:t>
            </a:r>
            <a:endParaRPr b="0" lang="it-IT" sz="1200" spc="-1" strike="noStrike">
              <a:solidFill>
                <a:srgbClr val="000000"/>
              </a:solidFill>
              <a:latin typeface="Arial"/>
            </a:endParaRPr>
          </a:p>
        </p:txBody>
      </p:sp>
      <p:sp>
        <p:nvSpPr>
          <p:cNvPr id="362" name="Shape 17"/>
          <p:cNvSpPr/>
          <p:nvPr/>
        </p:nvSpPr>
        <p:spPr>
          <a:xfrm>
            <a:off x="6191280" y="1295280"/>
            <a:ext cx="5619240" cy="3009600"/>
          </a:xfrm>
          <a:custGeom>
            <a:avLst/>
            <a:gdLst>
              <a:gd name="textAreaLeft" fmla="*/ 0 w 5619240"/>
              <a:gd name="textAreaRight" fmla="*/ 5619600 w 5619240"/>
              <a:gd name="textAreaTop" fmla="*/ 0 h 3009600"/>
              <a:gd name="textAreaBottom" fmla="*/ 3009960 h 3009600"/>
            </a:gdLst>
            <a:ahLst/>
            <a:rect l="textAreaLeft" t="textAreaTop" r="textAreaRight" b="textAreaBottom"/>
            <a:pathLst>
              <a:path w="5619750" h="3009900">
                <a:moveTo>
                  <a:pt x="76211" y="0"/>
                </a:moveTo>
                <a:lnTo>
                  <a:pt x="5543539" y="0"/>
                </a:lnTo>
                <a:cubicBezTo>
                  <a:pt x="5585629" y="0"/>
                  <a:pt x="5619750" y="34121"/>
                  <a:pt x="5619750" y="76211"/>
                </a:cubicBezTo>
                <a:lnTo>
                  <a:pt x="5619750" y="2933689"/>
                </a:lnTo>
                <a:cubicBezTo>
                  <a:pt x="5619750" y="2975779"/>
                  <a:pt x="5585629" y="3009900"/>
                  <a:pt x="5543539" y="3009900"/>
                </a:cubicBezTo>
                <a:lnTo>
                  <a:pt x="76211" y="3009900"/>
                </a:lnTo>
                <a:cubicBezTo>
                  <a:pt x="34121" y="3009900"/>
                  <a:pt x="0" y="2975779"/>
                  <a:pt x="0" y="2933689"/>
                </a:cubicBezTo>
                <a:lnTo>
                  <a:pt x="0" y="76211"/>
                </a:lnTo>
                <a:cubicBezTo>
                  <a:pt x="0" y="34149"/>
                  <a:pt x="34149" y="0"/>
                  <a:pt x="76211" y="0"/>
                </a:cubicBezTo>
                <a:close/>
              </a:path>
            </a:pathLst>
          </a:custGeom>
          <a:gradFill rotWithShape="0">
            <a:gsLst>
              <a:gs pos="0">
                <a:srgbClr val="2e344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63" name="Text 18"/>
          <p:cNvSpPr/>
          <p:nvPr/>
        </p:nvSpPr>
        <p:spPr>
          <a:xfrm>
            <a:off x="6381720" y="1486080"/>
            <a:ext cx="535284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ffffff"/>
                </a:solidFill>
                <a:latin typeface="Liter"/>
                <a:ea typeface="Liter"/>
              </a:rPr>
              <a:t>Discussione del Plateau</a:t>
            </a:r>
            <a:endParaRPr b="0" lang="it-IT" sz="1800" spc="-1" strike="noStrike">
              <a:solidFill>
                <a:srgbClr val="000000"/>
              </a:solidFill>
              <a:latin typeface="Arial"/>
            </a:endParaRPr>
          </a:p>
        </p:txBody>
      </p:sp>
      <p:sp>
        <p:nvSpPr>
          <p:cNvPr id="364" name="Text 19"/>
          <p:cNvSpPr/>
          <p:nvPr/>
        </p:nvSpPr>
        <p:spPr>
          <a:xfrm>
            <a:off x="6381720" y="1943280"/>
            <a:ext cx="531468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Oltre gli 8 thread si osserva un plateau per tre motivi principali:</a:t>
            </a:r>
            <a:endParaRPr b="0" lang="it-IT" sz="1200" spc="-1" strike="noStrike">
              <a:solidFill>
                <a:srgbClr val="000000"/>
              </a:solidFill>
              <a:latin typeface="Arial"/>
            </a:endParaRPr>
          </a:p>
        </p:txBody>
      </p:sp>
      <p:sp>
        <p:nvSpPr>
          <p:cNvPr id="365" name="Shape 20"/>
          <p:cNvSpPr/>
          <p:nvPr/>
        </p:nvSpPr>
        <p:spPr>
          <a:xfrm>
            <a:off x="6381720" y="2324160"/>
            <a:ext cx="5238360" cy="952200"/>
          </a:xfrm>
          <a:custGeom>
            <a:avLst/>
            <a:gdLst>
              <a:gd name="textAreaLeft" fmla="*/ 0 w 5238360"/>
              <a:gd name="textAreaRight" fmla="*/ 5238720 w 5238360"/>
              <a:gd name="textAreaTop" fmla="*/ 0 h 952200"/>
              <a:gd name="textAreaBottom" fmla="*/ 952560 h 952200"/>
            </a:gdLst>
            <a:ahLst/>
            <a:rect l="textAreaLeft" t="textAreaTop" r="textAreaRight" b="textAreaBottom"/>
            <a:pathLst>
              <a:path w="5238750" h="952500">
                <a:moveTo>
                  <a:pt x="76200" y="0"/>
                </a:moveTo>
                <a:lnTo>
                  <a:pt x="5162550" y="0"/>
                </a:lnTo>
                <a:cubicBezTo>
                  <a:pt x="5204606" y="0"/>
                  <a:pt x="5238750" y="34144"/>
                  <a:pt x="5238750" y="76200"/>
                </a:cubicBezTo>
                <a:lnTo>
                  <a:pt x="5238750" y="876300"/>
                </a:lnTo>
                <a:cubicBezTo>
                  <a:pt x="5238750" y="918356"/>
                  <a:pt x="5204606" y="952500"/>
                  <a:pt x="5162550" y="952500"/>
                </a:cubicBezTo>
                <a:lnTo>
                  <a:pt x="76200" y="952500"/>
                </a:lnTo>
                <a:cubicBezTo>
                  <a:pt x="34144" y="952500"/>
                  <a:pt x="0" y="918356"/>
                  <a:pt x="0" y="876300"/>
                </a:cubicBezTo>
                <a:lnTo>
                  <a:pt x="0" y="76200"/>
                </a:lnTo>
                <a:cubicBezTo>
                  <a:pt x="0" y="34144"/>
                  <a:pt x="34144" y="0"/>
                  <a:pt x="76200"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66" name="Text 21"/>
          <p:cNvSpPr/>
          <p:nvPr/>
        </p:nvSpPr>
        <p:spPr>
          <a:xfrm>
            <a:off x="6496200" y="2438280"/>
            <a:ext cx="509544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ffffff"/>
                </a:solidFill>
                <a:latin typeface="Quattrocento Sans"/>
                <a:ea typeface="Quattrocento Sans"/>
              </a:rPr>
              <a:t>1. Saturazione Hardware</a:t>
            </a:r>
            <a:endParaRPr b="0" lang="it-IT" sz="1350" spc="-1" strike="noStrike">
              <a:solidFill>
                <a:srgbClr val="000000"/>
              </a:solidFill>
              <a:latin typeface="Arial"/>
            </a:endParaRPr>
          </a:p>
        </p:txBody>
      </p:sp>
      <p:sp>
        <p:nvSpPr>
          <p:cNvPr id="367" name="Text 22"/>
          <p:cNvSpPr/>
          <p:nvPr/>
        </p:nvSpPr>
        <p:spPr>
          <a:xfrm>
            <a:off x="6496200" y="2705040"/>
            <a:ext cx="508608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La CPU ha 8 thread logici; oltre questo limite, i thread competono per le stesse unità fisiche</a:t>
            </a:r>
            <a:endParaRPr b="0" lang="it-IT" sz="1200" spc="-1" strike="noStrike">
              <a:solidFill>
                <a:srgbClr val="000000"/>
              </a:solidFill>
              <a:latin typeface="Arial"/>
            </a:endParaRPr>
          </a:p>
        </p:txBody>
      </p:sp>
      <p:sp>
        <p:nvSpPr>
          <p:cNvPr id="368" name="Shape 23"/>
          <p:cNvSpPr/>
          <p:nvPr/>
        </p:nvSpPr>
        <p:spPr>
          <a:xfrm>
            <a:off x="6381720" y="3390840"/>
            <a:ext cx="5238360" cy="723600"/>
          </a:xfrm>
          <a:custGeom>
            <a:avLst/>
            <a:gdLst>
              <a:gd name="textAreaLeft" fmla="*/ 0 w 5238360"/>
              <a:gd name="textAreaRight" fmla="*/ 5238720 w 5238360"/>
              <a:gd name="textAreaTop" fmla="*/ 0 h 723600"/>
              <a:gd name="textAreaBottom" fmla="*/ 723960 h 723600"/>
            </a:gdLst>
            <a:ahLst/>
            <a:rect l="textAreaLeft" t="textAreaTop" r="textAreaRight" b="textAreaBottom"/>
            <a:pathLst>
              <a:path w="5238750" h="723900">
                <a:moveTo>
                  <a:pt x="76198" y="0"/>
                </a:moveTo>
                <a:lnTo>
                  <a:pt x="5162552" y="0"/>
                </a:lnTo>
                <a:cubicBezTo>
                  <a:pt x="5204607" y="0"/>
                  <a:pt x="5238750" y="34143"/>
                  <a:pt x="5238750" y="76198"/>
                </a:cubicBezTo>
                <a:lnTo>
                  <a:pt x="5238750" y="647702"/>
                </a:lnTo>
                <a:cubicBezTo>
                  <a:pt x="5238750" y="689757"/>
                  <a:pt x="5204607" y="723900"/>
                  <a:pt x="5162552" y="723900"/>
                </a:cubicBezTo>
                <a:lnTo>
                  <a:pt x="76198" y="723900"/>
                </a:lnTo>
                <a:cubicBezTo>
                  <a:pt x="34143" y="723900"/>
                  <a:pt x="0" y="689757"/>
                  <a:pt x="0" y="647702"/>
                </a:cubicBezTo>
                <a:lnTo>
                  <a:pt x="0" y="76198"/>
                </a:lnTo>
                <a:cubicBezTo>
                  <a:pt x="0" y="34143"/>
                  <a:pt x="34143" y="0"/>
                  <a:pt x="76198"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69" name="Text 24"/>
          <p:cNvSpPr/>
          <p:nvPr/>
        </p:nvSpPr>
        <p:spPr>
          <a:xfrm>
            <a:off x="6496200" y="3505320"/>
            <a:ext cx="509544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ffffff"/>
                </a:solidFill>
                <a:latin typeface="Quattrocento Sans"/>
                <a:ea typeface="Quattrocento Sans"/>
              </a:rPr>
              <a:t>2. Overhead di Sincronizzazione</a:t>
            </a:r>
            <a:endParaRPr b="0" lang="it-IT" sz="1350" spc="-1" strike="noStrike">
              <a:solidFill>
                <a:srgbClr val="000000"/>
              </a:solidFill>
              <a:latin typeface="Arial"/>
            </a:endParaRPr>
          </a:p>
        </p:txBody>
      </p:sp>
      <p:sp>
        <p:nvSpPr>
          <p:cNvPr id="370" name="Text 25"/>
          <p:cNvSpPr/>
          <p:nvPr/>
        </p:nvSpPr>
        <p:spPr>
          <a:xfrm>
            <a:off x="6496200" y="3772080"/>
            <a:ext cx="508608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ffffff"/>
                </a:solidFill>
                <a:latin typeface="Quattrocento Sans"/>
                <a:ea typeface="Quattrocento Sans"/>
              </a:rPr>
              <a:t>La gestione di thread aggiuntivi introduce latenze che superano i benefici</a:t>
            </a:r>
            <a:endParaRPr b="0" lang="it-IT" sz="1200" spc="-1" strike="noStrike">
              <a:solidFill>
                <a:srgbClr val="000000"/>
              </a:solidFill>
              <a:latin typeface="Arial"/>
            </a:endParaRPr>
          </a:p>
        </p:txBody>
      </p:sp>
      <p:sp>
        <p:nvSpPr>
          <p:cNvPr id="371" name="Shape 26"/>
          <p:cNvSpPr/>
          <p:nvPr/>
        </p:nvSpPr>
        <p:spPr>
          <a:xfrm>
            <a:off x="398160" y="4457880"/>
            <a:ext cx="3693600" cy="1104480"/>
          </a:xfrm>
          <a:custGeom>
            <a:avLst/>
            <a:gdLst>
              <a:gd name="textAreaLeft" fmla="*/ 0 w 3693600"/>
              <a:gd name="textAreaRight" fmla="*/ 3693960 w 3693600"/>
              <a:gd name="textAreaTop" fmla="*/ 0 h 1104480"/>
              <a:gd name="textAreaBottom" fmla="*/ 1104840 h 1104480"/>
            </a:gdLst>
            <a:ahLst/>
            <a:rect l="textAreaLeft" t="textAreaTop" r="textAreaRight" b="textAreaBottom"/>
            <a:pathLst>
              <a:path w="3693968" h="1104900">
                <a:moveTo>
                  <a:pt x="34636" y="0"/>
                </a:moveTo>
                <a:lnTo>
                  <a:pt x="3617763" y="0"/>
                </a:lnTo>
                <a:cubicBezTo>
                  <a:pt x="3659850" y="0"/>
                  <a:pt x="3693968" y="34118"/>
                  <a:pt x="3693968" y="76205"/>
                </a:cubicBezTo>
                <a:lnTo>
                  <a:pt x="3693968" y="1028695"/>
                </a:lnTo>
                <a:cubicBezTo>
                  <a:pt x="3693968" y="1070782"/>
                  <a:pt x="3659850" y="1104900"/>
                  <a:pt x="3617763" y="1104900"/>
                </a:cubicBezTo>
                <a:lnTo>
                  <a:pt x="34636" y="1104900"/>
                </a:lnTo>
                <a:cubicBezTo>
                  <a:pt x="15507" y="1104900"/>
                  <a:pt x="0" y="1089393"/>
                  <a:pt x="0" y="1070264"/>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72" name="Shape 27"/>
          <p:cNvSpPr/>
          <p:nvPr/>
        </p:nvSpPr>
        <p:spPr>
          <a:xfrm>
            <a:off x="398160" y="4457880"/>
            <a:ext cx="34200" cy="1104480"/>
          </a:xfrm>
          <a:custGeom>
            <a:avLst/>
            <a:gdLst>
              <a:gd name="textAreaLeft" fmla="*/ 0 w 34200"/>
              <a:gd name="textAreaRight" fmla="*/ 34560 w 34200"/>
              <a:gd name="textAreaTop" fmla="*/ 0 h 1104480"/>
              <a:gd name="textAreaBottom" fmla="*/ 1104840 h 1104480"/>
            </a:gdLst>
            <a:ahLst/>
            <a:rect l="textAreaLeft" t="textAreaTop" r="textAreaRight" b="textAreaBottom"/>
            <a:pathLst>
              <a:path w="34636" h="1104900">
                <a:moveTo>
                  <a:pt x="34636" y="0"/>
                </a:moveTo>
                <a:lnTo>
                  <a:pt x="34636" y="0"/>
                </a:lnTo>
                <a:lnTo>
                  <a:pt x="34636" y="1104900"/>
                </a:lnTo>
                <a:lnTo>
                  <a:pt x="34636" y="1104900"/>
                </a:lnTo>
                <a:cubicBezTo>
                  <a:pt x="15507" y="1104900"/>
                  <a:pt x="0" y="1089393"/>
                  <a:pt x="0" y="107026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73" name="Text 28"/>
          <p:cNvSpPr/>
          <p:nvPr/>
        </p:nvSpPr>
        <p:spPr>
          <a:xfrm>
            <a:off x="568080" y="4610160"/>
            <a:ext cx="345708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Liter"/>
                <a:ea typeface="Liter"/>
              </a:rPr>
              <a:t>Limite Hardware</a:t>
            </a:r>
            <a:endParaRPr b="0" lang="it-IT" sz="1350" spc="-1" strike="noStrike">
              <a:solidFill>
                <a:srgbClr val="000000"/>
              </a:solidFill>
              <a:latin typeface="Arial"/>
            </a:endParaRPr>
          </a:p>
        </p:txBody>
      </p:sp>
      <p:sp>
        <p:nvSpPr>
          <p:cNvPr id="374" name="Text 29"/>
          <p:cNvSpPr/>
          <p:nvPr/>
        </p:nvSpPr>
        <p:spPr>
          <a:xfrm>
            <a:off x="568080" y="4952880"/>
            <a:ext cx="344772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Raggiunto </a:t>
            </a:r>
            <a:r>
              <a:rPr b="1" lang="en-US" sz="1200" spc="-1" strike="noStrike">
                <a:solidFill>
                  <a:srgbClr val="2e3440"/>
                </a:solidFill>
                <a:latin typeface="Quattrocento Sans"/>
                <a:ea typeface="Quattrocento Sans"/>
              </a:rPr>
              <a:t>6.25x</a:t>
            </a:r>
            <a:r>
              <a:rPr b="0" lang="en-US" sz="1200" spc="-1" strike="noStrike">
                <a:solidFill>
                  <a:srgbClr val="2e3440"/>
                </a:solidFill>
                <a:latin typeface="Quattrocento Sans"/>
                <a:ea typeface="Quattrocento Sans"/>
              </a:rPr>
              <a:t> con 4 core fisici e 8 logici, superando lo speedup teorico basato solo sui core.</a:t>
            </a:r>
            <a:endParaRPr b="0" lang="it-IT" sz="1200" spc="-1" strike="noStrike">
              <a:solidFill>
                <a:srgbClr val="000000"/>
              </a:solidFill>
              <a:latin typeface="Arial"/>
            </a:endParaRPr>
          </a:p>
        </p:txBody>
      </p:sp>
      <p:sp>
        <p:nvSpPr>
          <p:cNvPr id="375" name="Shape 30"/>
          <p:cNvSpPr/>
          <p:nvPr/>
        </p:nvSpPr>
        <p:spPr>
          <a:xfrm>
            <a:off x="4259160" y="4457880"/>
            <a:ext cx="3693600" cy="1104480"/>
          </a:xfrm>
          <a:custGeom>
            <a:avLst/>
            <a:gdLst>
              <a:gd name="textAreaLeft" fmla="*/ 0 w 3693600"/>
              <a:gd name="textAreaRight" fmla="*/ 3693960 w 3693600"/>
              <a:gd name="textAreaTop" fmla="*/ 0 h 1104480"/>
              <a:gd name="textAreaBottom" fmla="*/ 1104840 h 1104480"/>
            </a:gdLst>
            <a:ahLst/>
            <a:rect l="textAreaLeft" t="textAreaTop" r="textAreaRight" b="textAreaBottom"/>
            <a:pathLst>
              <a:path w="3693968" h="1104900">
                <a:moveTo>
                  <a:pt x="34636" y="0"/>
                </a:moveTo>
                <a:lnTo>
                  <a:pt x="3617763" y="0"/>
                </a:lnTo>
                <a:cubicBezTo>
                  <a:pt x="3659850" y="0"/>
                  <a:pt x="3693968" y="34118"/>
                  <a:pt x="3693968" y="76205"/>
                </a:cubicBezTo>
                <a:lnTo>
                  <a:pt x="3693968" y="1028695"/>
                </a:lnTo>
                <a:cubicBezTo>
                  <a:pt x="3693968" y="1070782"/>
                  <a:pt x="3659850" y="1104900"/>
                  <a:pt x="3617763" y="1104900"/>
                </a:cubicBezTo>
                <a:lnTo>
                  <a:pt x="34636" y="1104900"/>
                </a:lnTo>
                <a:cubicBezTo>
                  <a:pt x="15507" y="1104900"/>
                  <a:pt x="0" y="1089393"/>
                  <a:pt x="0" y="1070264"/>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76" name="Shape 31"/>
          <p:cNvSpPr/>
          <p:nvPr/>
        </p:nvSpPr>
        <p:spPr>
          <a:xfrm>
            <a:off x="4259160" y="4457880"/>
            <a:ext cx="34200" cy="1104480"/>
          </a:xfrm>
          <a:custGeom>
            <a:avLst/>
            <a:gdLst>
              <a:gd name="textAreaLeft" fmla="*/ 0 w 34200"/>
              <a:gd name="textAreaRight" fmla="*/ 34560 w 34200"/>
              <a:gd name="textAreaTop" fmla="*/ 0 h 1104480"/>
              <a:gd name="textAreaBottom" fmla="*/ 1104840 h 1104480"/>
            </a:gdLst>
            <a:ahLst/>
            <a:rect l="textAreaLeft" t="textAreaTop" r="textAreaRight" b="textAreaBottom"/>
            <a:pathLst>
              <a:path w="34636" h="1104900">
                <a:moveTo>
                  <a:pt x="34636" y="0"/>
                </a:moveTo>
                <a:lnTo>
                  <a:pt x="34636" y="0"/>
                </a:lnTo>
                <a:lnTo>
                  <a:pt x="34636" y="1104900"/>
                </a:lnTo>
                <a:lnTo>
                  <a:pt x="34636" y="1104900"/>
                </a:lnTo>
                <a:cubicBezTo>
                  <a:pt x="15507" y="1104900"/>
                  <a:pt x="0" y="1089393"/>
                  <a:pt x="0" y="1070264"/>
                </a:cubicBez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77" name="Text 32"/>
          <p:cNvSpPr/>
          <p:nvPr/>
        </p:nvSpPr>
        <p:spPr>
          <a:xfrm>
            <a:off x="4428720" y="4610160"/>
            <a:ext cx="345708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Liter"/>
                <a:ea typeface="Liter"/>
              </a:rPr>
              <a:t>Hyper-Threading</a:t>
            </a:r>
            <a:endParaRPr b="0" lang="it-IT" sz="1350" spc="-1" strike="noStrike">
              <a:solidFill>
                <a:srgbClr val="000000"/>
              </a:solidFill>
              <a:latin typeface="Arial"/>
            </a:endParaRPr>
          </a:p>
        </p:txBody>
      </p:sp>
      <p:sp>
        <p:nvSpPr>
          <p:cNvPr id="378" name="Text 33"/>
          <p:cNvSpPr/>
          <p:nvPr/>
        </p:nvSpPr>
        <p:spPr>
          <a:xfrm>
            <a:off x="4428720" y="4952880"/>
            <a:ext cx="344772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L'Hyper-Threading ha permesso di raggiungere un ulteriore miglioramento (+54% oltre i 4x).</a:t>
            </a:r>
            <a:endParaRPr b="0" lang="it-IT" sz="1200" spc="-1" strike="noStrike">
              <a:solidFill>
                <a:srgbClr val="000000"/>
              </a:solidFill>
              <a:latin typeface="Arial"/>
            </a:endParaRPr>
          </a:p>
        </p:txBody>
      </p:sp>
      <p:sp>
        <p:nvSpPr>
          <p:cNvPr id="379" name="Shape 34"/>
          <p:cNvSpPr/>
          <p:nvPr/>
        </p:nvSpPr>
        <p:spPr>
          <a:xfrm>
            <a:off x="8119800" y="4457880"/>
            <a:ext cx="3693600" cy="1104480"/>
          </a:xfrm>
          <a:custGeom>
            <a:avLst/>
            <a:gdLst>
              <a:gd name="textAreaLeft" fmla="*/ 0 w 3693600"/>
              <a:gd name="textAreaRight" fmla="*/ 3693960 w 3693600"/>
              <a:gd name="textAreaTop" fmla="*/ 0 h 1104480"/>
              <a:gd name="textAreaBottom" fmla="*/ 1104840 h 1104480"/>
            </a:gdLst>
            <a:ahLst/>
            <a:rect l="textAreaLeft" t="textAreaTop" r="textAreaRight" b="textAreaBottom"/>
            <a:pathLst>
              <a:path w="3693968" h="1104900">
                <a:moveTo>
                  <a:pt x="34636" y="0"/>
                </a:moveTo>
                <a:lnTo>
                  <a:pt x="3617763" y="0"/>
                </a:lnTo>
                <a:cubicBezTo>
                  <a:pt x="3659850" y="0"/>
                  <a:pt x="3693968" y="34118"/>
                  <a:pt x="3693968" y="76205"/>
                </a:cubicBezTo>
                <a:lnTo>
                  <a:pt x="3693968" y="1028695"/>
                </a:lnTo>
                <a:cubicBezTo>
                  <a:pt x="3693968" y="1070782"/>
                  <a:pt x="3659850" y="1104900"/>
                  <a:pt x="3617763" y="1104900"/>
                </a:cubicBezTo>
                <a:lnTo>
                  <a:pt x="34636" y="1104900"/>
                </a:lnTo>
                <a:cubicBezTo>
                  <a:pt x="15507" y="1104900"/>
                  <a:pt x="0" y="1089393"/>
                  <a:pt x="0" y="1070264"/>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80" name="Shape 35"/>
          <p:cNvSpPr/>
          <p:nvPr/>
        </p:nvSpPr>
        <p:spPr>
          <a:xfrm>
            <a:off x="8119800" y="4457880"/>
            <a:ext cx="34200" cy="1104480"/>
          </a:xfrm>
          <a:custGeom>
            <a:avLst/>
            <a:gdLst>
              <a:gd name="textAreaLeft" fmla="*/ 0 w 34200"/>
              <a:gd name="textAreaRight" fmla="*/ 34560 w 34200"/>
              <a:gd name="textAreaTop" fmla="*/ 0 h 1104480"/>
              <a:gd name="textAreaBottom" fmla="*/ 1104840 h 1104480"/>
            </a:gdLst>
            <a:ahLst/>
            <a:rect l="textAreaLeft" t="textAreaTop" r="textAreaRight" b="textAreaBottom"/>
            <a:pathLst>
              <a:path w="34636" h="1104900">
                <a:moveTo>
                  <a:pt x="34636" y="0"/>
                </a:moveTo>
                <a:lnTo>
                  <a:pt x="34636" y="0"/>
                </a:lnTo>
                <a:lnTo>
                  <a:pt x="34636" y="1104900"/>
                </a:lnTo>
                <a:lnTo>
                  <a:pt x="34636" y="1104900"/>
                </a:lnTo>
                <a:cubicBezTo>
                  <a:pt x="15507" y="1104900"/>
                  <a:pt x="0" y="1089393"/>
                  <a:pt x="0" y="107026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81" name="Text 36"/>
          <p:cNvSpPr/>
          <p:nvPr/>
        </p:nvSpPr>
        <p:spPr>
          <a:xfrm>
            <a:off x="8289720" y="4610160"/>
            <a:ext cx="3457080" cy="26640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350" spc="-1" strike="noStrike">
                <a:solidFill>
                  <a:srgbClr val="2e3440"/>
                </a:solidFill>
                <a:latin typeface="Liter"/>
                <a:ea typeface="Liter"/>
              </a:rPr>
              <a:t>SIMD</a:t>
            </a:r>
            <a:endParaRPr b="0" lang="it-IT" sz="1350" spc="-1" strike="noStrike">
              <a:solidFill>
                <a:srgbClr val="000000"/>
              </a:solidFill>
              <a:latin typeface="Arial"/>
            </a:endParaRPr>
          </a:p>
        </p:txBody>
      </p:sp>
      <p:sp>
        <p:nvSpPr>
          <p:cNvPr id="382" name="Text 37"/>
          <p:cNvSpPr/>
          <p:nvPr/>
        </p:nvSpPr>
        <p:spPr>
          <a:xfrm>
            <a:off x="8289720" y="4952880"/>
            <a:ext cx="344772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Le istruzioni vettoriali hanno permesso di superare la linearità teorica (caso superlineare a 4 thread).</a:t>
            </a:r>
            <a:endParaRPr b="0" lang="it-IT" sz="1200" spc="-1" strike="noStrike">
              <a:solidFill>
                <a:srgbClr val="000000"/>
              </a:solidFill>
              <a:latin typeface="Arial"/>
            </a:endParaRPr>
          </a:p>
        </p:txBody>
      </p:sp>
      <p:sp>
        <p:nvSpPr>
          <p:cNvPr id="383" name="Shape 38"/>
          <p:cNvSpPr/>
          <p:nvPr/>
        </p:nvSpPr>
        <p:spPr>
          <a:xfrm>
            <a:off x="398160" y="5715000"/>
            <a:ext cx="11408760" cy="761760"/>
          </a:xfrm>
          <a:custGeom>
            <a:avLst/>
            <a:gdLst>
              <a:gd name="textAreaLeft" fmla="*/ 0 w 11408760"/>
              <a:gd name="textAreaRight" fmla="*/ 11409120 w 11408760"/>
              <a:gd name="textAreaTop" fmla="*/ 0 h 761760"/>
              <a:gd name="textAreaBottom" fmla="*/ 762120 h 761760"/>
            </a:gdLst>
            <a:ahLst/>
            <a:rect l="textAreaLeft" t="textAreaTop" r="textAreaRight" b="textAreaBottom"/>
            <a:pathLst>
              <a:path w="11409218" h="762000">
                <a:moveTo>
                  <a:pt x="34636" y="0"/>
                </a:moveTo>
                <a:lnTo>
                  <a:pt x="11333018" y="0"/>
                </a:lnTo>
                <a:cubicBezTo>
                  <a:pt x="11375074" y="0"/>
                  <a:pt x="11409218" y="34144"/>
                  <a:pt x="11409218" y="76200"/>
                </a:cubicBezTo>
                <a:lnTo>
                  <a:pt x="11409218" y="685800"/>
                </a:lnTo>
                <a:cubicBezTo>
                  <a:pt x="11409218" y="727856"/>
                  <a:pt x="11375074" y="762000"/>
                  <a:pt x="11333018" y="762000"/>
                </a:cubicBezTo>
                <a:lnTo>
                  <a:pt x="34636" y="762000"/>
                </a:lnTo>
                <a:cubicBezTo>
                  <a:pt x="15507" y="762000"/>
                  <a:pt x="0" y="746493"/>
                  <a:pt x="0" y="727364"/>
                </a:cubicBezTo>
                <a:lnTo>
                  <a:pt x="0" y="34636"/>
                </a:lnTo>
                <a:cubicBezTo>
                  <a:pt x="0" y="15507"/>
                  <a:pt x="15507" y="0"/>
                  <a:pt x="34636"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84" name="Shape 39"/>
          <p:cNvSpPr/>
          <p:nvPr/>
        </p:nvSpPr>
        <p:spPr>
          <a:xfrm>
            <a:off x="398160" y="5715000"/>
            <a:ext cx="34200" cy="761760"/>
          </a:xfrm>
          <a:custGeom>
            <a:avLst/>
            <a:gdLst>
              <a:gd name="textAreaLeft" fmla="*/ 0 w 34200"/>
              <a:gd name="textAreaRight" fmla="*/ 34560 w 34200"/>
              <a:gd name="textAreaTop" fmla="*/ 0 h 761760"/>
              <a:gd name="textAreaBottom" fmla="*/ 762120 h 761760"/>
            </a:gdLst>
            <a:ahLst/>
            <a:rect l="textAreaLeft" t="textAreaTop" r="textAreaRight" b="textAreaBottom"/>
            <a:pathLst>
              <a:path w="34636" h="762000">
                <a:moveTo>
                  <a:pt x="34636" y="0"/>
                </a:moveTo>
                <a:lnTo>
                  <a:pt x="34636" y="0"/>
                </a:lnTo>
                <a:lnTo>
                  <a:pt x="34636" y="762000"/>
                </a:lnTo>
                <a:lnTo>
                  <a:pt x="34636" y="762000"/>
                </a:lnTo>
                <a:cubicBezTo>
                  <a:pt x="15507" y="762000"/>
                  <a:pt x="0" y="746493"/>
                  <a:pt x="0" y="72736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85" name="Text 40"/>
          <p:cNvSpPr/>
          <p:nvPr/>
        </p:nvSpPr>
        <p:spPr>
          <a:xfrm>
            <a:off x="568080" y="5867280"/>
            <a:ext cx="1116288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Conclusione:</a:t>
            </a:r>
            <a:r>
              <a:rPr b="0" lang="en-US" sz="1200" spc="-1" strike="noStrike">
                <a:solidFill>
                  <a:srgbClr val="2e3440"/>
                </a:solidFill>
                <a:latin typeface="Quattrocento Sans"/>
                <a:ea typeface="Quattrocento Sans"/>
              </a:rPr>
              <a:t> Il plateau oltre 8 thread dimostra che l'aggiunta di thread software oltre le risorse hardware non porta benefici significativi. L'efficienza massima si ottiene quando il numero di thread software corrisponde al numero di thread logici disponibili.</a:t>
            </a:r>
            <a:endParaRPr b="0" lang="it-IT" sz="1200" spc="-1" strike="noStrike">
              <a:solidFill>
                <a:srgbClr val="000000"/>
              </a:solidFill>
              <a:latin typeface="Arial"/>
            </a:endParaRPr>
          </a:p>
        </p:txBody>
      </p:sp>
    </p:spTree>
  </p:cSld>
  <p:transition>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386" name="Text 0"/>
          <p:cNvSpPr/>
          <p:nvPr/>
        </p:nvSpPr>
        <p:spPr>
          <a:xfrm>
            <a:off x="320400" y="320400"/>
            <a:ext cx="11615040" cy="19188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010" spc="100" strike="noStrike">
                <a:solidFill>
                  <a:srgbClr val="5e81ac"/>
                </a:solidFill>
                <a:latin typeface="Quattrocento Sans"/>
                <a:ea typeface="Quattrocento Sans"/>
              </a:rPr>
              <a:t>Riflessioni</a:t>
            </a:r>
            <a:endParaRPr b="0" lang="it-IT" sz="1010" spc="-1" strike="noStrike">
              <a:solidFill>
                <a:srgbClr val="000000"/>
              </a:solidFill>
              <a:latin typeface="Arial"/>
            </a:endParaRPr>
          </a:p>
        </p:txBody>
      </p:sp>
      <p:sp>
        <p:nvSpPr>
          <p:cNvPr id="387" name="Text 1"/>
          <p:cNvSpPr/>
          <p:nvPr/>
        </p:nvSpPr>
        <p:spPr>
          <a:xfrm>
            <a:off x="320400" y="576720"/>
            <a:ext cx="11743200" cy="38412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030" spc="-1" strike="noStrike">
                <a:solidFill>
                  <a:srgbClr val="2e3440"/>
                </a:solidFill>
                <a:latin typeface="Liter"/>
                <a:ea typeface="Liter"/>
              </a:rPr>
              <a:t>Lessons Learned</a:t>
            </a:r>
            <a:endParaRPr b="0" lang="it-IT" sz="3030" spc="-1" strike="noStrike">
              <a:solidFill>
                <a:srgbClr val="000000"/>
              </a:solidFill>
              <a:latin typeface="Arial"/>
            </a:endParaRPr>
          </a:p>
        </p:txBody>
      </p:sp>
      <p:sp>
        <p:nvSpPr>
          <p:cNvPr id="388" name="Shape 2"/>
          <p:cNvSpPr/>
          <p:nvPr/>
        </p:nvSpPr>
        <p:spPr>
          <a:xfrm>
            <a:off x="320400" y="1089360"/>
            <a:ext cx="5679000" cy="3652560"/>
          </a:xfrm>
          <a:custGeom>
            <a:avLst/>
            <a:gdLst>
              <a:gd name="textAreaLeft" fmla="*/ 0 w 5679000"/>
              <a:gd name="textAreaRight" fmla="*/ 5679360 w 5679000"/>
              <a:gd name="textAreaTop" fmla="*/ 0 h 3652560"/>
              <a:gd name="textAreaBottom" fmla="*/ 3652920 h 3652560"/>
            </a:gdLst>
            <a:ahLst/>
            <a:rect l="textAreaLeft" t="textAreaTop" r="textAreaRight" b="textAreaBottom"/>
            <a:pathLst>
              <a:path w="5679453" h="3652794">
                <a:moveTo>
                  <a:pt x="64070" y="0"/>
                </a:moveTo>
                <a:lnTo>
                  <a:pt x="5615383" y="0"/>
                </a:lnTo>
                <a:cubicBezTo>
                  <a:pt x="5650768" y="0"/>
                  <a:pt x="5679453" y="28685"/>
                  <a:pt x="5679453" y="64070"/>
                </a:cubicBezTo>
                <a:lnTo>
                  <a:pt x="5679453" y="3588724"/>
                </a:lnTo>
                <a:cubicBezTo>
                  <a:pt x="5679453" y="3624109"/>
                  <a:pt x="5650768" y="3652794"/>
                  <a:pt x="5615383" y="3652794"/>
                </a:cubicBezTo>
                <a:lnTo>
                  <a:pt x="64070" y="3652794"/>
                </a:lnTo>
                <a:cubicBezTo>
                  <a:pt x="28685" y="3652794"/>
                  <a:pt x="0" y="3624109"/>
                  <a:pt x="0" y="3588724"/>
                </a:cubicBezTo>
                <a:lnTo>
                  <a:pt x="0" y="64070"/>
                </a:lnTo>
                <a:cubicBezTo>
                  <a:pt x="0" y="28709"/>
                  <a:pt x="28709" y="0"/>
                  <a:pt x="64070" y="0"/>
                </a:cubicBezTo>
                <a:close/>
              </a:path>
            </a:pathLst>
          </a:custGeom>
          <a:gradFill rotWithShape="0">
            <a:gsLst>
              <a:gs pos="0">
                <a:srgbClr val="5e81ac"/>
              </a:gs>
              <a:gs pos="100000">
                <a:srgbClr val="88c0d0"/>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89" name="Shape 3"/>
          <p:cNvSpPr/>
          <p:nvPr/>
        </p:nvSpPr>
        <p:spPr>
          <a:xfrm>
            <a:off x="512640" y="1281600"/>
            <a:ext cx="448200" cy="448200"/>
          </a:xfrm>
          <a:custGeom>
            <a:avLst/>
            <a:gdLst>
              <a:gd name="textAreaLeft" fmla="*/ 0 w 448200"/>
              <a:gd name="textAreaRight" fmla="*/ 448560 w 448200"/>
              <a:gd name="textAreaTop" fmla="*/ 0 h 448200"/>
              <a:gd name="textAreaBottom" fmla="*/ 448560 h 448200"/>
            </a:gdLst>
            <a:ahLst/>
            <a:rect l="textAreaLeft" t="textAreaTop" r="textAreaRight" b="textAreaBottom"/>
            <a:pathLst>
              <a:path w="448589" h="448589">
                <a:moveTo>
                  <a:pt x="224294" y="0"/>
                </a:moveTo>
                <a:lnTo>
                  <a:pt x="224294" y="0"/>
                </a:lnTo>
                <a:cubicBezTo>
                  <a:pt x="348086" y="0"/>
                  <a:pt x="448589" y="100503"/>
                  <a:pt x="448589" y="224294"/>
                </a:cubicBezTo>
                <a:lnTo>
                  <a:pt x="448589" y="224294"/>
                </a:lnTo>
                <a:cubicBezTo>
                  <a:pt x="448589" y="348086"/>
                  <a:pt x="348086" y="448589"/>
                  <a:pt x="224294" y="448589"/>
                </a:cubicBezTo>
                <a:lnTo>
                  <a:pt x="224294" y="448589"/>
                </a:lnTo>
                <a:cubicBezTo>
                  <a:pt x="100503" y="448589"/>
                  <a:pt x="0" y="348086"/>
                  <a:pt x="0" y="224294"/>
                </a:cubicBezTo>
                <a:lnTo>
                  <a:pt x="0" y="224294"/>
                </a:lnTo>
                <a:cubicBezTo>
                  <a:pt x="0" y="100503"/>
                  <a:pt x="100503" y="0"/>
                  <a:pt x="224294"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90" name="Shape 4"/>
          <p:cNvSpPr/>
          <p:nvPr/>
        </p:nvSpPr>
        <p:spPr>
          <a:xfrm>
            <a:off x="618840" y="1385640"/>
            <a:ext cx="240120" cy="240120"/>
          </a:xfrm>
          <a:custGeom>
            <a:avLst/>
            <a:gdLst>
              <a:gd name="textAreaLeft" fmla="*/ 0 w 240120"/>
              <a:gd name="textAreaRight" fmla="*/ 240480 w 240120"/>
              <a:gd name="textAreaTop" fmla="*/ 0 h 240120"/>
              <a:gd name="textAreaBottom" fmla="*/ 240480 h 240120"/>
            </a:gdLst>
            <a:ahLst/>
            <a:rect l="textAreaLeft" t="textAreaTop" r="textAreaRight" b="textAreaBottom"/>
            <a:pathLst>
              <a:path w="240315" h="240315">
                <a:moveTo>
                  <a:pt x="120158" y="240315"/>
                </a:moveTo>
                <a:cubicBezTo>
                  <a:pt x="186475" y="240315"/>
                  <a:pt x="240315" y="186475"/>
                  <a:pt x="240315" y="120158"/>
                </a:cubicBezTo>
                <a:cubicBezTo>
                  <a:pt x="240315" y="53841"/>
                  <a:pt x="186475" y="0"/>
                  <a:pt x="120158" y="0"/>
                </a:cubicBezTo>
                <a:cubicBezTo>
                  <a:pt x="53841" y="0"/>
                  <a:pt x="0" y="53841"/>
                  <a:pt x="0" y="120158"/>
                </a:cubicBezTo>
                <a:cubicBezTo>
                  <a:pt x="0" y="186475"/>
                  <a:pt x="53841" y="240315"/>
                  <a:pt x="120158" y="240315"/>
                </a:cubicBezTo>
                <a:close/>
                <a:moveTo>
                  <a:pt x="159772" y="99834"/>
                </a:moveTo>
                <a:lnTo>
                  <a:pt x="122223" y="159913"/>
                </a:lnTo>
                <a:cubicBezTo>
                  <a:pt x="120252" y="163058"/>
                  <a:pt x="116872" y="165029"/>
                  <a:pt x="113164" y="165217"/>
                </a:cubicBezTo>
                <a:cubicBezTo>
                  <a:pt x="109456" y="165405"/>
                  <a:pt x="105889" y="163715"/>
                  <a:pt x="103683" y="160711"/>
                </a:cubicBezTo>
                <a:lnTo>
                  <a:pt x="81153" y="130671"/>
                </a:lnTo>
                <a:cubicBezTo>
                  <a:pt x="77398" y="125696"/>
                  <a:pt x="78431" y="118656"/>
                  <a:pt x="83406" y="114901"/>
                </a:cubicBezTo>
                <a:cubicBezTo>
                  <a:pt x="88382" y="111146"/>
                  <a:pt x="95422" y="112178"/>
                  <a:pt x="99177" y="117154"/>
                </a:cubicBezTo>
                <a:lnTo>
                  <a:pt x="111850" y="134051"/>
                </a:lnTo>
                <a:lnTo>
                  <a:pt x="140669" y="87912"/>
                </a:lnTo>
                <a:cubicBezTo>
                  <a:pt x="143955" y="82655"/>
                  <a:pt x="150901" y="81013"/>
                  <a:pt x="156205" y="84345"/>
                </a:cubicBezTo>
                <a:cubicBezTo>
                  <a:pt x="161509" y="87678"/>
                  <a:pt x="163105" y="94577"/>
                  <a:pt x="159772" y="99881"/>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91" name="Text 5"/>
          <p:cNvSpPr/>
          <p:nvPr/>
        </p:nvSpPr>
        <p:spPr>
          <a:xfrm>
            <a:off x="1089360" y="1361880"/>
            <a:ext cx="3410640" cy="2880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890" spc="-1" strike="noStrike">
                <a:solidFill>
                  <a:srgbClr val="ffffff"/>
                </a:solidFill>
                <a:latin typeface="Liter"/>
                <a:ea typeface="Liter"/>
              </a:rPr>
              <a:t>Cosa ha Funzionato</a:t>
            </a:r>
            <a:endParaRPr b="0" lang="it-IT" sz="1890" spc="-1" strike="noStrike">
              <a:solidFill>
                <a:srgbClr val="000000"/>
              </a:solidFill>
              <a:latin typeface="Arial"/>
            </a:endParaRPr>
          </a:p>
        </p:txBody>
      </p:sp>
      <p:sp>
        <p:nvSpPr>
          <p:cNvPr id="392" name="Shape 6"/>
          <p:cNvSpPr/>
          <p:nvPr/>
        </p:nvSpPr>
        <p:spPr>
          <a:xfrm>
            <a:off x="512640" y="1858320"/>
            <a:ext cx="5294520" cy="832680"/>
          </a:xfrm>
          <a:custGeom>
            <a:avLst/>
            <a:gdLst>
              <a:gd name="textAreaLeft" fmla="*/ 0 w 5294520"/>
              <a:gd name="textAreaRight" fmla="*/ 5294880 w 5294520"/>
              <a:gd name="textAreaTop" fmla="*/ 0 h 832680"/>
              <a:gd name="textAreaBottom" fmla="*/ 833040 h 832680"/>
            </a:gdLst>
            <a:ahLst/>
            <a:rect l="textAreaLeft" t="textAreaTop" r="textAreaRight" b="textAreaBottom"/>
            <a:pathLst>
              <a:path w="5294949" h="833093">
                <a:moveTo>
                  <a:pt x="64082" y="0"/>
                </a:moveTo>
                <a:lnTo>
                  <a:pt x="5230867" y="0"/>
                </a:lnTo>
                <a:cubicBezTo>
                  <a:pt x="5266258" y="0"/>
                  <a:pt x="5294949" y="28690"/>
                  <a:pt x="5294949" y="64082"/>
                </a:cubicBezTo>
                <a:lnTo>
                  <a:pt x="5294949" y="769012"/>
                </a:lnTo>
                <a:cubicBezTo>
                  <a:pt x="5294949" y="804403"/>
                  <a:pt x="5266258" y="833093"/>
                  <a:pt x="5230867" y="833093"/>
                </a:cubicBezTo>
                <a:lnTo>
                  <a:pt x="64082" y="833093"/>
                </a:lnTo>
                <a:cubicBezTo>
                  <a:pt x="28690" y="833093"/>
                  <a:pt x="0" y="804403"/>
                  <a:pt x="0" y="769012"/>
                </a:cubicBezTo>
                <a:lnTo>
                  <a:pt x="0" y="64082"/>
                </a:lnTo>
                <a:cubicBezTo>
                  <a:pt x="0" y="28714"/>
                  <a:pt x="28714" y="0"/>
                  <a:pt x="64082"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93" name="Text 7"/>
          <p:cNvSpPr/>
          <p:nvPr/>
        </p:nvSpPr>
        <p:spPr>
          <a:xfrm>
            <a:off x="608760" y="1954440"/>
            <a:ext cx="5174280" cy="2239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ffffff"/>
                </a:solidFill>
                <a:latin typeface="Quattrocento Sans"/>
                <a:ea typeface="Quattrocento Sans"/>
              </a:rPr>
              <a:t>Approccio Ibrido OpenMP + SIMD</a:t>
            </a:r>
            <a:endParaRPr b="0" lang="it-IT" sz="1130" spc="-1" strike="noStrike">
              <a:solidFill>
                <a:srgbClr val="000000"/>
              </a:solidFill>
              <a:latin typeface="Arial"/>
            </a:endParaRPr>
          </a:p>
        </p:txBody>
      </p:sp>
      <p:sp>
        <p:nvSpPr>
          <p:cNvPr id="394" name="Text 8"/>
          <p:cNvSpPr/>
          <p:nvPr/>
        </p:nvSpPr>
        <p:spPr>
          <a:xfrm>
            <a:off x="608760" y="2210760"/>
            <a:ext cx="5166360" cy="3841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ffffff"/>
                </a:solidFill>
                <a:latin typeface="Quattrocento Sans"/>
                <a:ea typeface="Quattrocento Sans"/>
              </a:rPr>
              <a:t>Estremamente efficace, permettendo di superare lo speedup lineare teorico. La combinazione ha permesso speedup di 6.25x su una macchina a 4 core.</a:t>
            </a:r>
            <a:endParaRPr b="0" lang="it-IT" sz="1010" spc="-1" strike="noStrike">
              <a:solidFill>
                <a:srgbClr val="000000"/>
              </a:solidFill>
              <a:latin typeface="Arial"/>
            </a:endParaRPr>
          </a:p>
        </p:txBody>
      </p:sp>
      <p:sp>
        <p:nvSpPr>
          <p:cNvPr id="395" name="Shape 9"/>
          <p:cNvSpPr/>
          <p:nvPr/>
        </p:nvSpPr>
        <p:spPr>
          <a:xfrm>
            <a:off x="512640" y="2787840"/>
            <a:ext cx="5294520" cy="832680"/>
          </a:xfrm>
          <a:custGeom>
            <a:avLst/>
            <a:gdLst>
              <a:gd name="textAreaLeft" fmla="*/ 0 w 5294520"/>
              <a:gd name="textAreaRight" fmla="*/ 5294880 w 5294520"/>
              <a:gd name="textAreaTop" fmla="*/ 0 h 832680"/>
              <a:gd name="textAreaBottom" fmla="*/ 833040 h 832680"/>
            </a:gdLst>
            <a:ahLst/>
            <a:rect l="textAreaLeft" t="textAreaTop" r="textAreaRight" b="textAreaBottom"/>
            <a:pathLst>
              <a:path w="5294949" h="833093">
                <a:moveTo>
                  <a:pt x="64082" y="0"/>
                </a:moveTo>
                <a:lnTo>
                  <a:pt x="5230867" y="0"/>
                </a:lnTo>
                <a:cubicBezTo>
                  <a:pt x="5266258" y="0"/>
                  <a:pt x="5294949" y="28690"/>
                  <a:pt x="5294949" y="64082"/>
                </a:cubicBezTo>
                <a:lnTo>
                  <a:pt x="5294949" y="769012"/>
                </a:lnTo>
                <a:cubicBezTo>
                  <a:pt x="5294949" y="804403"/>
                  <a:pt x="5266258" y="833093"/>
                  <a:pt x="5230867" y="833093"/>
                </a:cubicBezTo>
                <a:lnTo>
                  <a:pt x="64082" y="833093"/>
                </a:lnTo>
                <a:cubicBezTo>
                  <a:pt x="28690" y="833093"/>
                  <a:pt x="0" y="804403"/>
                  <a:pt x="0" y="769012"/>
                </a:cubicBezTo>
                <a:lnTo>
                  <a:pt x="0" y="64082"/>
                </a:lnTo>
                <a:cubicBezTo>
                  <a:pt x="0" y="28714"/>
                  <a:pt x="28714" y="0"/>
                  <a:pt x="64082"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96" name="Text 10"/>
          <p:cNvSpPr/>
          <p:nvPr/>
        </p:nvSpPr>
        <p:spPr>
          <a:xfrm>
            <a:off x="608760" y="2883960"/>
            <a:ext cx="5174280" cy="2239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ffffff"/>
                </a:solidFill>
                <a:latin typeface="Quattrocento Sans"/>
                <a:ea typeface="Quattrocento Sans"/>
              </a:rPr>
              <a:t>Riduzioni Efficienti</a:t>
            </a:r>
            <a:endParaRPr b="0" lang="it-IT" sz="1130" spc="-1" strike="noStrike">
              <a:solidFill>
                <a:srgbClr val="000000"/>
              </a:solidFill>
              <a:latin typeface="Arial"/>
            </a:endParaRPr>
          </a:p>
        </p:txBody>
      </p:sp>
      <p:sp>
        <p:nvSpPr>
          <p:cNvPr id="397" name="Text 11"/>
          <p:cNvSpPr/>
          <p:nvPr/>
        </p:nvSpPr>
        <p:spPr>
          <a:xfrm>
            <a:off x="608760" y="3140280"/>
            <a:ext cx="5166360" cy="3841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ffffff"/>
                </a:solidFill>
                <a:latin typeface="Quattrocento Sans"/>
                <a:ea typeface="Quattrocento Sans"/>
              </a:rPr>
              <a:t>Uso di variabili locali per minimizzare i tempi morti di attesa e sincronizzazione solo nella sezione critica finale.</a:t>
            </a:r>
            <a:endParaRPr b="0" lang="it-IT" sz="1010" spc="-1" strike="noStrike">
              <a:solidFill>
                <a:srgbClr val="000000"/>
              </a:solidFill>
              <a:latin typeface="Arial"/>
            </a:endParaRPr>
          </a:p>
        </p:txBody>
      </p:sp>
      <p:sp>
        <p:nvSpPr>
          <p:cNvPr id="398" name="Shape 12"/>
          <p:cNvSpPr/>
          <p:nvPr/>
        </p:nvSpPr>
        <p:spPr>
          <a:xfrm>
            <a:off x="512640" y="3717000"/>
            <a:ext cx="5294520" cy="832680"/>
          </a:xfrm>
          <a:custGeom>
            <a:avLst/>
            <a:gdLst>
              <a:gd name="textAreaLeft" fmla="*/ 0 w 5294520"/>
              <a:gd name="textAreaRight" fmla="*/ 5294880 w 5294520"/>
              <a:gd name="textAreaTop" fmla="*/ 0 h 832680"/>
              <a:gd name="textAreaBottom" fmla="*/ 833040 h 832680"/>
            </a:gdLst>
            <a:ahLst/>
            <a:rect l="textAreaLeft" t="textAreaTop" r="textAreaRight" b="textAreaBottom"/>
            <a:pathLst>
              <a:path w="5294949" h="833093">
                <a:moveTo>
                  <a:pt x="64082" y="0"/>
                </a:moveTo>
                <a:lnTo>
                  <a:pt x="5230867" y="0"/>
                </a:lnTo>
                <a:cubicBezTo>
                  <a:pt x="5266258" y="0"/>
                  <a:pt x="5294949" y="28690"/>
                  <a:pt x="5294949" y="64082"/>
                </a:cubicBezTo>
                <a:lnTo>
                  <a:pt x="5294949" y="769012"/>
                </a:lnTo>
                <a:cubicBezTo>
                  <a:pt x="5294949" y="804403"/>
                  <a:pt x="5266258" y="833093"/>
                  <a:pt x="5230867" y="833093"/>
                </a:cubicBezTo>
                <a:lnTo>
                  <a:pt x="64082" y="833093"/>
                </a:lnTo>
                <a:cubicBezTo>
                  <a:pt x="28690" y="833093"/>
                  <a:pt x="0" y="804403"/>
                  <a:pt x="0" y="769012"/>
                </a:cubicBezTo>
                <a:lnTo>
                  <a:pt x="0" y="64082"/>
                </a:lnTo>
                <a:cubicBezTo>
                  <a:pt x="0" y="28714"/>
                  <a:pt x="28714" y="0"/>
                  <a:pt x="64082"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399" name="Text 13"/>
          <p:cNvSpPr/>
          <p:nvPr/>
        </p:nvSpPr>
        <p:spPr>
          <a:xfrm>
            <a:off x="608760" y="3813120"/>
            <a:ext cx="5174280" cy="2239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ffffff"/>
                </a:solidFill>
                <a:latin typeface="Quattrocento Sans"/>
                <a:ea typeface="Quattrocento Sans"/>
              </a:rPr>
              <a:t>Metodologia di Benchmark</a:t>
            </a:r>
            <a:endParaRPr b="0" lang="it-IT" sz="1130" spc="-1" strike="noStrike">
              <a:solidFill>
                <a:srgbClr val="000000"/>
              </a:solidFill>
              <a:latin typeface="Arial"/>
            </a:endParaRPr>
          </a:p>
        </p:txBody>
      </p:sp>
      <p:sp>
        <p:nvSpPr>
          <p:cNvPr id="400" name="Text 14"/>
          <p:cNvSpPr/>
          <p:nvPr/>
        </p:nvSpPr>
        <p:spPr>
          <a:xfrm>
            <a:off x="608760" y="4069440"/>
            <a:ext cx="5166360" cy="3841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ffffff"/>
                </a:solidFill>
                <a:latin typeface="Quattrocento Sans"/>
                <a:ea typeface="Quattrocento Sans"/>
              </a:rPr>
              <a:t>Warm-up, ripetizioni multiple e baseline di 8-10s hanno garantito misurazioni accurate e riproducibili.</a:t>
            </a:r>
            <a:endParaRPr b="0" lang="it-IT" sz="1010" spc="-1" strike="noStrike">
              <a:solidFill>
                <a:srgbClr val="000000"/>
              </a:solidFill>
              <a:latin typeface="Arial"/>
            </a:endParaRPr>
          </a:p>
        </p:txBody>
      </p:sp>
      <p:sp>
        <p:nvSpPr>
          <p:cNvPr id="401" name="Shape 15"/>
          <p:cNvSpPr/>
          <p:nvPr/>
        </p:nvSpPr>
        <p:spPr>
          <a:xfrm>
            <a:off x="6191280" y="1104120"/>
            <a:ext cx="5679000" cy="3634920"/>
          </a:xfrm>
          <a:custGeom>
            <a:avLst/>
            <a:gdLst>
              <a:gd name="textAreaLeft" fmla="*/ 0 w 5679000"/>
              <a:gd name="textAreaRight" fmla="*/ 5679360 w 5679000"/>
              <a:gd name="textAreaTop" fmla="*/ 0 h 3634920"/>
              <a:gd name="textAreaBottom" fmla="*/ 3635280 h 3634920"/>
            </a:gdLst>
            <a:ahLst/>
            <a:rect l="textAreaLeft" t="textAreaTop" r="textAreaRight" b="textAreaBottom"/>
            <a:pathLst>
              <a:path w="5679453" h="3635316">
                <a:moveTo>
                  <a:pt x="29129" y="0"/>
                </a:moveTo>
                <a:lnTo>
                  <a:pt x="5650324" y="0"/>
                </a:lnTo>
                <a:cubicBezTo>
                  <a:pt x="5666412" y="0"/>
                  <a:pt x="5679453" y="13042"/>
                  <a:pt x="5679453" y="29129"/>
                </a:cubicBezTo>
                <a:lnTo>
                  <a:pt x="5679453" y="3571226"/>
                </a:lnTo>
                <a:cubicBezTo>
                  <a:pt x="5679453" y="3606622"/>
                  <a:pt x="5650759" y="3635316"/>
                  <a:pt x="5615363" y="3635316"/>
                </a:cubicBezTo>
                <a:lnTo>
                  <a:pt x="64091" y="3635316"/>
                </a:lnTo>
                <a:cubicBezTo>
                  <a:pt x="28694" y="3635316"/>
                  <a:pt x="0" y="3606622"/>
                  <a:pt x="0" y="3571226"/>
                </a:cubicBezTo>
                <a:lnTo>
                  <a:pt x="0" y="29129"/>
                </a:lnTo>
                <a:cubicBezTo>
                  <a:pt x="0" y="13042"/>
                  <a:pt x="13042" y="0"/>
                  <a:pt x="29129" y="0"/>
                </a:cubicBezTo>
                <a:close/>
              </a:path>
            </a:pathLst>
          </a:custGeom>
          <a:solidFill>
            <a:srgbClr val="ffffff"/>
          </a:solidFill>
          <a:ln w="0">
            <a:noFill/>
          </a:ln>
          <a:effectLst>
            <a:outerShdw algn="bl" blurRad="48240" dir="5400000" dist="3204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02" name="Shape 16"/>
          <p:cNvSpPr/>
          <p:nvPr/>
        </p:nvSpPr>
        <p:spPr>
          <a:xfrm>
            <a:off x="6191280" y="1104120"/>
            <a:ext cx="5679000" cy="28800"/>
          </a:xfrm>
          <a:custGeom>
            <a:avLst/>
            <a:gdLst>
              <a:gd name="textAreaLeft" fmla="*/ 0 w 5679000"/>
              <a:gd name="textAreaRight" fmla="*/ 5679360 w 5679000"/>
              <a:gd name="textAreaTop" fmla="*/ 0 h 28800"/>
              <a:gd name="textAreaBottom" fmla="*/ 29160 h 28800"/>
            </a:gdLst>
            <a:ahLst/>
            <a:rect l="textAreaLeft" t="textAreaTop" r="textAreaRight" b="textAreaBottom"/>
            <a:pathLst>
              <a:path w="5679453" h="29129">
                <a:moveTo>
                  <a:pt x="29129" y="0"/>
                </a:moveTo>
                <a:lnTo>
                  <a:pt x="5650324" y="0"/>
                </a:lnTo>
                <a:cubicBezTo>
                  <a:pt x="5666412" y="0"/>
                  <a:pt x="5679453" y="13042"/>
                  <a:pt x="5679453" y="29129"/>
                </a:cubicBezTo>
                <a:lnTo>
                  <a:pt x="5679453" y="29129"/>
                </a:lnTo>
                <a:lnTo>
                  <a:pt x="0" y="29129"/>
                </a:lnTo>
                <a:lnTo>
                  <a:pt x="0" y="29129"/>
                </a:lnTo>
                <a:cubicBezTo>
                  <a:pt x="0" y="13042"/>
                  <a:pt x="13042" y="0"/>
                  <a:pt x="29129" y="0"/>
                </a:cubicBezTo>
                <a:close/>
              </a:path>
            </a:pathLst>
          </a:custGeom>
          <a:solidFill>
            <a:srgbClr val="88c0d0"/>
          </a:solidFill>
          <a:ln w="0">
            <a:noFill/>
          </a:ln>
        </p:spPr>
        <p:style>
          <a:lnRef idx="0"/>
          <a:fillRef idx="0"/>
          <a:effectRef idx="0"/>
          <a:fontRef idx="minor"/>
        </p:style>
        <p:txBody>
          <a:bodyPr lIns="90000" rIns="90000" tIns="-15840" bIns="-15840" anchor="t">
            <a:noAutofit/>
          </a:bodyPr>
          <a:p>
            <a:endParaRPr b="0" lang="it-IT" sz="1800" spc="-1" strike="noStrike">
              <a:solidFill>
                <a:srgbClr val="000000"/>
              </a:solidFill>
              <a:latin typeface="Arial"/>
            </a:endParaRPr>
          </a:p>
        </p:txBody>
      </p:sp>
      <p:sp>
        <p:nvSpPr>
          <p:cNvPr id="403" name="Shape 17"/>
          <p:cNvSpPr/>
          <p:nvPr/>
        </p:nvSpPr>
        <p:spPr>
          <a:xfrm>
            <a:off x="6191280" y="1118520"/>
            <a:ext cx="5679000" cy="704520"/>
          </a:xfrm>
          <a:custGeom>
            <a:avLst/>
            <a:gdLst>
              <a:gd name="textAreaLeft" fmla="*/ 0 w 5679000"/>
              <a:gd name="textAreaRight" fmla="*/ 5679360 w 5679000"/>
              <a:gd name="textAreaTop" fmla="*/ 0 h 704520"/>
              <a:gd name="textAreaBottom" fmla="*/ 704880 h 704520"/>
            </a:gdLst>
            <a:ahLst/>
            <a:rect l="textAreaLeft" t="textAreaTop" r="textAreaRight" b="textAreaBottom"/>
            <a:pathLst>
              <a:path w="5679453" h="704925">
                <a:moveTo>
                  <a:pt x="0" y="0"/>
                </a:moveTo>
                <a:lnTo>
                  <a:pt x="5679453" y="0"/>
                </a:lnTo>
                <a:lnTo>
                  <a:pt x="5679453" y="704925"/>
                </a:lnTo>
                <a:lnTo>
                  <a:pt x="0" y="704925"/>
                </a:lnTo>
                <a:lnTo>
                  <a:pt x="0" y="0"/>
                </a:ln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04" name="Shape 18"/>
          <p:cNvSpPr/>
          <p:nvPr/>
        </p:nvSpPr>
        <p:spPr>
          <a:xfrm>
            <a:off x="6351480" y="1246680"/>
            <a:ext cx="448200" cy="448200"/>
          </a:xfrm>
          <a:custGeom>
            <a:avLst/>
            <a:gdLst>
              <a:gd name="textAreaLeft" fmla="*/ 0 w 448200"/>
              <a:gd name="textAreaRight" fmla="*/ 448560 w 448200"/>
              <a:gd name="textAreaTop" fmla="*/ 0 h 448200"/>
              <a:gd name="textAreaBottom" fmla="*/ 448560 h 448200"/>
            </a:gdLst>
            <a:ahLst/>
            <a:rect l="textAreaLeft" t="textAreaTop" r="textAreaRight" b="textAreaBottom"/>
            <a:pathLst>
              <a:path w="448589" h="448589">
                <a:moveTo>
                  <a:pt x="224294" y="0"/>
                </a:moveTo>
                <a:lnTo>
                  <a:pt x="224294" y="0"/>
                </a:lnTo>
                <a:cubicBezTo>
                  <a:pt x="348086" y="0"/>
                  <a:pt x="448589" y="100503"/>
                  <a:pt x="448589" y="224294"/>
                </a:cubicBezTo>
                <a:lnTo>
                  <a:pt x="448589" y="224294"/>
                </a:lnTo>
                <a:cubicBezTo>
                  <a:pt x="448589" y="348086"/>
                  <a:pt x="348086" y="448589"/>
                  <a:pt x="224294" y="448589"/>
                </a:cubicBezTo>
                <a:lnTo>
                  <a:pt x="224294" y="448589"/>
                </a:lnTo>
                <a:cubicBezTo>
                  <a:pt x="100503" y="448589"/>
                  <a:pt x="0" y="348086"/>
                  <a:pt x="0" y="224294"/>
                </a:cubicBezTo>
                <a:lnTo>
                  <a:pt x="0" y="224294"/>
                </a:lnTo>
                <a:cubicBezTo>
                  <a:pt x="0" y="100503"/>
                  <a:pt x="100503" y="0"/>
                  <a:pt x="224294"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05" name="Shape 19"/>
          <p:cNvSpPr/>
          <p:nvPr/>
        </p:nvSpPr>
        <p:spPr>
          <a:xfrm>
            <a:off x="6457680" y="1350720"/>
            <a:ext cx="240120" cy="240120"/>
          </a:xfrm>
          <a:custGeom>
            <a:avLst/>
            <a:gdLst>
              <a:gd name="textAreaLeft" fmla="*/ 0 w 240120"/>
              <a:gd name="textAreaRight" fmla="*/ 240480 w 240120"/>
              <a:gd name="textAreaTop" fmla="*/ 0 h 240120"/>
              <a:gd name="textAreaBottom" fmla="*/ 240480 h 240120"/>
            </a:gdLst>
            <a:ahLst/>
            <a:rect l="textAreaLeft" t="textAreaTop" r="textAreaRight" b="textAreaBottom"/>
            <a:pathLst>
              <a:path w="240315" h="240315">
                <a:moveTo>
                  <a:pt x="120158" y="0"/>
                </a:moveTo>
                <a:cubicBezTo>
                  <a:pt x="127057" y="0"/>
                  <a:pt x="133394" y="3802"/>
                  <a:pt x="136679" y="9857"/>
                </a:cubicBezTo>
                <a:lnTo>
                  <a:pt x="238062" y="197603"/>
                </a:lnTo>
                <a:cubicBezTo>
                  <a:pt x="241207" y="203423"/>
                  <a:pt x="241066" y="210464"/>
                  <a:pt x="237687" y="216143"/>
                </a:cubicBezTo>
                <a:cubicBezTo>
                  <a:pt x="234307" y="221822"/>
                  <a:pt x="228159" y="225296"/>
                  <a:pt x="221541" y="225296"/>
                </a:cubicBezTo>
                <a:lnTo>
                  <a:pt x="18775" y="225296"/>
                </a:lnTo>
                <a:cubicBezTo>
                  <a:pt x="12157" y="225296"/>
                  <a:pt x="6055" y="221822"/>
                  <a:pt x="2628" y="216143"/>
                </a:cubicBezTo>
                <a:cubicBezTo>
                  <a:pt x="-798" y="210464"/>
                  <a:pt x="-892" y="203423"/>
                  <a:pt x="2253" y="197603"/>
                </a:cubicBezTo>
                <a:lnTo>
                  <a:pt x="103636" y="9857"/>
                </a:lnTo>
                <a:cubicBezTo>
                  <a:pt x="106922" y="3802"/>
                  <a:pt x="113258" y="0"/>
                  <a:pt x="120158" y="0"/>
                </a:cubicBezTo>
                <a:close/>
                <a:moveTo>
                  <a:pt x="120158" y="78853"/>
                </a:moveTo>
                <a:cubicBezTo>
                  <a:pt x="113915" y="78853"/>
                  <a:pt x="108893" y="83876"/>
                  <a:pt x="108893" y="90118"/>
                </a:cubicBezTo>
                <a:lnTo>
                  <a:pt x="108893" y="142687"/>
                </a:lnTo>
                <a:cubicBezTo>
                  <a:pt x="108893" y="148930"/>
                  <a:pt x="113915" y="153952"/>
                  <a:pt x="120158" y="153952"/>
                </a:cubicBezTo>
                <a:cubicBezTo>
                  <a:pt x="126400" y="153952"/>
                  <a:pt x="131422" y="148930"/>
                  <a:pt x="131422" y="142687"/>
                </a:cubicBezTo>
                <a:lnTo>
                  <a:pt x="131422" y="90118"/>
                </a:lnTo>
                <a:cubicBezTo>
                  <a:pt x="131422" y="83876"/>
                  <a:pt x="126400" y="78853"/>
                  <a:pt x="120158" y="78853"/>
                </a:cubicBezTo>
                <a:close/>
                <a:moveTo>
                  <a:pt x="132690" y="180237"/>
                </a:moveTo>
                <a:cubicBezTo>
                  <a:pt x="132975" y="175585"/>
                  <a:pt x="130655" y="171159"/>
                  <a:pt x="126667" y="168747"/>
                </a:cubicBezTo>
                <a:cubicBezTo>
                  <a:pt x="122680" y="166335"/>
                  <a:pt x="117683" y="166335"/>
                  <a:pt x="113695" y="168747"/>
                </a:cubicBezTo>
                <a:cubicBezTo>
                  <a:pt x="109707" y="171159"/>
                  <a:pt x="107387" y="175585"/>
                  <a:pt x="107673" y="180237"/>
                </a:cubicBezTo>
                <a:cubicBezTo>
                  <a:pt x="107387" y="184888"/>
                  <a:pt x="109707" y="189314"/>
                  <a:pt x="113695" y="191726"/>
                </a:cubicBezTo>
                <a:cubicBezTo>
                  <a:pt x="117683" y="194138"/>
                  <a:pt x="122680" y="194138"/>
                  <a:pt x="126667" y="191726"/>
                </a:cubicBezTo>
                <a:cubicBezTo>
                  <a:pt x="130655" y="189314"/>
                  <a:pt x="132975" y="184888"/>
                  <a:pt x="132690" y="180237"/>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06" name="Text 20"/>
          <p:cNvSpPr/>
          <p:nvPr/>
        </p:nvSpPr>
        <p:spPr>
          <a:xfrm>
            <a:off x="6928200" y="1326960"/>
            <a:ext cx="3151800" cy="2880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890" spc="-1" strike="noStrike">
                <a:solidFill>
                  <a:srgbClr val="ffffff"/>
                </a:solidFill>
                <a:latin typeface="Liter"/>
                <a:ea typeface="Liter"/>
              </a:rPr>
              <a:t>Limiti dell'Approccio</a:t>
            </a:r>
            <a:endParaRPr b="0" lang="it-IT" sz="1890" spc="-1" strike="noStrike">
              <a:solidFill>
                <a:srgbClr val="000000"/>
              </a:solidFill>
              <a:latin typeface="Arial"/>
            </a:endParaRPr>
          </a:p>
        </p:txBody>
      </p:sp>
      <p:sp>
        <p:nvSpPr>
          <p:cNvPr id="407" name="Shape 21"/>
          <p:cNvSpPr/>
          <p:nvPr/>
        </p:nvSpPr>
        <p:spPr>
          <a:xfrm>
            <a:off x="6365880" y="1951560"/>
            <a:ext cx="5341320" cy="832680"/>
          </a:xfrm>
          <a:custGeom>
            <a:avLst/>
            <a:gdLst>
              <a:gd name="textAreaLeft" fmla="*/ 0 w 5341320"/>
              <a:gd name="textAreaRight" fmla="*/ 5341680 w 5341320"/>
              <a:gd name="textAreaTop" fmla="*/ 0 h 832680"/>
              <a:gd name="textAreaBottom" fmla="*/ 833040 h 832680"/>
            </a:gdLst>
            <a:ahLst/>
            <a:rect l="textAreaLeft" t="textAreaTop" r="textAreaRight" b="textAreaBottom"/>
            <a:pathLst>
              <a:path w="5341555" h="833093">
                <a:moveTo>
                  <a:pt x="29129" y="0"/>
                </a:moveTo>
                <a:lnTo>
                  <a:pt x="5277474" y="0"/>
                </a:lnTo>
                <a:cubicBezTo>
                  <a:pt x="5312865" y="0"/>
                  <a:pt x="5341555" y="28690"/>
                  <a:pt x="5341555" y="64082"/>
                </a:cubicBezTo>
                <a:lnTo>
                  <a:pt x="5341555" y="769012"/>
                </a:lnTo>
                <a:cubicBezTo>
                  <a:pt x="5341555" y="804403"/>
                  <a:pt x="5312865" y="833093"/>
                  <a:pt x="5277474" y="833093"/>
                </a:cubicBezTo>
                <a:lnTo>
                  <a:pt x="29129" y="833093"/>
                </a:lnTo>
                <a:cubicBezTo>
                  <a:pt x="13042" y="833093"/>
                  <a:pt x="0" y="820052"/>
                  <a:pt x="0" y="803964"/>
                </a:cubicBezTo>
                <a:lnTo>
                  <a:pt x="0" y="29129"/>
                </a:lnTo>
                <a:cubicBezTo>
                  <a:pt x="0" y="13042"/>
                  <a:pt x="13042" y="0"/>
                  <a:pt x="29129"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08" name="Shape 22"/>
          <p:cNvSpPr/>
          <p:nvPr/>
        </p:nvSpPr>
        <p:spPr>
          <a:xfrm>
            <a:off x="6365880" y="1951560"/>
            <a:ext cx="28800" cy="832680"/>
          </a:xfrm>
          <a:custGeom>
            <a:avLst/>
            <a:gdLst>
              <a:gd name="textAreaLeft" fmla="*/ 0 w 28800"/>
              <a:gd name="textAreaRight" fmla="*/ 29160 w 28800"/>
              <a:gd name="textAreaTop" fmla="*/ 0 h 832680"/>
              <a:gd name="textAreaBottom" fmla="*/ 833040 h 832680"/>
            </a:gdLst>
            <a:ahLst/>
            <a:rect l="textAreaLeft" t="textAreaTop" r="textAreaRight" b="textAreaBottom"/>
            <a:pathLst>
              <a:path w="29129" h="833093">
                <a:moveTo>
                  <a:pt x="29129" y="0"/>
                </a:moveTo>
                <a:lnTo>
                  <a:pt x="29129" y="0"/>
                </a:lnTo>
                <a:lnTo>
                  <a:pt x="29129" y="833093"/>
                </a:lnTo>
                <a:lnTo>
                  <a:pt x="29129" y="833093"/>
                </a:lnTo>
                <a:cubicBezTo>
                  <a:pt x="13042" y="833093"/>
                  <a:pt x="0" y="820052"/>
                  <a:pt x="0" y="803964"/>
                </a:cubicBezTo>
                <a:lnTo>
                  <a:pt x="0" y="29129"/>
                </a:lnTo>
                <a:cubicBezTo>
                  <a:pt x="0" y="13042"/>
                  <a:pt x="13042" y="0"/>
                  <a:pt x="29129"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09" name="Text 23"/>
          <p:cNvSpPr/>
          <p:nvPr/>
        </p:nvSpPr>
        <p:spPr>
          <a:xfrm>
            <a:off x="6476760" y="2047680"/>
            <a:ext cx="5206320" cy="2239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Complessità O(N·M)</a:t>
            </a:r>
            <a:endParaRPr b="0" lang="it-IT" sz="1130" spc="-1" strike="noStrike">
              <a:solidFill>
                <a:srgbClr val="000000"/>
              </a:solidFill>
              <a:latin typeface="Arial"/>
            </a:endParaRPr>
          </a:p>
        </p:txBody>
      </p:sp>
      <p:sp>
        <p:nvSpPr>
          <p:cNvPr id="410" name="Text 24"/>
          <p:cNvSpPr/>
          <p:nvPr/>
        </p:nvSpPr>
        <p:spPr>
          <a:xfrm>
            <a:off x="6476760" y="2304000"/>
            <a:ext cx="5198400" cy="3841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2e3440"/>
                </a:solidFill>
                <a:latin typeface="Quattrocento Sans"/>
                <a:ea typeface="Quattrocento Sans"/>
              </a:rPr>
              <a:t>Può diventare proibitiva per pattern molto lunghi. Necessario esplorare algoritmi più avanzati.</a:t>
            </a:r>
            <a:endParaRPr b="0" lang="it-IT" sz="1010" spc="-1" strike="noStrike">
              <a:solidFill>
                <a:srgbClr val="000000"/>
              </a:solidFill>
              <a:latin typeface="Arial"/>
            </a:endParaRPr>
          </a:p>
        </p:txBody>
      </p:sp>
      <p:sp>
        <p:nvSpPr>
          <p:cNvPr id="411" name="Shape 25"/>
          <p:cNvSpPr/>
          <p:nvPr/>
        </p:nvSpPr>
        <p:spPr>
          <a:xfrm>
            <a:off x="6365880" y="2880720"/>
            <a:ext cx="5341320" cy="640440"/>
          </a:xfrm>
          <a:custGeom>
            <a:avLst/>
            <a:gdLst>
              <a:gd name="textAreaLeft" fmla="*/ 0 w 5341320"/>
              <a:gd name="textAreaRight" fmla="*/ 5341680 w 5341320"/>
              <a:gd name="textAreaTop" fmla="*/ 0 h 640440"/>
              <a:gd name="textAreaBottom" fmla="*/ 640800 h 640440"/>
            </a:gdLst>
            <a:ahLst/>
            <a:rect l="textAreaLeft" t="textAreaTop" r="textAreaRight" b="textAreaBottom"/>
            <a:pathLst>
              <a:path w="5341555" h="640841">
                <a:moveTo>
                  <a:pt x="29129" y="0"/>
                </a:moveTo>
                <a:lnTo>
                  <a:pt x="5277471" y="0"/>
                </a:lnTo>
                <a:cubicBezTo>
                  <a:pt x="5312864" y="0"/>
                  <a:pt x="5341555" y="28691"/>
                  <a:pt x="5341555" y="64084"/>
                </a:cubicBezTo>
                <a:lnTo>
                  <a:pt x="5341555" y="576757"/>
                </a:lnTo>
                <a:cubicBezTo>
                  <a:pt x="5341555" y="612150"/>
                  <a:pt x="5312864" y="640841"/>
                  <a:pt x="5277471" y="640841"/>
                </a:cubicBezTo>
                <a:lnTo>
                  <a:pt x="29129" y="640841"/>
                </a:lnTo>
                <a:cubicBezTo>
                  <a:pt x="13042" y="640841"/>
                  <a:pt x="0" y="627799"/>
                  <a:pt x="0" y="611712"/>
                </a:cubicBezTo>
                <a:lnTo>
                  <a:pt x="0" y="29129"/>
                </a:lnTo>
                <a:cubicBezTo>
                  <a:pt x="0" y="13042"/>
                  <a:pt x="13042" y="0"/>
                  <a:pt x="29129" y="0"/>
                </a:cubicBezTo>
                <a:close/>
              </a:path>
            </a:pathLst>
          </a:custGeom>
          <a:solidFill>
            <a:srgbClr val="5e81ac">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12" name="Shape 26"/>
          <p:cNvSpPr/>
          <p:nvPr/>
        </p:nvSpPr>
        <p:spPr>
          <a:xfrm>
            <a:off x="6365880" y="2880720"/>
            <a:ext cx="28800" cy="640440"/>
          </a:xfrm>
          <a:custGeom>
            <a:avLst/>
            <a:gdLst>
              <a:gd name="textAreaLeft" fmla="*/ 0 w 28800"/>
              <a:gd name="textAreaRight" fmla="*/ 29160 w 28800"/>
              <a:gd name="textAreaTop" fmla="*/ 0 h 640440"/>
              <a:gd name="textAreaBottom" fmla="*/ 640800 h 640440"/>
            </a:gdLst>
            <a:ahLst/>
            <a:rect l="textAreaLeft" t="textAreaTop" r="textAreaRight" b="textAreaBottom"/>
            <a:pathLst>
              <a:path w="29129" h="640841">
                <a:moveTo>
                  <a:pt x="29129" y="0"/>
                </a:moveTo>
                <a:lnTo>
                  <a:pt x="29129" y="0"/>
                </a:lnTo>
                <a:lnTo>
                  <a:pt x="29129" y="640841"/>
                </a:lnTo>
                <a:lnTo>
                  <a:pt x="29129" y="640841"/>
                </a:lnTo>
                <a:cubicBezTo>
                  <a:pt x="13042" y="640841"/>
                  <a:pt x="0" y="627799"/>
                  <a:pt x="0" y="611712"/>
                </a:cubicBezTo>
                <a:lnTo>
                  <a:pt x="0" y="29129"/>
                </a:lnTo>
                <a:cubicBezTo>
                  <a:pt x="0" y="13042"/>
                  <a:pt x="13042" y="0"/>
                  <a:pt x="29129"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13" name="Text 27"/>
          <p:cNvSpPr/>
          <p:nvPr/>
        </p:nvSpPr>
        <p:spPr>
          <a:xfrm>
            <a:off x="6476760" y="2976840"/>
            <a:ext cx="5206320" cy="2239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Sezione Critica</a:t>
            </a:r>
            <a:endParaRPr b="0" lang="it-IT" sz="1130" spc="-1" strike="noStrike">
              <a:solidFill>
                <a:srgbClr val="000000"/>
              </a:solidFill>
              <a:latin typeface="Arial"/>
            </a:endParaRPr>
          </a:p>
        </p:txBody>
      </p:sp>
      <p:sp>
        <p:nvSpPr>
          <p:cNvPr id="414" name="Text 28"/>
          <p:cNvSpPr/>
          <p:nvPr/>
        </p:nvSpPr>
        <p:spPr>
          <a:xfrm>
            <a:off x="6476760" y="3233160"/>
            <a:ext cx="5198400" cy="19188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2e3440"/>
                </a:solidFill>
                <a:latin typeface="Quattrocento Sans"/>
                <a:ea typeface="Quattrocento Sans"/>
              </a:rPr>
              <a:t>Introduce un overhead che contribuisce alla parte non parallelizzabile, anche se minimo.</a:t>
            </a:r>
            <a:endParaRPr b="0" lang="it-IT" sz="1010" spc="-1" strike="noStrike">
              <a:solidFill>
                <a:srgbClr val="000000"/>
              </a:solidFill>
              <a:latin typeface="Arial"/>
            </a:endParaRPr>
          </a:p>
        </p:txBody>
      </p:sp>
      <p:sp>
        <p:nvSpPr>
          <p:cNvPr id="415" name="Shape 29"/>
          <p:cNvSpPr/>
          <p:nvPr/>
        </p:nvSpPr>
        <p:spPr>
          <a:xfrm>
            <a:off x="6365880" y="3618000"/>
            <a:ext cx="5341320" cy="832680"/>
          </a:xfrm>
          <a:custGeom>
            <a:avLst/>
            <a:gdLst>
              <a:gd name="textAreaLeft" fmla="*/ 0 w 5341320"/>
              <a:gd name="textAreaRight" fmla="*/ 5341680 w 5341320"/>
              <a:gd name="textAreaTop" fmla="*/ 0 h 832680"/>
              <a:gd name="textAreaBottom" fmla="*/ 833040 h 832680"/>
            </a:gdLst>
            <a:ahLst/>
            <a:rect l="textAreaLeft" t="textAreaTop" r="textAreaRight" b="textAreaBottom"/>
            <a:pathLst>
              <a:path w="5341555" h="833093">
                <a:moveTo>
                  <a:pt x="29129" y="0"/>
                </a:moveTo>
                <a:lnTo>
                  <a:pt x="5277474" y="0"/>
                </a:lnTo>
                <a:cubicBezTo>
                  <a:pt x="5312865" y="0"/>
                  <a:pt x="5341555" y="28690"/>
                  <a:pt x="5341555" y="64082"/>
                </a:cubicBezTo>
                <a:lnTo>
                  <a:pt x="5341555" y="769012"/>
                </a:lnTo>
                <a:cubicBezTo>
                  <a:pt x="5341555" y="804403"/>
                  <a:pt x="5312865" y="833093"/>
                  <a:pt x="5277474" y="833093"/>
                </a:cubicBezTo>
                <a:lnTo>
                  <a:pt x="29129" y="833093"/>
                </a:lnTo>
                <a:cubicBezTo>
                  <a:pt x="13042" y="833093"/>
                  <a:pt x="0" y="820052"/>
                  <a:pt x="0" y="803964"/>
                </a:cubicBezTo>
                <a:lnTo>
                  <a:pt x="0" y="29129"/>
                </a:lnTo>
                <a:cubicBezTo>
                  <a:pt x="0" y="13042"/>
                  <a:pt x="13042" y="0"/>
                  <a:pt x="29129"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16" name="Shape 30"/>
          <p:cNvSpPr/>
          <p:nvPr/>
        </p:nvSpPr>
        <p:spPr>
          <a:xfrm>
            <a:off x="6365880" y="3618000"/>
            <a:ext cx="28800" cy="832680"/>
          </a:xfrm>
          <a:custGeom>
            <a:avLst/>
            <a:gdLst>
              <a:gd name="textAreaLeft" fmla="*/ 0 w 28800"/>
              <a:gd name="textAreaRight" fmla="*/ 29160 w 28800"/>
              <a:gd name="textAreaTop" fmla="*/ 0 h 832680"/>
              <a:gd name="textAreaBottom" fmla="*/ 833040 h 832680"/>
            </a:gdLst>
            <a:ahLst/>
            <a:rect l="textAreaLeft" t="textAreaTop" r="textAreaRight" b="textAreaBottom"/>
            <a:pathLst>
              <a:path w="29129" h="833093">
                <a:moveTo>
                  <a:pt x="29129" y="0"/>
                </a:moveTo>
                <a:lnTo>
                  <a:pt x="29129" y="0"/>
                </a:lnTo>
                <a:lnTo>
                  <a:pt x="29129" y="833093"/>
                </a:lnTo>
                <a:lnTo>
                  <a:pt x="29129" y="833093"/>
                </a:lnTo>
                <a:cubicBezTo>
                  <a:pt x="13042" y="833093"/>
                  <a:pt x="0" y="820052"/>
                  <a:pt x="0" y="803964"/>
                </a:cubicBezTo>
                <a:lnTo>
                  <a:pt x="0" y="29129"/>
                </a:lnTo>
                <a:cubicBezTo>
                  <a:pt x="0" y="13042"/>
                  <a:pt x="13042" y="0"/>
                  <a:pt x="29129"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17" name="Text 31"/>
          <p:cNvSpPr/>
          <p:nvPr/>
        </p:nvSpPr>
        <p:spPr>
          <a:xfrm>
            <a:off x="6476760" y="3714120"/>
            <a:ext cx="5206320" cy="22392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130" spc="-1" strike="noStrike">
                <a:solidFill>
                  <a:srgbClr val="2e3440"/>
                </a:solidFill>
                <a:latin typeface="Quattrocento Sans"/>
                <a:ea typeface="Quattrocento Sans"/>
              </a:rPr>
              <a:t>Ottimizzazione della Memoria</a:t>
            </a:r>
            <a:endParaRPr b="0" lang="it-IT" sz="1130" spc="-1" strike="noStrike">
              <a:solidFill>
                <a:srgbClr val="000000"/>
              </a:solidFill>
              <a:latin typeface="Arial"/>
            </a:endParaRPr>
          </a:p>
        </p:txBody>
      </p:sp>
      <p:sp>
        <p:nvSpPr>
          <p:cNvPr id="418" name="Text 32"/>
          <p:cNvSpPr/>
          <p:nvPr/>
        </p:nvSpPr>
        <p:spPr>
          <a:xfrm>
            <a:off x="6476760" y="3970440"/>
            <a:ext cx="5198400" cy="3841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2e3440"/>
                </a:solidFill>
                <a:latin typeface="Quattrocento Sans"/>
                <a:ea typeface="Quattrocento Sans"/>
              </a:rPr>
              <a:t>L'accesso ai dati potrebbe essere ottimizzato con tecniche di tiling o blocking per sfruttare meglio la cache.</a:t>
            </a:r>
            <a:endParaRPr b="0" lang="it-IT" sz="1010" spc="-1" strike="noStrike">
              <a:solidFill>
                <a:srgbClr val="000000"/>
              </a:solidFill>
              <a:latin typeface="Arial"/>
            </a:endParaRPr>
          </a:p>
        </p:txBody>
      </p:sp>
      <p:sp>
        <p:nvSpPr>
          <p:cNvPr id="419" name="Shape 33"/>
          <p:cNvSpPr/>
          <p:nvPr/>
        </p:nvSpPr>
        <p:spPr>
          <a:xfrm>
            <a:off x="320400" y="4870440"/>
            <a:ext cx="11550960" cy="1473480"/>
          </a:xfrm>
          <a:custGeom>
            <a:avLst/>
            <a:gdLst>
              <a:gd name="textAreaLeft" fmla="*/ 0 w 11550960"/>
              <a:gd name="textAreaRight" fmla="*/ 11551320 w 11550960"/>
              <a:gd name="textAreaTop" fmla="*/ 0 h 1473480"/>
              <a:gd name="textAreaBottom" fmla="*/ 1473840 h 1473480"/>
            </a:gdLst>
            <a:ahLst/>
            <a:rect l="textAreaLeft" t="textAreaTop" r="textAreaRight" b="textAreaBottom"/>
            <a:pathLst>
              <a:path w="11551159" h="1473934">
                <a:moveTo>
                  <a:pt x="64087" y="0"/>
                </a:moveTo>
                <a:lnTo>
                  <a:pt x="11487072" y="0"/>
                </a:lnTo>
                <a:cubicBezTo>
                  <a:pt x="11522466" y="0"/>
                  <a:pt x="11551159" y="28693"/>
                  <a:pt x="11551159" y="64087"/>
                </a:cubicBezTo>
                <a:lnTo>
                  <a:pt x="11551159" y="1409848"/>
                </a:lnTo>
                <a:cubicBezTo>
                  <a:pt x="11551159" y="1445242"/>
                  <a:pt x="11522466" y="1473934"/>
                  <a:pt x="11487072" y="1473934"/>
                </a:cubicBezTo>
                <a:lnTo>
                  <a:pt x="64087" y="1473934"/>
                </a:lnTo>
                <a:cubicBezTo>
                  <a:pt x="28693" y="1473934"/>
                  <a:pt x="0" y="1445242"/>
                  <a:pt x="0" y="1409848"/>
                </a:cubicBezTo>
                <a:lnTo>
                  <a:pt x="0" y="64087"/>
                </a:lnTo>
                <a:cubicBezTo>
                  <a:pt x="0" y="28716"/>
                  <a:pt x="28716" y="0"/>
                  <a:pt x="64087" y="0"/>
                </a:cubicBezTo>
                <a:close/>
              </a:path>
            </a:pathLst>
          </a:custGeom>
          <a:gradFill rotWithShape="0">
            <a:gsLst>
              <a:gs pos="0">
                <a:srgbClr val="2e3440"/>
              </a:gs>
              <a:gs pos="100000">
                <a:srgbClr val="5e81ac"/>
              </a:gs>
            </a:gsLst>
            <a:lin ang="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20" name="Text 34"/>
          <p:cNvSpPr/>
          <p:nvPr/>
        </p:nvSpPr>
        <p:spPr>
          <a:xfrm>
            <a:off x="480600" y="5030640"/>
            <a:ext cx="11326680" cy="2559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510" spc="-1" strike="noStrike">
                <a:solidFill>
                  <a:srgbClr val="ffffff"/>
                </a:solidFill>
                <a:latin typeface="Liter"/>
                <a:ea typeface="Liter"/>
              </a:rPr>
              <a:t>Raccomandazioni per il Futuro</a:t>
            </a:r>
            <a:endParaRPr b="0" lang="it-IT" sz="1510" spc="-1" strike="noStrike">
              <a:solidFill>
                <a:srgbClr val="000000"/>
              </a:solidFill>
              <a:latin typeface="Arial"/>
            </a:endParaRPr>
          </a:p>
        </p:txBody>
      </p:sp>
      <p:sp>
        <p:nvSpPr>
          <p:cNvPr id="421" name="Shape 35"/>
          <p:cNvSpPr/>
          <p:nvPr/>
        </p:nvSpPr>
        <p:spPr>
          <a:xfrm>
            <a:off x="480600" y="5383080"/>
            <a:ext cx="3660480" cy="800640"/>
          </a:xfrm>
          <a:custGeom>
            <a:avLst/>
            <a:gdLst>
              <a:gd name="textAreaLeft" fmla="*/ 0 w 3660480"/>
              <a:gd name="textAreaRight" fmla="*/ 3660840 w 3660480"/>
              <a:gd name="textAreaTop" fmla="*/ 0 h 800640"/>
              <a:gd name="textAreaBottom" fmla="*/ 801000 h 800640"/>
            </a:gdLst>
            <a:ahLst/>
            <a:rect l="textAreaLeft" t="textAreaTop" r="textAreaRight" b="textAreaBottom"/>
            <a:pathLst>
              <a:path w="3660804" h="801051">
                <a:moveTo>
                  <a:pt x="64084" y="0"/>
                </a:moveTo>
                <a:lnTo>
                  <a:pt x="3596720" y="0"/>
                </a:lnTo>
                <a:cubicBezTo>
                  <a:pt x="3632113" y="0"/>
                  <a:pt x="3660804" y="28691"/>
                  <a:pt x="3660804" y="64084"/>
                </a:cubicBezTo>
                <a:lnTo>
                  <a:pt x="3660804" y="736967"/>
                </a:lnTo>
                <a:cubicBezTo>
                  <a:pt x="3660804" y="772360"/>
                  <a:pt x="3632113" y="801051"/>
                  <a:pt x="3596720" y="801051"/>
                </a:cubicBezTo>
                <a:lnTo>
                  <a:pt x="64084" y="801051"/>
                </a:lnTo>
                <a:cubicBezTo>
                  <a:pt x="28691" y="801051"/>
                  <a:pt x="0" y="772360"/>
                  <a:pt x="0" y="736967"/>
                </a:cubicBezTo>
                <a:lnTo>
                  <a:pt x="0" y="64084"/>
                </a:lnTo>
                <a:cubicBezTo>
                  <a:pt x="0" y="28715"/>
                  <a:pt x="28715" y="0"/>
                  <a:pt x="64084"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22" name="Text 36"/>
          <p:cNvSpPr/>
          <p:nvPr/>
        </p:nvSpPr>
        <p:spPr>
          <a:xfrm>
            <a:off x="576720" y="5479200"/>
            <a:ext cx="3532320" cy="19188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010" spc="-1" strike="noStrike">
                <a:solidFill>
                  <a:srgbClr val="ffffff"/>
                </a:solidFill>
                <a:latin typeface="Quattrocento Sans"/>
                <a:ea typeface="Quattrocento Sans"/>
              </a:rPr>
              <a:t>Gestione Dinamica Thread</a:t>
            </a:r>
            <a:endParaRPr b="0" lang="it-IT" sz="1010" spc="-1" strike="noStrike">
              <a:solidFill>
                <a:srgbClr val="000000"/>
              </a:solidFill>
              <a:latin typeface="Arial"/>
            </a:endParaRPr>
          </a:p>
        </p:txBody>
      </p:sp>
      <p:sp>
        <p:nvSpPr>
          <p:cNvPr id="423" name="Text 37"/>
          <p:cNvSpPr/>
          <p:nvPr/>
        </p:nvSpPr>
        <p:spPr>
          <a:xfrm>
            <a:off x="576720" y="5703480"/>
            <a:ext cx="3532320" cy="3841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ffffff"/>
                </a:solidFill>
                <a:latin typeface="Quattrocento Sans"/>
                <a:ea typeface="Quattrocento Sans"/>
              </a:rPr>
              <a:t>Interrogare a runtime il numero di core logici per evitare sprechi.</a:t>
            </a:r>
            <a:endParaRPr b="0" lang="it-IT" sz="1010" spc="-1" strike="noStrike">
              <a:solidFill>
                <a:srgbClr val="000000"/>
              </a:solidFill>
              <a:latin typeface="Arial"/>
            </a:endParaRPr>
          </a:p>
        </p:txBody>
      </p:sp>
      <p:sp>
        <p:nvSpPr>
          <p:cNvPr id="424" name="Shape 38"/>
          <p:cNvSpPr/>
          <p:nvPr/>
        </p:nvSpPr>
        <p:spPr>
          <a:xfrm>
            <a:off x="4266360" y="5383080"/>
            <a:ext cx="3660480" cy="800640"/>
          </a:xfrm>
          <a:custGeom>
            <a:avLst/>
            <a:gdLst>
              <a:gd name="textAreaLeft" fmla="*/ 0 w 3660480"/>
              <a:gd name="textAreaRight" fmla="*/ 3660840 w 3660480"/>
              <a:gd name="textAreaTop" fmla="*/ 0 h 800640"/>
              <a:gd name="textAreaBottom" fmla="*/ 801000 h 800640"/>
            </a:gdLst>
            <a:ahLst/>
            <a:rect l="textAreaLeft" t="textAreaTop" r="textAreaRight" b="textAreaBottom"/>
            <a:pathLst>
              <a:path w="3660804" h="801051">
                <a:moveTo>
                  <a:pt x="64084" y="0"/>
                </a:moveTo>
                <a:lnTo>
                  <a:pt x="3596720" y="0"/>
                </a:lnTo>
                <a:cubicBezTo>
                  <a:pt x="3632113" y="0"/>
                  <a:pt x="3660804" y="28691"/>
                  <a:pt x="3660804" y="64084"/>
                </a:cubicBezTo>
                <a:lnTo>
                  <a:pt x="3660804" y="736967"/>
                </a:lnTo>
                <a:cubicBezTo>
                  <a:pt x="3660804" y="772360"/>
                  <a:pt x="3632113" y="801051"/>
                  <a:pt x="3596720" y="801051"/>
                </a:cubicBezTo>
                <a:lnTo>
                  <a:pt x="64084" y="801051"/>
                </a:lnTo>
                <a:cubicBezTo>
                  <a:pt x="28691" y="801051"/>
                  <a:pt x="0" y="772360"/>
                  <a:pt x="0" y="736967"/>
                </a:cubicBezTo>
                <a:lnTo>
                  <a:pt x="0" y="64084"/>
                </a:lnTo>
                <a:cubicBezTo>
                  <a:pt x="0" y="28715"/>
                  <a:pt x="28715" y="0"/>
                  <a:pt x="64084"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25" name="Text 39"/>
          <p:cNvSpPr/>
          <p:nvPr/>
        </p:nvSpPr>
        <p:spPr>
          <a:xfrm>
            <a:off x="4362480" y="5479200"/>
            <a:ext cx="3532320" cy="19188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010" spc="-1" strike="noStrike">
                <a:solidFill>
                  <a:srgbClr val="ffffff"/>
                </a:solidFill>
                <a:latin typeface="Quattrocento Sans"/>
                <a:ea typeface="Quattrocento Sans"/>
              </a:rPr>
              <a:t>Pattern Matching Avanzato</a:t>
            </a:r>
            <a:endParaRPr b="0" lang="it-IT" sz="1010" spc="-1" strike="noStrike">
              <a:solidFill>
                <a:srgbClr val="000000"/>
              </a:solidFill>
              <a:latin typeface="Arial"/>
            </a:endParaRPr>
          </a:p>
        </p:txBody>
      </p:sp>
      <p:sp>
        <p:nvSpPr>
          <p:cNvPr id="426" name="Text 40"/>
          <p:cNvSpPr/>
          <p:nvPr/>
        </p:nvSpPr>
        <p:spPr>
          <a:xfrm>
            <a:off x="4362480" y="5703480"/>
            <a:ext cx="3532320" cy="19188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ffffff"/>
                </a:solidFill>
                <a:latin typeface="Quattrocento Sans"/>
                <a:ea typeface="Quattrocento Sans"/>
              </a:rPr>
              <a:t>Esplorare algoritmi più efficienti per pattern molto lunghi.</a:t>
            </a:r>
            <a:endParaRPr b="0" lang="it-IT" sz="1010" spc="-1" strike="noStrike">
              <a:solidFill>
                <a:srgbClr val="000000"/>
              </a:solidFill>
              <a:latin typeface="Arial"/>
            </a:endParaRPr>
          </a:p>
        </p:txBody>
      </p:sp>
      <p:sp>
        <p:nvSpPr>
          <p:cNvPr id="427" name="Shape 41"/>
          <p:cNvSpPr/>
          <p:nvPr/>
        </p:nvSpPr>
        <p:spPr>
          <a:xfrm>
            <a:off x="8052120" y="5383080"/>
            <a:ext cx="3660480" cy="800640"/>
          </a:xfrm>
          <a:custGeom>
            <a:avLst/>
            <a:gdLst>
              <a:gd name="textAreaLeft" fmla="*/ 0 w 3660480"/>
              <a:gd name="textAreaRight" fmla="*/ 3660840 w 3660480"/>
              <a:gd name="textAreaTop" fmla="*/ 0 h 800640"/>
              <a:gd name="textAreaBottom" fmla="*/ 801000 h 800640"/>
            </a:gdLst>
            <a:ahLst/>
            <a:rect l="textAreaLeft" t="textAreaTop" r="textAreaRight" b="textAreaBottom"/>
            <a:pathLst>
              <a:path w="3660804" h="801051">
                <a:moveTo>
                  <a:pt x="64084" y="0"/>
                </a:moveTo>
                <a:lnTo>
                  <a:pt x="3596720" y="0"/>
                </a:lnTo>
                <a:cubicBezTo>
                  <a:pt x="3632113" y="0"/>
                  <a:pt x="3660804" y="28691"/>
                  <a:pt x="3660804" y="64084"/>
                </a:cubicBezTo>
                <a:lnTo>
                  <a:pt x="3660804" y="736967"/>
                </a:lnTo>
                <a:cubicBezTo>
                  <a:pt x="3660804" y="772360"/>
                  <a:pt x="3632113" y="801051"/>
                  <a:pt x="3596720" y="801051"/>
                </a:cubicBezTo>
                <a:lnTo>
                  <a:pt x="64084" y="801051"/>
                </a:lnTo>
                <a:cubicBezTo>
                  <a:pt x="28691" y="801051"/>
                  <a:pt x="0" y="772360"/>
                  <a:pt x="0" y="736967"/>
                </a:cubicBezTo>
                <a:lnTo>
                  <a:pt x="0" y="64084"/>
                </a:lnTo>
                <a:cubicBezTo>
                  <a:pt x="0" y="28715"/>
                  <a:pt x="28715" y="0"/>
                  <a:pt x="64084" y="0"/>
                </a:cubicBezTo>
                <a:close/>
              </a:path>
            </a:pathLst>
          </a:custGeom>
          <a:solidFill>
            <a:srgbClr val="ffffff">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28" name="Text 42"/>
          <p:cNvSpPr/>
          <p:nvPr/>
        </p:nvSpPr>
        <p:spPr>
          <a:xfrm>
            <a:off x="8148240" y="5479200"/>
            <a:ext cx="3532320" cy="19188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010" spc="-1" strike="noStrike">
                <a:solidFill>
                  <a:srgbClr val="ffffff"/>
                </a:solidFill>
                <a:latin typeface="Quattrocento Sans"/>
                <a:ea typeface="Quattrocento Sans"/>
              </a:rPr>
              <a:t>GPU Computing</a:t>
            </a:r>
            <a:endParaRPr b="0" lang="it-IT" sz="1010" spc="-1" strike="noStrike">
              <a:solidFill>
                <a:srgbClr val="000000"/>
              </a:solidFill>
              <a:latin typeface="Arial"/>
            </a:endParaRPr>
          </a:p>
        </p:txBody>
      </p:sp>
      <p:sp>
        <p:nvSpPr>
          <p:cNvPr id="429" name="Text 43"/>
          <p:cNvSpPr/>
          <p:nvPr/>
        </p:nvSpPr>
        <p:spPr>
          <a:xfrm>
            <a:off x="8148240" y="5703480"/>
            <a:ext cx="3532320" cy="38412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010" spc="-1" strike="noStrike">
                <a:solidFill>
                  <a:srgbClr val="ffffff"/>
                </a:solidFill>
                <a:latin typeface="Quattrocento Sans"/>
                <a:ea typeface="Quattrocento Sans"/>
              </a:rPr>
              <a:t>Valutare l'offloading su GPU per dataset di grandissime dimensioni.</a:t>
            </a:r>
            <a:endParaRPr b="0" lang="it-IT" sz="1010" spc="-1" strike="noStrike">
              <a:solidFill>
                <a:srgbClr val="000000"/>
              </a:solidFill>
              <a:latin typeface="Arial"/>
            </a:endParaRPr>
          </a:p>
        </p:txBody>
      </p:sp>
    </p:spTree>
  </p:cSld>
  <p:transition>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430" name="Text 0"/>
          <p:cNvSpPr/>
          <p:nvPr/>
        </p:nvSpPr>
        <p:spPr>
          <a:xfrm>
            <a:off x="380880" y="380880"/>
            <a:ext cx="1150596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17" strike="noStrike">
                <a:solidFill>
                  <a:srgbClr val="5e81ac"/>
                </a:solidFill>
                <a:latin typeface="Quattrocento Sans"/>
                <a:ea typeface="Quattrocento Sans"/>
              </a:rPr>
              <a:t>Sintesi</a:t>
            </a:r>
            <a:endParaRPr b="0" lang="it-IT" sz="1200" spc="-1" strike="noStrike">
              <a:solidFill>
                <a:srgbClr val="000000"/>
              </a:solidFill>
              <a:latin typeface="Arial"/>
            </a:endParaRPr>
          </a:p>
        </p:txBody>
      </p:sp>
      <p:sp>
        <p:nvSpPr>
          <p:cNvPr id="431" name="Text 1"/>
          <p:cNvSpPr/>
          <p:nvPr/>
        </p:nvSpPr>
        <p:spPr>
          <a:xfrm>
            <a:off x="380880" y="68580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pPr>
            <a:r>
              <a:rPr b="1" lang="en-US" sz="3600" spc="-1" strike="noStrike">
                <a:solidFill>
                  <a:srgbClr val="2e3440"/>
                </a:solidFill>
                <a:latin typeface="Liter"/>
                <a:ea typeface="Liter"/>
              </a:rPr>
              <a:t>Conclusioni</a:t>
            </a:r>
            <a:endParaRPr b="0" lang="it-IT" sz="3600" spc="-1" strike="noStrike">
              <a:solidFill>
                <a:srgbClr val="000000"/>
              </a:solidFill>
              <a:latin typeface="Arial"/>
            </a:endParaRPr>
          </a:p>
        </p:txBody>
      </p:sp>
      <p:sp>
        <p:nvSpPr>
          <p:cNvPr id="432" name="Shape 2"/>
          <p:cNvSpPr/>
          <p:nvPr/>
        </p:nvSpPr>
        <p:spPr>
          <a:xfrm>
            <a:off x="380880" y="1295280"/>
            <a:ext cx="6781320" cy="1790280"/>
          </a:xfrm>
          <a:custGeom>
            <a:avLst/>
            <a:gdLst>
              <a:gd name="textAreaLeft" fmla="*/ 0 w 6781320"/>
              <a:gd name="textAreaRight" fmla="*/ 6781680 w 6781320"/>
              <a:gd name="textAreaTop" fmla="*/ 0 h 1790280"/>
              <a:gd name="textAreaBottom" fmla="*/ 1790640 h 1790280"/>
            </a:gdLst>
            <a:ahLst/>
            <a:rect l="textAreaLeft" t="textAreaTop" r="textAreaRight" b="textAreaBottom"/>
            <a:pathLst>
              <a:path w="6781800" h="1790700">
                <a:moveTo>
                  <a:pt x="76194" y="0"/>
                </a:moveTo>
                <a:lnTo>
                  <a:pt x="6705606" y="0"/>
                </a:lnTo>
                <a:cubicBezTo>
                  <a:pt x="6747658" y="0"/>
                  <a:pt x="6781800" y="34142"/>
                  <a:pt x="6781800" y="76194"/>
                </a:cubicBezTo>
                <a:lnTo>
                  <a:pt x="6781800" y="1714506"/>
                </a:lnTo>
                <a:cubicBezTo>
                  <a:pt x="6781800" y="1756587"/>
                  <a:pt x="6747687" y="1790700"/>
                  <a:pt x="6705606" y="1790700"/>
                </a:cubicBezTo>
                <a:lnTo>
                  <a:pt x="76194" y="1790700"/>
                </a:lnTo>
                <a:cubicBezTo>
                  <a:pt x="34142" y="1790700"/>
                  <a:pt x="0" y="1756558"/>
                  <a:pt x="0" y="1714506"/>
                </a:cubicBezTo>
                <a:lnTo>
                  <a:pt x="0" y="76194"/>
                </a:lnTo>
                <a:cubicBezTo>
                  <a:pt x="0" y="34142"/>
                  <a:pt x="34142" y="0"/>
                  <a:pt x="76194" y="0"/>
                </a:cubicBezTo>
                <a:close/>
              </a:path>
            </a:pathLst>
          </a:custGeom>
          <a:gradFill rotWithShape="0">
            <a:gsLst>
              <a:gs pos="0">
                <a:srgbClr val="2e3440"/>
              </a:gs>
              <a:gs pos="100000">
                <a:srgbClr val="5e81ac"/>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33" name="Shape 3"/>
          <p:cNvSpPr/>
          <p:nvPr/>
        </p:nvSpPr>
        <p:spPr>
          <a:xfrm>
            <a:off x="609480" y="1523880"/>
            <a:ext cx="609120" cy="609120"/>
          </a:xfrm>
          <a:custGeom>
            <a:avLst/>
            <a:gdLst>
              <a:gd name="textAreaLeft" fmla="*/ 0 w 609120"/>
              <a:gd name="textAreaRight" fmla="*/ 609480 w 609120"/>
              <a:gd name="textAreaTop" fmla="*/ 0 h 609120"/>
              <a:gd name="textAreaBottom" fmla="*/ 609480 h 609120"/>
            </a:gdLst>
            <a:ahLst/>
            <a:rect l="textAreaLeft" t="textAreaTop" r="textAreaRight" b="textAreaBottom"/>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ffffff">
              <a:alpha val="2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34" name="Shape 4"/>
          <p:cNvSpPr/>
          <p:nvPr/>
        </p:nvSpPr>
        <p:spPr>
          <a:xfrm>
            <a:off x="774000" y="1685880"/>
            <a:ext cx="285480" cy="285480"/>
          </a:xfrm>
          <a:custGeom>
            <a:avLst/>
            <a:gdLst>
              <a:gd name="textAreaLeft" fmla="*/ 0 w 285480"/>
              <a:gd name="textAreaRight" fmla="*/ 285840 w 285480"/>
              <a:gd name="textAreaTop" fmla="*/ 0 h 285480"/>
              <a:gd name="textAreaBottom" fmla="*/ 285840 h 285480"/>
            </a:gdLst>
            <a:ahLst/>
            <a:rect l="textAreaLeft" t="textAreaTop" r="textAreaRight" b="textAreaBottom"/>
            <a:pathLst>
              <a:path w="285750" h="285750">
                <a:moveTo>
                  <a:pt x="80535" y="0"/>
                </a:moveTo>
                <a:lnTo>
                  <a:pt x="205550" y="0"/>
                </a:lnTo>
                <a:cubicBezTo>
                  <a:pt x="220340" y="0"/>
                  <a:pt x="232395" y="12167"/>
                  <a:pt x="231837" y="26901"/>
                </a:cubicBezTo>
                <a:cubicBezTo>
                  <a:pt x="231725" y="29859"/>
                  <a:pt x="231614" y="32817"/>
                  <a:pt x="231446" y="35719"/>
                </a:cubicBezTo>
                <a:lnTo>
                  <a:pt x="259128" y="35719"/>
                </a:lnTo>
                <a:cubicBezTo>
                  <a:pt x="273695" y="35719"/>
                  <a:pt x="286531" y="47774"/>
                  <a:pt x="285415" y="63512"/>
                </a:cubicBezTo>
                <a:cubicBezTo>
                  <a:pt x="281229" y="121388"/>
                  <a:pt x="251650" y="153200"/>
                  <a:pt x="219559" y="169831"/>
                </a:cubicBezTo>
                <a:cubicBezTo>
                  <a:pt x="210741" y="174408"/>
                  <a:pt x="201755" y="177812"/>
                  <a:pt x="193216" y="180324"/>
                </a:cubicBezTo>
                <a:cubicBezTo>
                  <a:pt x="181942" y="196286"/>
                  <a:pt x="170222" y="204713"/>
                  <a:pt x="160902" y="209234"/>
                </a:cubicBezTo>
                <a:lnTo>
                  <a:pt x="160902" y="250031"/>
                </a:lnTo>
                <a:lnTo>
                  <a:pt x="196621" y="250031"/>
                </a:lnTo>
                <a:cubicBezTo>
                  <a:pt x="206499" y="250031"/>
                  <a:pt x="214480" y="258012"/>
                  <a:pt x="214480" y="267891"/>
                </a:cubicBezTo>
                <a:cubicBezTo>
                  <a:pt x="214480" y="277769"/>
                  <a:pt x="206499" y="285750"/>
                  <a:pt x="196621" y="285750"/>
                </a:cubicBezTo>
                <a:lnTo>
                  <a:pt x="89464" y="285750"/>
                </a:lnTo>
                <a:cubicBezTo>
                  <a:pt x="79586" y="285750"/>
                  <a:pt x="71605" y="277769"/>
                  <a:pt x="71605" y="267891"/>
                </a:cubicBezTo>
                <a:cubicBezTo>
                  <a:pt x="71605" y="258012"/>
                  <a:pt x="79586" y="250031"/>
                  <a:pt x="89464" y="250031"/>
                </a:cubicBezTo>
                <a:lnTo>
                  <a:pt x="125183" y="250031"/>
                </a:lnTo>
                <a:lnTo>
                  <a:pt x="125183" y="209234"/>
                </a:lnTo>
                <a:cubicBezTo>
                  <a:pt x="116253" y="204936"/>
                  <a:pt x="105147" y="196955"/>
                  <a:pt x="94320" y="182277"/>
                </a:cubicBezTo>
                <a:cubicBezTo>
                  <a:pt x="84051" y="179598"/>
                  <a:pt x="72889" y="175524"/>
                  <a:pt x="62006" y="169385"/>
                </a:cubicBezTo>
                <a:cubicBezTo>
                  <a:pt x="31812" y="152474"/>
                  <a:pt x="4576" y="120607"/>
                  <a:pt x="670" y="63401"/>
                </a:cubicBezTo>
                <a:cubicBezTo>
                  <a:pt x="-391" y="47718"/>
                  <a:pt x="12390" y="35663"/>
                  <a:pt x="26956" y="35663"/>
                </a:cubicBezTo>
                <a:lnTo>
                  <a:pt x="54639" y="35663"/>
                </a:lnTo>
                <a:cubicBezTo>
                  <a:pt x="54471" y="32761"/>
                  <a:pt x="54359" y="29859"/>
                  <a:pt x="54248" y="26845"/>
                </a:cubicBezTo>
                <a:cubicBezTo>
                  <a:pt x="53690" y="12055"/>
                  <a:pt x="65745" y="-56"/>
                  <a:pt x="80535" y="-56"/>
                </a:cubicBezTo>
                <a:close/>
                <a:moveTo>
                  <a:pt x="56648" y="62508"/>
                </a:moveTo>
                <a:lnTo>
                  <a:pt x="27403" y="62508"/>
                </a:lnTo>
                <a:cubicBezTo>
                  <a:pt x="30863" y="109779"/>
                  <a:pt x="52574" y="133443"/>
                  <a:pt x="74954" y="146000"/>
                </a:cubicBezTo>
                <a:cubicBezTo>
                  <a:pt x="66917" y="125183"/>
                  <a:pt x="60275" y="98003"/>
                  <a:pt x="56648" y="62508"/>
                </a:cubicBezTo>
                <a:close/>
                <a:moveTo>
                  <a:pt x="212080" y="143321"/>
                </a:moveTo>
                <a:cubicBezTo>
                  <a:pt x="234683" y="130039"/>
                  <a:pt x="255110" y="106431"/>
                  <a:pt x="258570" y="62508"/>
                </a:cubicBezTo>
                <a:lnTo>
                  <a:pt x="229381" y="62508"/>
                </a:lnTo>
                <a:cubicBezTo>
                  <a:pt x="225921" y="96496"/>
                  <a:pt x="219670" y="122895"/>
                  <a:pt x="212080" y="143321"/>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35" name="Text 5"/>
          <p:cNvSpPr/>
          <p:nvPr/>
        </p:nvSpPr>
        <p:spPr>
          <a:xfrm>
            <a:off x="1371600" y="1523880"/>
            <a:ext cx="5400360" cy="3427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50" spc="-1" strike="noStrike">
                <a:solidFill>
                  <a:srgbClr val="ffffff"/>
                </a:solidFill>
                <a:latin typeface="Liter"/>
                <a:ea typeface="Liter"/>
              </a:rPr>
              <a:t>Risultato Principale</a:t>
            </a:r>
            <a:endParaRPr b="0" lang="it-IT" sz="2250" spc="-1" strike="noStrike">
              <a:solidFill>
                <a:srgbClr val="000000"/>
              </a:solidFill>
              <a:latin typeface="Arial"/>
            </a:endParaRPr>
          </a:p>
        </p:txBody>
      </p:sp>
      <p:sp>
        <p:nvSpPr>
          <p:cNvPr id="436" name="Text 6"/>
          <p:cNvSpPr/>
          <p:nvPr/>
        </p:nvSpPr>
        <p:spPr>
          <a:xfrm>
            <a:off x="1371600" y="1943280"/>
            <a:ext cx="5352840" cy="266400"/>
          </a:xfrm>
          <a:prstGeom prst="rect">
            <a:avLst/>
          </a:prstGeom>
          <a:noFill/>
          <a:ln w="0">
            <a:noFill/>
          </a:ln>
        </p:spPr>
        <p:style>
          <a:lnRef idx="0"/>
          <a:fillRef idx="0"/>
          <a:effectRef idx="0"/>
          <a:fontRef idx="minor"/>
        </p:style>
        <p:txBody>
          <a:bodyPr lIns="0" rIns="0" tIns="0" bIns="0" anchor="ctr">
            <a:noAutofit/>
          </a:bodyPr>
          <a:p>
            <a:pPr>
              <a:lnSpc>
                <a:spcPct val="120000"/>
              </a:lnSpc>
            </a:pPr>
            <a:r>
              <a:rPr b="0" lang="en-US" sz="1500" spc="-1" strike="noStrike">
                <a:solidFill>
                  <a:srgbClr val="ffffff"/>
                </a:solidFill>
                <a:latin typeface="Quattrocento Sans"/>
                <a:ea typeface="Quattrocento Sans"/>
              </a:rPr>
              <a:t>Riduzione tempo da </a:t>
            </a:r>
            <a:r>
              <a:rPr b="1" lang="en-US" sz="1500" spc="-1" strike="noStrike">
                <a:solidFill>
                  <a:srgbClr val="ffffff"/>
                </a:solidFill>
                <a:latin typeface="Quattrocento Sans"/>
                <a:ea typeface="Quattrocento Sans"/>
              </a:rPr>
              <a:t>8s a 1.27s</a:t>
            </a:r>
            <a:r>
              <a:rPr b="0" lang="en-US" sz="1500" spc="-1" strike="noStrike">
                <a:solidFill>
                  <a:srgbClr val="ffffff"/>
                </a:solidFill>
                <a:latin typeface="Quattrocento Sans"/>
                <a:ea typeface="Quattrocento Sans"/>
              </a:rPr>
              <a:t> con miglioramento di </a:t>
            </a:r>
            <a:r>
              <a:rPr b="1" lang="en-US" sz="1500" spc="-1" strike="noStrike">
                <a:solidFill>
                  <a:srgbClr val="ffffff"/>
                </a:solidFill>
                <a:latin typeface="Quattrocento Sans"/>
                <a:ea typeface="Quattrocento Sans"/>
              </a:rPr>
              <a:t>oltre 6 volte</a:t>
            </a:r>
            <a:endParaRPr b="0" lang="it-IT" sz="1500" spc="-1" strike="noStrike">
              <a:solidFill>
                <a:srgbClr val="000000"/>
              </a:solidFill>
              <a:latin typeface="Arial"/>
            </a:endParaRPr>
          </a:p>
        </p:txBody>
      </p:sp>
      <p:sp>
        <p:nvSpPr>
          <p:cNvPr id="437" name="Text 7"/>
          <p:cNvSpPr/>
          <p:nvPr/>
        </p:nvSpPr>
        <p:spPr>
          <a:xfrm>
            <a:off x="609480" y="2362320"/>
            <a:ext cx="6400440" cy="495000"/>
          </a:xfrm>
          <a:prstGeom prst="rect">
            <a:avLst/>
          </a:prstGeom>
          <a:noFill/>
          <a:ln w="0">
            <a:noFill/>
          </a:ln>
        </p:spPr>
        <p:style>
          <a:lnRef idx="0"/>
          <a:fillRef idx="0"/>
          <a:effectRef idx="0"/>
          <a:fontRef idx="minor"/>
        </p:style>
        <p:txBody>
          <a:bodyPr lIns="0" rIns="0" tIns="0" bIns="0" anchor="ctr">
            <a:noAutofit/>
          </a:bodyPr>
          <a:p>
            <a:pPr>
              <a:lnSpc>
                <a:spcPct val="140000"/>
              </a:lnSpc>
            </a:pPr>
            <a:r>
              <a:rPr b="0" lang="en-US" sz="1200" spc="-1" strike="noStrike">
                <a:solidFill>
                  <a:srgbClr val="ffffff"/>
                </a:solidFill>
                <a:latin typeface="Quattrocento Sans"/>
                <a:ea typeface="Quattrocento Sans"/>
              </a:rPr>
              <a:t>Il progetto dimostra con successo come l'uso combinato di </a:t>
            </a:r>
            <a:r>
              <a:rPr b="1" lang="en-US" sz="1200" spc="-1" strike="noStrike">
                <a:solidFill>
                  <a:srgbClr val="ffffff"/>
                </a:solidFill>
                <a:latin typeface="Quattrocento Sans"/>
                <a:ea typeface="Quattrocento Sans"/>
              </a:rPr>
              <a:t>OpenMP e SIMD</a:t>
            </a:r>
            <a:r>
              <a:rPr b="0" lang="en-US" sz="1200" spc="-1" strike="noStrike">
                <a:solidFill>
                  <a:srgbClr val="ffffff"/>
                </a:solidFill>
                <a:latin typeface="Quattrocento Sans"/>
                <a:ea typeface="Quattrocento Sans"/>
              </a:rPr>
              <a:t> possa ridurre drasticamente i tempi di elaborazione per algoritmi di pattern matching su serie temporali.</a:t>
            </a:r>
            <a:endParaRPr b="0" lang="it-IT" sz="1200" spc="-1" strike="noStrike">
              <a:solidFill>
                <a:srgbClr val="000000"/>
              </a:solidFill>
              <a:latin typeface="Arial"/>
            </a:endParaRPr>
          </a:p>
        </p:txBody>
      </p:sp>
      <p:sp>
        <p:nvSpPr>
          <p:cNvPr id="438" name="Shape 8"/>
          <p:cNvSpPr/>
          <p:nvPr/>
        </p:nvSpPr>
        <p:spPr>
          <a:xfrm>
            <a:off x="398160" y="3238560"/>
            <a:ext cx="6760800" cy="2018880"/>
          </a:xfrm>
          <a:custGeom>
            <a:avLst/>
            <a:gdLst>
              <a:gd name="textAreaLeft" fmla="*/ 0 w 6760800"/>
              <a:gd name="textAreaRight" fmla="*/ 6761160 w 6760800"/>
              <a:gd name="textAreaTop" fmla="*/ 0 h 2018880"/>
              <a:gd name="textAreaBottom" fmla="*/ 2019240 h 2018880"/>
            </a:gdLst>
            <a:ahLst/>
            <a:rect l="textAreaLeft" t="textAreaTop" r="textAreaRight" b="textAreaBottom"/>
            <a:pathLst>
              <a:path w="6761018" h="2019300">
                <a:moveTo>
                  <a:pt x="34636" y="0"/>
                </a:moveTo>
                <a:lnTo>
                  <a:pt x="6684810" y="0"/>
                </a:lnTo>
                <a:cubicBezTo>
                  <a:pt x="6726899" y="0"/>
                  <a:pt x="6761018" y="34120"/>
                  <a:pt x="6761018" y="76208"/>
                </a:cubicBezTo>
                <a:lnTo>
                  <a:pt x="6761018" y="1943092"/>
                </a:lnTo>
                <a:cubicBezTo>
                  <a:pt x="6761018" y="1985180"/>
                  <a:pt x="6726899" y="2019300"/>
                  <a:pt x="6684810" y="2019300"/>
                </a:cubicBezTo>
                <a:lnTo>
                  <a:pt x="34636" y="2019300"/>
                </a:lnTo>
                <a:cubicBezTo>
                  <a:pt x="15507" y="2019300"/>
                  <a:pt x="0" y="2003793"/>
                  <a:pt x="0" y="1984664"/>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39" name="Shape 9"/>
          <p:cNvSpPr/>
          <p:nvPr/>
        </p:nvSpPr>
        <p:spPr>
          <a:xfrm>
            <a:off x="398160" y="3238560"/>
            <a:ext cx="34200" cy="2018880"/>
          </a:xfrm>
          <a:custGeom>
            <a:avLst/>
            <a:gdLst>
              <a:gd name="textAreaLeft" fmla="*/ 0 w 34200"/>
              <a:gd name="textAreaRight" fmla="*/ 34560 w 34200"/>
              <a:gd name="textAreaTop" fmla="*/ 0 h 2018880"/>
              <a:gd name="textAreaBottom" fmla="*/ 2019240 h 2018880"/>
            </a:gdLst>
            <a:ahLst/>
            <a:rect l="textAreaLeft" t="textAreaTop" r="textAreaRight" b="textAreaBottom"/>
            <a:pathLst>
              <a:path w="34636" h="2019300">
                <a:moveTo>
                  <a:pt x="34636" y="0"/>
                </a:moveTo>
                <a:lnTo>
                  <a:pt x="34636" y="0"/>
                </a:lnTo>
                <a:lnTo>
                  <a:pt x="34636" y="2019300"/>
                </a:lnTo>
                <a:lnTo>
                  <a:pt x="34636" y="2019300"/>
                </a:lnTo>
                <a:cubicBezTo>
                  <a:pt x="15507" y="2019300"/>
                  <a:pt x="0" y="2003793"/>
                  <a:pt x="0" y="198466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40" name="Text 10"/>
          <p:cNvSpPr/>
          <p:nvPr/>
        </p:nvSpPr>
        <p:spPr>
          <a:xfrm>
            <a:off x="606240" y="3429000"/>
            <a:ext cx="647676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2e3440"/>
                </a:solidFill>
                <a:latin typeface="Liter"/>
                <a:ea typeface="Liter"/>
              </a:rPr>
              <a:t>Insight Chiave</a:t>
            </a:r>
            <a:endParaRPr b="0" lang="it-IT" sz="1800" spc="-1" strike="noStrike">
              <a:solidFill>
                <a:srgbClr val="000000"/>
              </a:solidFill>
              <a:latin typeface="Arial"/>
            </a:endParaRPr>
          </a:p>
        </p:txBody>
      </p:sp>
      <p:sp>
        <p:nvSpPr>
          <p:cNvPr id="441" name="Shape 11"/>
          <p:cNvSpPr/>
          <p:nvPr/>
        </p:nvSpPr>
        <p:spPr>
          <a:xfrm>
            <a:off x="606240" y="384804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42" name="Text 12"/>
          <p:cNvSpPr/>
          <p:nvPr/>
        </p:nvSpPr>
        <p:spPr>
          <a:xfrm>
            <a:off x="734400" y="3886200"/>
            <a:ext cx="12348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1</a:t>
            </a:r>
            <a:endParaRPr b="0" lang="it-IT" sz="1200" spc="-1" strike="noStrike">
              <a:solidFill>
                <a:srgbClr val="000000"/>
              </a:solidFill>
              <a:latin typeface="Arial"/>
            </a:endParaRPr>
          </a:p>
        </p:txBody>
      </p:sp>
      <p:sp>
        <p:nvSpPr>
          <p:cNvPr id="443" name="Text 13"/>
          <p:cNvSpPr/>
          <p:nvPr/>
        </p:nvSpPr>
        <p:spPr>
          <a:xfrm>
            <a:off x="1025280" y="3848040"/>
            <a:ext cx="56192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L'efficienza massima si ottiene con </a:t>
            </a:r>
            <a:r>
              <a:rPr b="1" lang="en-US" sz="1200" spc="-1" strike="noStrike">
                <a:solidFill>
                  <a:srgbClr val="2e3440"/>
                </a:solidFill>
                <a:latin typeface="Quattrocento Sans"/>
                <a:ea typeface="Quattrocento Sans"/>
              </a:rPr>
              <a:t>8 thread</a:t>
            </a:r>
            <a:r>
              <a:rPr b="0" lang="en-US" sz="1200" spc="-1" strike="noStrike">
                <a:solidFill>
                  <a:srgbClr val="2e3440"/>
                </a:solidFill>
                <a:latin typeface="Quattrocento Sans"/>
                <a:ea typeface="Quattrocento Sans"/>
              </a:rPr>
              <a:t>, corrispondenti ai thread logici hardware</a:t>
            </a:r>
            <a:endParaRPr b="0" lang="it-IT" sz="1200" spc="-1" strike="noStrike">
              <a:solidFill>
                <a:srgbClr val="000000"/>
              </a:solidFill>
              <a:latin typeface="Arial"/>
            </a:endParaRPr>
          </a:p>
        </p:txBody>
      </p:sp>
      <p:sp>
        <p:nvSpPr>
          <p:cNvPr id="444" name="Shape 14"/>
          <p:cNvSpPr/>
          <p:nvPr/>
        </p:nvSpPr>
        <p:spPr>
          <a:xfrm>
            <a:off x="606240" y="422928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45" name="Text 15"/>
          <p:cNvSpPr/>
          <p:nvPr/>
        </p:nvSpPr>
        <p:spPr>
          <a:xfrm>
            <a:off x="719640" y="4267080"/>
            <a:ext cx="15192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2</a:t>
            </a:r>
            <a:endParaRPr b="0" lang="it-IT" sz="1200" spc="-1" strike="noStrike">
              <a:solidFill>
                <a:srgbClr val="000000"/>
              </a:solidFill>
              <a:latin typeface="Arial"/>
            </a:endParaRPr>
          </a:p>
        </p:txBody>
      </p:sp>
      <p:sp>
        <p:nvSpPr>
          <p:cNvPr id="446" name="Text 16"/>
          <p:cNvSpPr/>
          <p:nvPr/>
        </p:nvSpPr>
        <p:spPr>
          <a:xfrm>
            <a:off x="1025280" y="4229280"/>
            <a:ext cx="586692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Oltre questa soglia, la Legge di Amdahl e i limiti fisici impediscono ulteriori miglioramenti</a:t>
            </a:r>
            <a:endParaRPr b="0" lang="it-IT" sz="1200" spc="-1" strike="noStrike">
              <a:solidFill>
                <a:srgbClr val="000000"/>
              </a:solidFill>
              <a:latin typeface="Arial"/>
            </a:endParaRPr>
          </a:p>
        </p:txBody>
      </p:sp>
      <p:sp>
        <p:nvSpPr>
          <p:cNvPr id="447" name="Shape 17"/>
          <p:cNvSpPr/>
          <p:nvPr/>
        </p:nvSpPr>
        <p:spPr>
          <a:xfrm>
            <a:off x="606240" y="4610160"/>
            <a:ext cx="304560" cy="304560"/>
          </a:xfrm>
          <a:custGeom>
            <a:avLst/>
            <a:gdLst>
              <a:gd name="textAreaLeft" fmla="*/ 0 w 304560"/>
              <a:gd name="textAreaRight" fmla="*/ 304920 w 304560"/>
              <a:gd name="textAreaTop" fmla="*/ 0 h 304560"/>
              <a:gd name="textAreaBottom" fmla="*/ 304920 h 304560"/>
            </a:gdLst>
            <a:ahLst/>
            <a:rect l="textAreaLeft" t="textAreaTop" r="textAreaRight" b="textAreaBottom"/>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5e81ac"/>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48" name="Text 18"/>
          <p:cNvSpPr/>
          <p:nvPr/>
        </p:nvSpPr>
        <p:spPr>
          <a:xfrm>
            <a:off x="717840" y="4648320"/>
            <a:ext cx="161640" cy="2282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ffffff"/>
                </a:solidFill>
                <a:latin typeface="Quattrocento Sans"/>
                <a:ea typeface="Quattrocento Sans"/>
              </a:rPr>
              <a:t>3</a:t>
            </a:r>
            <a:endParaRPr b="0" lang="it-IT" sz="1200" spc="-1" strike="noStrike">
              <a:solidFill>
                <a:srgbClr val="000000"/>
              </a:solidFill>
              <a:latin typeface="Arial"/>
            </a:endParaRPr>
          </a:p>
        </p:txBody>
      </p:sp>
      <p:sp>
        <p:nvSpPr>
          <p:cNvPr id="449" name="Text 19"/>
          <p:cNvSpPr/>
          <p:nvPr/>
        </p:nvSpPr>
        <p:spPr>
          <a:xfrm>
            <a:off x="1025280" y="4610160"/>
            <a:ext cx="6019560" cy="456840"/>
          </a:xfrm>
          <a:prstGeom prst="rect">
            <a:avLst/>
          </a:prstGeom>
          <a:noFill/>
          <a:ln w="0">
            <a:noFill/>
          </a:ln>
        </p:spPr>
        <p:style>
          <a:lnRef idx="0"/>
          <a:fillRef idx="0"/>
          <a:effectRef idx="0"/>
          <a:fontRef idx="minor"/>
        </p:style>
        <p:txBody>
          <a:bodyPr lIns="0" rIns="0" tIns="0" bIns="0" anchor="ctr">
            <a:noAutofit/>
          </a:bodyPr>
          <a:p>
            <a:pPr>
              <a:lnSpc>
                <a:spcPct val="130000"/>
              </a:lnSpc>
            </a:pPr>
            <a:r>
              <a:rPr b="0" lang="en-US" sz="1200" spc="-1" strike="noStrike">
                <a:solidFill>
                  <a:srgbClr val="2e3440"/>
                </a:solidFill>
                <a:latin typeface="Quattrocento Sans"/>
                <a:ea typeface="Quattrocento Sans"/>
              </a:rPr>
              <a:t>L'approccio ibrido ha permesso di superare la linearità teorica grazie a Hyper-Threading e SIMD</a:t>
            </a:r>
            <a:endParaRPr b="0" lang="it-IT" sz="1200" spc="-1" strike="noStrike">
              <a:solidFill>
                <a:srgbClr val="000000"/>
              </a:solidFill>
              <a:latin typeface="Arial"/>
            </a:endParaRPr>
          </a:p>
        </p:txBody>
      </p:sp>
      <p:sp>
        <p:nvSpPr>
          <p:cNvPr id="450" name="Shape 20"/>
          <p:cNvSpPr/>
          <p:nvPr/>
        </p:nvSpPr>
        <p:spPr>
          <a:xfrm>
            <a:off x="398160" y="5410080"/>
            <a:ext cx="6760800" cy="990360"/>
          </a:xfrm>
          <a:custGeom>
            <a:avLst/>
            <a:gdLst>
              <a:gd name="textAreaLeft" fmla="*/ 0 w 6760800"/>
              <a:gd name="textAreaRight" fmla="*/ 6761160 w 6760800"/>
              <a:gd name="textAreaTop" fmla="*/ 0 h 990360"/>
              <a:gd name="textAreaBottom" fmla="*/ 990720 h 990360"/>
            </a:gdLst>
            <a:ahLst/>
            <a:rect l="textAreaLeft" t="textAreaTop" r="textAreaRight" b="textAreaBottom"/>
            <a:pathLst>
              <a:path w="6761018" h="990600">
                <a:moveTo>
                  <a:pt x="34636" y="0"/>
                </a:moveTo>
                <a:lnTo>
                  <a:pt x="6684821" y="0"/>
                </a:lnTo>
                <a:cubicBezTo>
                  <a:pt x="6726904" y="0"/>
                  <a:pt x="6761018" y="34115"/>
                  <a:pt x="6761018" y="76197"/>
                </a:cubicBezTo>
                <a:lnTo>
                  <a:pt x="6761018" y="914403"/>
                </a:lnTo>
                <a:cubicBezTo>
                  <a:pt x="6761018" y="956485"/>
                  <a:pt x="6726904" y="990600"/>
                  <a:pt x="6684821" y="990600"/>
                </a:cubicBezTo>
                <a:lnTo>
                  <a:pt x="34636" y="990600"/>
                </a:lnTo>
                <a:cubicBezTo>
                  <a:pt x="15507" y="990600"/>
                  <a:pt x="0" y="975093"/>
                  <a:pt x="0" y="955964"/>
                </a:cubicBezTo>
                <a:lnTo>
                  <a:pt x="0" y="34636"/>
                </a:lnTo>
                <a:cubicBezTo>
                  <a:pt x="0" y="15507"/>
                  <a:pt x="15507" y="0"/>
                  <a:pt x="34636" y="0"/>
                </a:cubicBezTo>
                <a:close/>
              </a:path>
            </a:pathLst>
          </a:custGeom>
          <a:solidFill>
            <a:srgbClr val="88c0d0">
              <a:alpha val="10000"/>
            </a:srgbClr>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51" name="Shape 21"/>
          <p:cNvSpPr/>
          <p:nvPr/>
        </p:nvSpPr>
        <p:spPr>
          <a:xfrm>
            <a:off x="398160" y="5410080"/>
            <a:ext cx="34200" cy="990360"/>
          </a:xfrm>
          <a:custGeom>
            <a:avLst/>
            <a:gdLst>
              <a:gd name="textAreaLeft" fmla="*/ 0 w 34200"/>
              <a:gd name="textAreaRight" fmla="*/ 34560 w 34200"/>
              <a:gd name="textAreaTop" fmla="*/ 0 h 990360"/>
              <a:gd name="textAreaBottom" fmla="*/ 990720 h 990360"/>
            </a:gdLst>
            <a:ahLst/>
            <a:rect l="textAreaLeft" t="textAreaTop" r="textAreaRight" b="textAreaBottom"/>
            <a:pathLst>
              <a:path w="34636" h="990600">
                <a:moveTo>
                  <a:pt x="34636" y="0"/>
                </a:moveTo>
                <a:lnTo>
                  <a:pt x="34636" y="0"/>
                </a:lnTo>
                <a:lnTo>
                  <a:pt x="34636" y="990600"/>
                </a:lnTo>
                <a:lnTo>
                  <a:pt x="34636" y="990600"/>
                </a:lnTo>
                <a:cubicBezTo>
                  <a:pt x="15507" y="990600"/>
                  <a:pt x="0" y="975093"/>
                  <a:pt x="0" y="955964"/>
                </a:cubicBezTo>
                <a:lnTo>
                  <a:pt x="0" y="34636"/>
                </a:lnTo>
                <a:cubicBezTo>
                  <a:pt x="0" y="15507"/>
                  <a:pt x="15507" y="0"/>
                  <a:pt x="34636" y="0"/>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52" name="Text 22"/>
          <p:cNvSpPr/>
          <p:nvPr/>
        </p:nvSpPr>
        <p:spPr>
          <a:xfrm>
            <a:off x="568080" y="5562720"/>
            <a:ext cx="6514920" cy="685440"/>
          </a:xfrm>
          <a:prstGeom prst="rect">
            <a:avLst/>
          </a:prstGeom>
          <a:noFill/>
          <a:ln w="0">
            <a:noFill/>
          </a:ln>
        </p:spPr>
        <p:style>
          <a:lnRef idx="0"/>
          <a:fillRef idx="0"/>
          <a:effectRef idx="0"/>
          <a:fontRef idx="minor"/>
        </p:style>
        <p:txBody>
          <a:bodyPr lIns="0" rIns="0" tIns="0" bIns="0" anchor="ctr">
            <a:noAutofit/>
          </a:bodyPr>
          <a:p>
            <a:pPr>
              <a:lnSpc>
                <a:spcPct val="130000"/>
              </a:lnSpc>
            </a:pPr>
            <a:r>
              <a:rPr b="1" lang="en-US" sz="1200" spc="-1" strike="noStrike">
                <a:solidFill>
                  <a:srgbClr val="2e3440"/>
                </a:solidFill>
                <a:latin typeface="Quattrocento Sans"/>
                <a:ea typeface="Quattrocento Sans"/>
              </a:rPr>
              <a:t>Contributo Scientifico:</a:t>
            </a:r>
            <a:r>
              <a:rPr b="0" lang="en-US" sz="1200" spc="-1" strike="noStrike">
                <a:solidFill>
                  <a:srgbClr val="2e3440"/>
                </a:solidFill>
                <a:latin typeface="Quattrocento Sans"/>
                <a:ea typeface="Quattrocento Sans"/>
              </a:rPr>
              <a:t> Dimostrazione pratica che l'ottimizzazione parallela su architetture multi-core può fornire speedup significativi anche per problemi computazionalmente intensivi, purché si rispettino i vincoli hardware.</a:t>
            </a:r>
            <a:endParaRPr b="0" lang="it-IT" sz="1200" spc="-1" strike="noStrike">
              <a:solidFill>
                <a:srgbClr val="000000"/>
              </a:solidFill>
              <a:latin typeface="Arial"/>
            </a:endParaRPr>
          </a:p>
        </p:txBody>
      </p:sp>
      <p:sp>
        <p:nvSpPr>
          <p:cNvPr id="453" name="Shape 23"/>
          <p:cNvSpPr/>
          <p:nvPr/>
        </p:nvSpPr>
        <p:spPr>
          <a:xfrm>
            <a:off x="7353360" y="1312560"/>
            <a:ext cx="4457520" cy="5084280"/>
          </a:xfrm>
          <a:custGeom>
            <a:avLst/>
            <a:gdLst>
              <a:gd name="textAreaLeft" fmla="*/ 0 w 4457520"/>
              <a:gd name="textAreaRight" fmla="*/ 4457880 w 4457520"/>
              <a:gd name="textAreaTop" fmla="*/ 0 h 5084280"/>
              <a:gd name="textAreaBottom" fmla="*/ 5084640 h 5084280"/>
            </a:gdLst>
            <a:ahLst/>
            <a:rect l="textAreaLeft" t="textAreaTop" r="textAreaRight" b="textAreaBottom"/>
            <a:pathLst>
              <a:path w="4457700" h="5084618">
                <a:moveTo>
                  <a:pt x="34636" y="0"/>
                </a:moveTo>
                <a:lnTo>
                  <a:pt x="4423064" y="0"/>
                </a:lnTo>
                <a:cubicBezTo>
                  <a:pt x="4442193" y="0"/>
                  <a:pt x="4457700" y="15507"/>
                  <a:pt x="4457700" y="34636"/>
                </a:cubicBezTo>
                <a:lnTo>
                  <a:pt x="4457700" y="5008436"/>
                </a:lnTo>
                <a:cubicBezTo>
                  <a:pt x="4457700" y="5050510"/>
                  <a:pt x="4423592" y="5084618"/>
                  <a:pt x="4381518" y="5084618"/>
                </a:cubicBezTo>
                <a:lnTo>
                  <a:pt x="76182" y="5084618"/>
                </a:lnTo>
                <a:cubicBezTo>
                  <a:pt x="34108" y="5084618"/>
                  <a:pt x="0" y="5050510"/>
                  <a:pt x="0" y="5008436"/>
                </a:cubicBezTo>
                <a:lnTo>
                  <a:pt x="0" y="34636"/>
                </a:lnTo>
                <a:cubicBezTo>
                  <a:pt x="0" y="15507"/>
                  <a:pt x="15507" y="0"/>
                  <a:pt x="34636" y="0"/>
                </a:cubicBezTo>
                <a:close/>
              </a:path>
            </a:pathLst>
          </a:custGeom>
          <a:solidFill>
            <a:srgbClr val="ffffff"/>
          </a:solidFill>
          <a:ln w="0">
            <a:noFill/>
          </a:ln>
          <a:effectLst>
            <a:outerShdw algn="bl" blurRad="57240" dir="5400000" dist="381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54" name="Shape 24"/>
          <p:cNvSpPr/>
          <p:nvPr/>
        </p:nvSpPr>
        <p:spPr>
          <a:xfrm>
            <a:off x="7353360" y="1312560"/>
            <a:ext cx="4457520" cy="34200"/>
          </a:xfrm>
          <a:custGeom>
            <a:avLst/>
            <a:gdLst>
              <a:gd name="textAreaLeft" fmla="*/ 0 w 4457520"/>
              <a:gd name="textAreaRight" fmla="*/ 4457880 w 4457520"/>
              <a:gd name="textAreaTop" fmla="*/ 0 h 34200"/>
              <a:gd name="textAreaBottom" fmla="*/ 34560 h 34200"/>
            </a:gdLst>
            <a:ahLst/>
            <a:rect l="textAreaLeft" t="textAreaTop" r="textAreaRight" b="textAreaBottom"/>
            <a:pathLst>
              <a:path w="4457700" h="34636">
                <a:moveTo>
                  <a:pt x="34636" y="0"/>
                </a:moveTo>
                <a:lnTo>
                  <a:pt x="4423064" y="0"/>
                </a:lnTo>
                <a:cubicBezTo>
                  <a:pt x="4442193" y="0"/>
                  <a:pt x="4457700" y="15507"/>
                  <a:pt x="4457700" y="34636"/>
                </a:cubicBezTo>
                <a:lnTo>
                  <a:pt x="4457700" y="34636"/>
                </a:lnTo>
                <a:lnTo>
                  <a:pt x="0" y="34636"/>
                </a:lnTo>
                <a:lnTo>
                  <a:pt x="0" y="34636"/>
                </a:lnTo>
                <a:cubicBezTo>
                  <a:pt x="0" y="15507"/>
                  <a:pt x="15507" y="0"/>
                  <a:pt x="34636" y="0"/>
                </a:cubicBezTo>
                <a:close/>
              </a:path>
            </a:pathLst>
          </a:custGeom>
          <a:solidFill>
            <a:srgbClr val="5e81ac"/>
          </a:solidFill>
          <a:ln w="0">
            <a:noFill/>
          </a:ln>
        </p:spPr>
        <p:style>
          <a:lnRef idx="0"/>
          <a:fillRef idx="0"/>
          <a:effectRef idx="0"/>
          <a:fontRef idx="minor"/>
        </p:style>
        <p:txBody>
          <a:bodyPr lIns="90000" rIns="90000" tIns="-10440" bIns="-10440" anchor="t">
            <a:noAutofit/>
          </a:bodyPr>
          <a:p>
            <a:endParaRPr b="0" lang="it-IT" sz="1800" spc="-1" strike="noStrike">
              <a:solidFill>
                <a:srgbClr val="000000"/>
              </a:solidFill>
              <a:latin typeface="Arial"/>
            </a:endParaRPr>
          </a:p>
        </p:txBody>
      </p:sp>
      <p:sp>
        <p:nvSpPr>
          <p:cNvPr id="455" name="Text 25"/>
          <p:cNvSpPr/>
          <p:nvPr/>
        </p:nvSpPr>
        <p:spPr>
          <a:xfrm>
            <a:off x="7543800" y="1520640"/>
            <a:ext cx="4190760" cy="304560"/>
          </a:xfrm>
          <a:prstGeom prst="rect">
            <a:avLst/>
          </a:prstGeom>
          <a:noFill/>
          <a:ln w="0">
            <a:noFill/>
          </a:ln>
        </p:spPr>
        <p:style>
          <a:lnRef idx="0"/>
          <a:fillRef idx="0"/>
          <a:effectRef idx="0"/>
          <a:fontRef idx="minor"/>
        </p:style>
        <p:txBody>
          <a:bodyPr lIns="0" rIns="0" tIns="0" bIns="0" anchor="ctr">
            <a:noAutofit/>
          </a:bodyPr>
          <a:p>
            <a:pPr>
              <a:lnSpc>
                <a:spcPct val="110000"/>
              </a:lnSpc>
            </a:pPr>
            <a:r>
              <a:rPr b="1" lang="en-US" sz="1800" spc="-1" strike="noStrike">
                <a:solidFill>
                  <a:srgbClr val="2e3440"/>
                </a:solidFill>
                <a:latin typeface="Liter"/>
                <a:ea typeface="Liter"/>
              </a:rPr>
              <a:t>Metriche Finali</a:t>
            </a:r>
            <a:endParaRPr b="0" lang="it-IT" sz="1800" spc="-1" strike="noStrike">
              <a:solidFill>
                <a:srgbClr val="000000"/>
              </a:solidFill>
              <a:latin typeface="Arial"/>
            </a:endParaRPr>
          </a:p>
        </p:txBody>
      </p:sp>
      <p:sp>
        <p:nvSpPr>
          <p:cNvPr id="456" name="Shape 26"/>
          <p:cNvSpPr/>
          <p:nvPr/>
        </p:nvSpPr>
        <p:spPr>
          <a:xfrm>
            <a:off x="7543800" y="1977840"/>
            <a:ext cx="4076280" cy="990360"/>
          </a:xfrm>
          <a:custGeom>
            <a:avLst/>
            <a:gdLst>
              <a:gd name="textAreaLeft" fmla="*/ 0 w 4076280"/>
              <a:gd name="textAreaRight" fmla="*/ 4076640 w 4076280"/>
              <a:gd name="textAreaTop" fmla="*/ 0 h 990360"/>
              <a:gd name="textAreaBottom" fmla="*/ 990720 h 990360"/>
            </a:gdLst>
            <a:ahLst/>
            <a:rect l="textAreaLeft" t="textAreaTop" r="textAreaRight" b="textAreaBottom"/>
            <a:pathLst>
              <a:path w="4076700" h="990600">
                <a:moveTo>
                  <a:pt x="76197" y="0"/>
                </a:moveTo>
                <a:lnTo>
                  <a:pt x="4000503" y="0"/>
                </a:lnTo>
                <a:cubicBezTo>
                  <a:pt x="4042585" y="0"/>
                  <a:pt x="4076700" y="34115"/>
                  <a:pt x="4076700" y="76197"/>
                </a:cubicBezTo>
                <a:lnTo>
                  <a:pt x="4076700" y="914403"/>
                </a:lnTo>
                <a:cubicBezTo>
                  <a:pt x="4076700" y="956485"/>
                  <a:pt x="4042585" y="990600"/>
                  <a:pt x="4000503" y="990600"/>
                </a:cubicBezTo>
                <a:lnTo>
                  <a:pt x="76197" y="990600"/>
                </a:lnTo>
                <a:cubicBezTo>
                  <a:pt x="34115" y="990600"/>
                  <a:pt x="0" y="956485"/>
                  <a:pt x="0" y="914403"/>
                </a:cubicBezTo>
                <a:lnTo>
                  <a:pt x="0" y="76197"/>
                </a:lnTo>
                <a:cubicBezTo>
                  <a:pt x="0" y="34143"/>
                  <a:pt x="34143" y="0"/>
                  <a:pt x="76197" y="0"/>
                </a:cubicBezTo>
                <a:close/>
              </a:path>
            </a:pathLst>
          </a:custGeom>
          <a:gradFill rotWithShape="0">
            <a:gsLst>
              <a:gs pos="0">
                <a:srgbClr val="5e81ac"/>
              </a:gs>
              <a:gs pos="100000">
                <a:srgbClr val="88c0d0"/>
              </a:gs>
            </a:gsLst>
            <a:lin ang="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57" name="Text 27"/>
          <p:cNvSpPr/>
          <p:nvPr/>
        </p:nvSpPr>
        <p:spPr>
          <a:xfrm>
            <a:off x="7658280" y="2130120"/>
            <a:ext cx="384768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ffffff">
                    <a:alpha val="80000"/>
                  </a:srgbClr>
                </a:solidFill>
                <a:latin typeface="Quattrocento Sans"/>
                <a:ea typeface="Quattrocento Sans"/>
              </a:rPr>
              <a:t>Speedup Massimo</a:t>
            </a:r>
            <a:endParaRPr b="0" lang="it-IT" sz="1200" spc="-1" strike="noStrike">
              <a:solidFill>
                <a:srgbClr val="000000"/>
              </a:solidFill>
              <a:latin typeface="Arial"/>
            </a:endParaRPr>
          </a:p>
        </p:txBody>
      </p:sp>
      <p:sp>
        <p:nvSpPr>
          <p:cNvPr id="458" name="Text 28"/>
          <p:cNvSpPr/>
          <p:nvPr/>
        </p:nvSpPr>
        <p:spPr>
          <a:xfrm>
            <a:off x="7581960" y="2358720"/>
            <a:ext cx="4000320" cy="456840"/>
          </a:xfrm>
          <a:prstGeom prst="rect">
            <a:avLst/>
          </a:prstGeom>
          <a:noFill/>
          <a:ln w="0">
            <a:noFill/>
          </a:ln>
        </p:spPr>
        <p:style>
          <a:lnRef idx="0"/>
          <a:fillRef idx="0"/>
          <a:effectRef idx="0"/>
          <a:fontRef idx="minor"/>
        </p:style>
        <p:txBody>
          <a:bodyPr lIns="0" rIns="0" tIns="0" bIns="0" anchor="ctr">
            <a:noAutofit/>
          </a:bodyPr>
          <a:p>
            <a:pPr algn="ctr">
              <a:lnSpc>
                <a:spcPct val="80000"/>
              </a:lnSpc>
            </a:pPr>
            <a:r>
              <a:rPr b="1" lang="en-US" sz="3600" spc="-1" strike="noStrike">
                <a:solidFill>
                  <a:srgbClr val="ffffff"/>
                </a:solidFill>
                <a:latin typeface="Quattrocento Sans"/>
                <a:ea typeface="Quattrocento Sans"/>
              </a:rPr>
              <a:t>6.25x</a:t>
            </a:r>
            <a:endParaRPr b="0" lang="it-IT" sz="3600" spc="-1" strike="noStrike">
              <a:solidFill>
                <a:srgbClr val="000000"/>
              </a:solidFill>
              <a:latin typeface="Arial"/>
            </a:endParaRPr>
          </a:p>
        </p:txBody>
      </p:sp>
      <p:sp>
        <p:nvSpPr>
          <p:cNvPr id="459" name="Shape 29"/>
          <p:cNvSpPr/>
          <p:nvPr/>
        </p:nvSpPr>
        <p:spPr>
          <a:xfrm>
            <a:off x="7543800" y="3082680"/>
            <a:ext cx="4076280" cy="990360"/>
          </a:xfrm>
          <a:custGeom>
            <a:avLst/>
            <a:gdLst>
              <a:gd name="textAreaLeft" fmla="*/ 0 w 4076280"/>
              <a:gd name="textAreaRight" fmla="*/ 4076640 w 4076280"/>
              <a:gd name="textAreaTop" fmla="*/ 0 h 990360"/>
              <a:gd name="textAreaBottom" fmla="*/ 990720 h 990360"/>
            </a:gdLst>
            <a:ahLst/>
            <a:rect l="textAreaLeft" t="textAreaTop" r="textAreaRight" b="textAreaBottom"/>
            <a:pathLst>
              <a:path w="4076700" h="990600">
                <a:moveTo>
                  <a:pt x="76197" y="0"/>
                </a:moveTo>
                <a:lnTo>
                  <a:pt x="4000503" y="0"/>
                </a:lnTo>
                <a:cubicBezTo>
                  <a:pt x="4042585" y="0"/>
                  <a:pt x="4076700" y="34115"/>
                  <a:pt x="4076700" y="76197"/>
                </a:cubicBezTo>
                <a:lnTo>
                  <a:pt x="4076700" y="914403"/>
                </a:lnTo>
                <a:cubicBezTo>
                  <a:pt x="4076700" y="956485"/>
                  <a:pt x="4042585" y="990600"/>
                  <a:pt x="4000503" y="990600"/>
                </a:cubicBezTo>
                <a:lnTo>
                  <a:pt x="76197" y="990600"/>
                </a:lnTo>
                <a:cubicBezTo>
                  <a:pt x="34115" y="990600"/>
                  <a:pt x="0" y="956485"/>
                  <a:pt x="0" y="914403"/>
                </a:cubicBezTo>
                <a:lnTo>
                  <a:pt x="0" y="76197"/>
                </a:lnTo>
                <a:cubicBezTo>
                  <a:pt x="0" y="34143"/>
                  <a:pt x="34143" y="0"/>
                  <a:pt x="76197" y="0"/>
                </a:cubicBezTo>
                <a:close/>
              </a:path>
            </a:pathLst>
          </a:custGeom>
          <a:gradFill rotWithShape="0">
            <a:gsLst>
              <a:gs pos="0">
                <a:srgbClr val="88c0d0"/>
              </a:gs>
              <a:gs pos="100000">
                <a:srgbClr val="5e81ac"/>
              </a:gs>
            </a:gsLst>
            <a:lin ang="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60" name="Text 30"/>
          <p:cNvSpPr/>
          <p:nvPr/>
        </p:nvSpPr>
        <p:spPr>
          <a:xfrm>
            <a:off x="7658280" y="3234960"/>
            <a:ext cx="384768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ffffff">
                    <a:alpha val="80000"/>
                  </a:srgbClr>
                </a:solidFill>
                <a:latin typeface="Quattrocento Sans"/>
                <a:ea typeface="Quattrocento Sans"/>
              </a:rPr>
              <a:t>Tempo Ottimale</a:t>
            </a:r>
            <a:endParaRPr b="0" lang="it-IT" sz="1200" spc="-1" strike="noStrike">
              <a:solidFill>
                <a:srgbClr val="000000"/>
              </a:solidFill>
              <a:latin typeface="Arial"/>
            </a:endParaRPr>
          </a:p>
        </p:txBody>
      </p:sp>
      <p:sp>
        <p:nvSpPr>
          <p:cNvPr id="461" name="Text 31"/>
          <p:cNvSpPr/>
          <p:nvPr/>
        </p:nvSpPr>
        <p:spPr>
          <a:xfrm>
            <a:off x="7581960" y="3463560"/>
            <a:ext cx="4000320" cy="456840"/>
          </a:xfrm>
          <a:prstGeom prst="rect">
            <a:avLst/>
          </a:prstGeom>
          <a:noFill/>
          <a:ln w="0">
            <a:noFill/>
          </a:ln>
        </p:spPr>
        <p:style>
          <a:lnRef idx="0"/>
          <a:fillRef idx="0"/>
          <a:effectRef idx="0"/>
          <a:fontRef idx="minor"/>
        </p:style>
        <p:txBody>
          <a:bodyPr lIns="0" rIns="0" tIns="0" bIns="0" anchor="ctr">
            <a:noAutofit/>
          </a:bodyPr>
          <a:p>
            <a:pPr algn="ctr">
              <a:lnSpc>
                <a:spcPct val="80000"/>
              </a:lnSpc>
            </a:pPr>
            <a:r>
              <a:rPr b="1" lang="en-US" sz="3600" spc="-1" strike="noStrike">
                <a:solidFill>
                  <a:srgbClr val="ffffff"/>
                </a:solidFill>
                <a:latin typeface="Quattrocento Sans"/>
                <a:ea typeface="Quattrocento Sans"/>
              </a:rPr>
              <a:t>1.27s</a:t>
            </a:r>
            <a:endParaRPr b="0" lang="it-IT" sz="3600" spc="-1" strike="noStrike">
              <a:solidFill>
                <a:srgbClr val="000000"/>
              </a:solidFill>
              <a:latin typeface="Arial"/>
            </a:endParaRPr>
          </a:p>
        </p:txBody>
      </p:sp>
      <p:sp>
        <p:nvSpPr>
          <p:cNvPr id="462" name="Shape 32"/>
          <p:cNvSpPr/>
          <p:nvPr/>
        </p:nvSpPr>
        <p:spPr>
          <a:xfrm>
            <a:off x="7543800" y="4187520"/>
            <a:ext cx="4076280" cy="990360"/>
          </a:xfrm>
          <a:custGeom>
            <a:avLst/>
            <a:gdLst>
              <a:gd name="textAreaLeft" fmla="*/ 0 w 4076280"/>
              <a:gd name="textAreaRight" fmla="*/ 4076640 w 4076280"/>
              <a:gd name="textAreaTop" fmla="*/ 0 h 990360"/>
              <a:gd name="textAreaBottom" fmla="*/ 990720 h 990360"/>
            </a:gdLst>
            <a:ahLst/>
            <a:rect l="textAreaLeft" t="textAreaTop" r="textAreaRight" b="textAreaBottom"/>
            <a:pathLst>
              <a:path w="4076700" h="990600">
                <a:moveTo>
                  <a:pt x="76197" y="0"/>
                </a:moveTo>
                <a:lnTo>
                  <a:pt x="4000503" y="0"/>
                </a:lnTo>
                <a:cubicBezTo>
                  <a:pt x="4042585" y="0"/>
                  <a:pt x="4076700" y="34115"/>
                  <a:pt x="4076700" y="76197"/>
                </a:cubicBezTo>
                <a:lnTo>
                  <a:pt x="4076700" y="914403"/>
                </a:lnTo>
                <a:cubicBezTo>
                  <a:pt x="4076700" y="956485"/>
                  <a:pt x="4042585" y="990600"/>
                  <a:pt x="4000503" y="990600"/>
                </a:cubicBezTo>
                <a:lnTo>
                  <a:pt x="76197" y="990600"/>
                </a:lnTo>
                <a:cubicBezTo>
                  <a:pt x="34115" y="990600"/>
                  <a:pt x="0" y="956485"/>
                  <a:pt x="0" y="914403"/>
                </a:cubicBezTo>
                <a:lnTo>
                  <a:pt x="0" y="76197"/>
                </a:lnTo>
                <a:cubicBezTo>
                  <a:pt x="0" y="34143"/>
                  <a:pt x="34143" y="0"/>
                  <a:pt x="76197" y="0"/>
                </a:cubicBezTo>
                <a:close/>
              </a:path>
            </a:pathLst>
          </a:custGeom>
          <a:gradFill rotWithShape="0">
            <a:gsLst>
              <a:gs pos="0">
                <a:srgbClr val="5e81ac"/>
              </a:gs>
              <a:gs pos="100000">
                <a:srgbClr val="88c0d0"/>
              </a:gs>
            </a:gsLst>
            <a:lin ang="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63" name="Text 33"/>
          <p:cNvSpPr/>
          <p:nvPr/>
        </p:nvSpPr>
        <p:spPr>
          <a:xfrm>
            <a:off x="7658280" y="4339800"/>
            <a:ext cx="384768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ffffff">
                    <a:alpha val="80000"/>
                  </a:srgbClr>
                </a:solidFill>
                <a:latin typeface="Quattrocento Sans"/>
                <a:ea typeface="Quattrocento Sans"/>
              </a:rPr>
              <a:t>Frazione Parallelizzabile</a:t>
            </a:r>
            <a:endParaRPr b="0" lang="it-IT" sz="1200" spc="-1" strike="noStrike">
              <a:solidFill>
                <a:srgbClr val="000000"/>
              </a:solidFill>
              <a:latin typeface="Arial"/>
            </a:endParaRPr>
          </a:p>
        </p:txBody>
      </p:sp>
      <p:sp>
        <p:nvSpPr>
          <p:cNvPr id="464" name="Text 34"/>
          <p:cNvSpPr/>
          <p:nvPr/>
        </p:nvSpPr>
        <p:spPr>
          <a:xfrm>
            <a:off x="7581960" y="4568400"/>
            <a:ext cx="4000320" cy="456840"/>
          </a:xfrm>
          <a:prstGeom prst="rect">
            <a:avLst/>
          </a:prstGeom>
          <a:noFill/>
          <a:ln w="0">
            <a:noFill/>
          </a:ln>
        </p:spPr>
        <p:style>
          <a:lnRef idx="0"/>
          <a:fillRef idx="0"/>
          <a:effectRef idx="0"/>
          <a:fontRef idx="minor"/>
        </p:style>
        <p:txBody>
          <a:bodyPr lIns="0" rIns="0" tIns="0" bIns="0" anchor="ctr">
            <a:noAutofit/>
          </a:bodyPr>
          <a:p>
            <a:pPr algn="ctr">
              <a:lnSpc>
                <a:spcPct val="80000"/>
              </a:lnSpc>
            </a:pPr>
            <a:r>
              <a:rPr b="1" lang="en-US" sz="3600" spc="-1" strike="noStrike">
                <a:solidFill>
                  <a:srgbClr val="ffffff"/>
                </a:solidFill>
                <a:latin typeface="Quattrocento Sans"/>
                <a:ea typeface="Quattrocento Sans"/>
              </a:rPr>
              <a:t>96.6%</a:t>
            </a:r>
            <a:endParaRPr b="0" lang="it-IT" sz="3600" spc="-1" strike="noStrike">
              <a:solidFill>
                <a:srgbClr val="000000"/>
              </a:solidFill>
              <a:latin typeface="Arial"/>
            </a:endParaRPr>
          </a:p>
        </p:txBody>
      </p:sp>
    </p:spTree>
  </p:cSld>
  <p:transition>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9"/>
        </a:solidFill>
      </p:bgPr>
    </p:bg>
    <p:spTree>
      <p:nvGrpSpPr>
        <p:cNvPr id="1" name=""/>
        <p:cNvGrpSpPr/>
        <p:nvPr/>
      </p:nvGrpSpPr>
      <p:grpSpPr>
        <a:xfrm>
          <a:off x="0" y="0"/>
          <a:ext cx="0" cy="0"/>
          <a:chOff x="0" y="0"/>
          <a:chExt cx="0" cy="0"/>
        </a:xfrm>
      </p:grpSpPr>
      <p:sp>
        <p:nvSpPr>
          <p:cNvPr id="465" name="Image 0"/>
          <p:cNvSpPr/>
          <p:nvPr/>
        </p:nvSpPr>
        <p:spPr>
          <a:xfrm>
            <a:off x="0" y="0"/>
            <a:ext cx="12191760" cy="6857640"/>
          </a:xfrm>
          <a:prstGeom prst="roundRect">
            <a:avLst>
              <a:gd name="adj" fmla="val 0"/>
            </a:avLst>
          </a:prstGeom>
          <a:blipFill rotWithShape="0">
            <a:blip r:embed="rId1">
              <a:alphaModFix amt="15000"/>
            </a:blip>
            <a:srcRect/>
            <a:stretch/>
          </a:blip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66" name="Shape 0"/>
          <p:cNvSpPr/>
          <p:nvPr/>
        </p:nvSpPr>
        <p:spPr>
          <a:xfrm>
            <a:off x="0" y="0"/>
            <a:ext cx="12191760" cy="6857640"/>
          </a:xfrm>
          <a:custGeom>
            <a:avLst/>
            <a:gdLst>
              <a:gd name="textAreaLeft" fmla="*/ 0 w 12191760"/>
              <a:gd name="textAreaRight" fmla="*/ 12192120 w 12191760"/>
              <a:gd name="textAreaTop" fmla="*/ 0 h 6857640"/>
              <a:gd name="textAreaBottom" fmla="*/ 6858000 h 6857640"/>
            </a:gdLst>
            <a:ahLst/>
            <a:rect l="textAreaLeft" t="textAreaTop" r="textAreaRight" b="textAreaBottom"/>
            <a:pathLst>
              <a:path w="12192000" h="6858000">
                <a:moveTo>
                  <a:pt x="0" y="0"/>
                </a:moveTo>
                <a:lnTo>
                  <a:pt x="12192000" y="0"/>
                </a:lnTo>
                <a:lnTo>
                  <a:pt x="12192000" y="6858000"/>
                </a:lnTo>
                <a:lnTo>
                  <a:pt x="0" y="6858000"/>
                </a:lnTo>
                <a:lnTo>
                  <a:pt x="0" y="0"/>
                </a:lnTo>
                <a:close/>
              </a:path>
            </a:pathLst>
          </a:custGeom>
          <a:gradFill rotWithShape="0">
            <a:gsLst>
              <a:gs pos="0">
                <a:srgbClr val="2e3440">
                  <a:alpha val="95000"/>
                </a:srgbClr>
              </a:gs>
              <a:gs pos="50000">
                <a:srgbClr val="5e81ac">
                  <a:alpha val="80000"/>
                </a:srgbClr>
              </a:gs>
              <a:gs pos="100000">
                <a:srgbClr val="88c0d0">
                  <a:alpha val="70000"/>
                </a:srgbClr>
              </a:gs>
            </a:gsLst>
            <a:lin ang="2700000"/>
          </a:gra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67" name="Shape 1"/>
          <p:cNvSpPr/>
          <p:nvPr/>
        </p:nvSpPr>
        <p:spPr>
          <a:xfrm>
            <a:off x="5503680" y="820080"/>
            <a:ext cx="1186920" cy="1186920"/>
          </a:xfrm>
          <a:custGeom>
            <a:avLst/>
            <a:gdLst>
              <a:gd name="textAreaLeft" fmla="*/ 0 w 1186920"/>
              <a:gd name="textAreaRight" fmla="*/ 1187280 w 1186920"/>
              <a:gd name="textAreaTop" fmla="*/ 0 h 1186920"/>
              <a:gd name="textAreaBottom" fmla="*/ 1187280 h 1186920"/>
            </a:gdLst>
            <a:ahLst/>
            <a:rect l="textAreaLeft" t="textAreaTop" r="textAreaRight" b="textAreaBottom"/>
            <a:pathLst>
              <a:path w="1187161" h="1187161">
                <a:moveTo>
                  <a:pt x="593581" y="0"/>
                </a:moveTo>
                <a:lnTo>
                  <a:pt x="593581" y="0"/>
                </a:lnTo>
                <a:cubicBezTo>
                  <a:pt x="921187" y="0"/>
                  <a:pt x="1187161" y="265975"/>
                  <a:pt x="1187161" y="593581"/>
                </a:cubicBezTo>
                <a:lnTo>
                  <a:pt x="1187161" y="593581"/>
                </a:lnTo>
                <a:cubicBezTo>
                  <a:pt x="1187161" y="921187"/>
                  <a:pt x="921187" y="1187161"/>
                  <a:pt x="593581" y="1187161"/>
                </a:cubicBezTo>
                <a:lnTo>
                  <a:pt x="593581" y="1187161"/>
                </a:lnTo>
                <a:cubicBezTo>
                  <a:pt x="265975" y="1187161"/>
                  <a:pt x="0" y="921187"/>
                  <a:pt x="0" y="593581"/>
                </a:cubicBezTo>
                <a:lnTo>
                  <a:pt x="0" y="593581"/>
                </a:lnTo>
                <a:cubicBezTo>
                  <a:pt x="0" y="265975"/>
                  <a:pt x="265975" y="0"/>
                  <a:pt x="593581" y="0"/>
                </a:cubicBezTo>
                <a:close/>
              </a:path>
            </a:pathLst>
          </a:custGeom>
          <a:solidFill>
            <a:srgbClr val="88c0d0">
              <a:alpha val="30000"/>
            </a:srgbClr>
          </a:solidFill>
          <a:ln w="46182">
            <a:solidFill>
              <a:srgbClr val="88c0d0">
                <a:alpha val="5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68" name="Shape 2"/>
          <p:cNvSpPr/>
          <p:nvPr/>
        </p:nvSpPr>
        <p:spPr>
          <a:xfrm>
            <a:off x="5774400" y="1126440"/>
            <a:ext cx="642600" cy="571320"/>
          </a:xfrm>
          <a:custGeom>
            <a:avLst/>
            <a:gdLst>
              <a:gd name="textAreaLeft" fmla="*/ 0 w 642600"/>
              <a:gd name="textAreaRight" fmla="*/ 642960 w 642600"/>
              <a:gd name="textAreaTop" fmla="*/ 0 h 571320"/>
              <a:gd name="textAreaBottom" fmla="*/ 571680 h 571320"/>
            </a:gdLst>
            <a:ahLst/>
            <a:rect l="textAreaLeft" t="textAreaTop" r="textAreaRight" b="textAreaBottom"/>
            <a:pathLst>
              <a:path w="642938" h="571500">
                <a:moveTo>
                  <a:pt x="428625" y="160734"/>
                </a:moveTo>
                <a:cubicBezTo>
                  <a:pt x="428625" y="269230"/>
                  <a:pt x="332631" y="357188"/>
                  <a:pt x="214313" y="357188"/>
                </a:cubicBezTo>
                <a:cubicBezTo>
                  <a:pt x="184510" y="357188"/>
                  <a:pt x="156158" y="351606"/>
                  <a:pt x="130373" y="341561"/>
                </a:cubicBezTo>
                <a:lnTo>
                  <a:pt x="39291" y="389781"/>
                </a:lnTo>
                <a:cubicBezTo>
                  <a:pt x="28910" y="395250"/>
                  <a:pt x="16185" y="393353"/>
                  <a:pt x="7813" y="385093"/>
                </a:cubicBezTo>
                <a:cubicBezTo>
                  <a:pt x="-558" y="376833"/>
                  <a:pt x="-2456" y="363996"/>
                  <a:pt x="3125" y="353616"/>
                </a:cubicBezTo>
                <a:lnTo>
                  <a:pt x="42863" y="278606"/>
                </a:lnTo>
                <a:cubicBezTo>
                  <a:pt x="15962" y="245790"/>
                  <a:pt x="0" y="204936"/>
                  <a:pt x="0" y="160734"/>
                </a:cubicBezTo>
                <a:cubicBezTo>
                  <a:pt x="0" y="52239"/>
                  <a:pt x="95994" y="-35719"/>
                  <a:pt x="214313" y="-35719"/>
                </a:cubicBezTo>
                <a:cubicBezTo>
                  <a:pt x="332631" y="-35719"/>
                  <a:pt x="428625" y="52239"/>
                  <a:pt x="428625" y="160734"/>
                </a:cubicBezTo>
                <a:close/>
                <a:moveTo>
                  <a:pt x="428625" y="571500"/>
                </a:moveTo>
                <a:cubicBezTo>
                  <a:pt x="323590" y="571500"/>
                  <a:pt x="236190" y="502183"/>
                  <a:pt x="217884" y="410766"/>
                </a:cubicBezTo>
                <a:cubicBezTo>
                  <a:pt x="351830" y="409091"/>
                  <a:pt x="468250" y="313767"/>
                  <a:pt x="481087" y="184510"/>
                </a:cubicBezTo>
                <a:cubicBezTo>
                  <a:pt x="574067" y="205941"/>
                  <a:pt x="642938" y="283071"/>
                  <a:pt x="642938" y="375047"/>
                </a:cubicBezTo>
                <a:cubicBezTo>
                  <a:pt x="642938" y="419249"/>
                  <a:pt x="626976" y="460102"/>
                  <a:pt x="600075" y="492919"/>
                </a:cubicBezTo>
                <a:lnTo>
                  <a:pt x="639812" y="567928"/>
                </a:lnTo>
                <a:cubicBezTo>
                  <a:pt x="645282" y="578309"/>
                  <a:pt x="643384" y="591034"/>
                  <a:pt x="635124" y="599405"/>
                </a:cubicBezTo>
                <a:cubicBezTo>
                  <a:pt x="626864" y="607777"/>
                  <a:pt x="614028" y="609674"/>
                  <a:pt x="603647" y="604093"/>
                </a:cubicBezTo>
                <a:lnTo>
                  <a:pt x="512564" y="555873"/>
                </a:lnTo>
                <a:cubicBezTo>
                  <a:pt x="486780" y="565919"/>
                  <a:pt x="458428" y="571500"/>
                  <a:pt x="428625" y="571500"/>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69" name="Text 3"/>
          <p:cNvSpPr/>
          <p:nvPr/>
        </p:nvSpPr>
        <p:spPr>
          <a:xfrm>
            <a:off x="2476440" y="2326680"/>
            <a:ext cx="7238520" cy="685440"/>
          </a:xfrm>
          <a:prstGeom prst="rect">
            <a:avLst/>
          </a:prstGeom>
          <a:noFill/>
          <a:ln w="0">
            <a:noFill/>
          </a:ln>
        </p:spPr>
        <p:style>
          <a:lnRef idx="0"/>
          <a:fillRef idx="0"/>
          <a:effectRef idx="0"/>
          <a:fontRef idx="minor"/>
        </p:style>
        <p:txBody>
          <a:bodyPr lIns="0" rIns="0" tIns="0" bIns="0" anchor="ctr">
            <a:noAutofit/>
          </a:bodyPr>
          <a:p>
            <a:pPr algn="ctr">
              <a:lnSpc>
                <a:spcPct val="80000"/>
              </a:lnSpc>
            </a:pPr>
            <a:r>
              <a:rPr b="1" lang="en-US" sz="5400" spc="-1" strike="noStrike">
                <a:solidFill>
                  <a:srgbClr val="eceff4"/>
                </a:solidFill>
                <a:latin typeface="Hedvig Letters Sans"/>
                <a:ea typeface="Hedvig Letters Sans"/>
              </a:rPr>
              <a:t>Grazie per l'attenzione</a:t>
            </a:r>
            <a:endParaRPr b="0" lang="it-IT" sz="5400" spc="-1" strike="noStrike">
              <a:solidFill>
                <a:srgbClr val="000000"/>
              </a:solidFill>
              <a:latin typeface="Arial"/>
            </a:endParaRPr>
          </a:p>
        </p:txBody>
      </p:sp>
      <p:sp>
        <p:nvSpPr>
          <p:cNvPr id="470" name="Shape 4"/>
          <p:cNvSpPr/>
          <p:nvPr/>
        </p:nvSpPr>
        <p:spPr>
          <a:xfrm>
            <a:off x="5486400" y="3241080"/>
            <a:ext cx="1218960" cy="75960"/>
          </a:xfrm>
          <a:custGeom>
            <a:avLst/>
            <a:gdLst>
              <a:gd name="textAreaLeft" fmla="*/ 0 w 1218960"/>
              <a:gd name="textAreaRight" fmla="*/ 1219320 w 1218960"/>
              <a:gd name="textAreaTop" fmla="*/ 0 h 75960"/>
              <a:gd name="textAreaBottom" fmla="*/ 76320 h 75960"/>
            </a:gdLst>
            <a:ahLst/>
            <a:rect l="textAreaLeft" t="textAreaTop" r="textAreaRight" b="textAreaBottom"/>
            <a:pathLst>
              <a:path w="1219200" h="76200">
                <a:moveTo>
                  <a:pt x="0" y="0"/>
                </a:moveTo>
                <a:lnTo>
                  <a:pt x="1219200" y="0"/>
                </a:lnTo>
                <a:lnTo>
                  <a:pt x="1219200" y="76200"/>
                </a:lnTo>
                <a:lnTo>
                  <a:pt x="0" y="76200"/>
                </a:lnTo>
                <a:lnTo>
                  <a:pt x="0" y="0"/>
                </a:lnTo>
                <a:close/>
              </a:path>
            </a:pathLst>
          </a:custGeom>
          <a:solidFill>
            <a:srgbClr val="88c0d0"/>
          </a:solidFill>
          <a:ln w="0">
            <a:noFill/>
          </a:ln>
        </p:spPr>
        <p:style>
          <a:lnRef idx="0"/>
          <a:fillRef idx="0"/>
          <a:effectRef idx="0"/>
          <a:fontRef idx="minor"/>
        </p:style>
        <p:txBody>
          <a:bodyPr lIns="90000" rIns="90000" tIns="31320" bIns="31320" anchor="t">
            <a:noAutofit/>
          </a:bodyPr>
          <a:p>
            <a:endParaRPr b="0" lang="it-IT" sz="1800" spc="-1" strike="noStrike">
              <a:solidFill>
                <a:srgbClr val="000000"/>
              </a:solidFill>
              <a:latin typeface="Arial"/>
            </a:endParaRPr>
          </a:p>
        </p:txBody>
      </p:sp>
      <p:sp>
        <p:nvSpPr>
          <p:cNvPr id="471" name="Text 5"/>
          <p:cNvSpPr/>
          <p:nvPr/>
        </p:nvSpPr>
        <p:spPr>
          <a:xfrm>
            <a:off x="2562480" y="3621960"/>
            <a:ext cx="7067160" cy="380520"/>
          </a:xfrm>
          <a:prstGeom prst="rect">
            <a:avLst/>
          </a:prstGeom>
          <a:noFill/>
          <a:ln w="0">
            <a:noFill/>
          </a:ln>
        </p:spPr>
        <p:style>
          <a:lnRef idx="0"/>
          <a:fillRef idx="0"/>
          <a:effectRef idx="0"/>
          <a:fontRef idx="minor"/>
        </p:style>
        <p:txBody>
          <a:bodyPr lIns="0" rIns="0" tIns="0" bIns="0" anchor="ctr">
            <a:noAutofit/>
          </a:bodyPr>
          <a:p>
            <a:pPr algn="ctr">
              <a:lnSpc>
                <a:spcPct val="90000"/>
              </a:lnSpc>
            </a:pPr>
            <a:r>
              <a:rPr b="1" lang="en-US" sz="2700" spc="-1" strike="noStrike">
                <a:solidFill>
                  <a:srgbClr val="eceff4">
                    <a:alpha val="90000"/>
                  </a:srgbClr>
                </a:solidFill>
                <a:latin typeface="Quattrocento Sans"/>
                <a:ea typeface="Quattrocento Sans"/>
              </a:rPr>
              <a:t>Domande?</a:t>
            </a:r>
            <a:endParaRPr b="0" lang="it-IT" sz="2700" spc="-1" strike="noStrike">
              <a:solidFill>
                <a:srgbClr val="000000"/>
              </a:solidFill>
              <a:latin typeface="Arial"/>
            </a:endParaRPr>
          </a:p>
        </p:txBody>
      </p:sp>
      <p:sp>
        <p:nvSpPr>
          <p:cNvPr id="472" name="Shape 6"/>
          <p:cNvSpPr/>
          <p:nvPr/>
        </p:nvSpPr>
        <p:spPr>
          <a:xfrm>
            <a:off x="2370600" y="4768560"/>
            <a:ext cx="2273400" cy="1283040"/>
          </a:xfrm>
          <a:custGeom>
            <a:avLst/>
            <a:gdLst>
              <a:gd name="textAreaLeft" fmla="*/ 0 w 2273400"/>
              <a:gd name="textAreaRight" fmla="*/ 2273760 w 2273400"/>
              <a:gd name="textAreaTop" fmla="*/ 0 h 1283040"/>
              <a:gd name="textAreaBottom" fmla="*/ 1283400 h 1283040"/>
            </a:gdLst>
            <a:ahLst/>
            <a:rect l="textAreaLeft" t="textAreaTop" r="textAreaRight" b="textAreaBottom"/>
            <a:pathLst>
              <a:path w="2273877" h="1283277">
                <a:moveTo>
                  <a:pt x="76201" y="0"/>
                </a:moveTo>
                <a:lnTo>
                  <a:pt x="2197676" y="0"/>
                </a:lnTo>
                <a:cubicBezTo>
                  <a:pt x="2239761" y="0"/>
                  <a:pt x="2273877" y="34116"/>
                  <a:pt x="2273877" y="76201"/>
                </a:cubicBezTo>
                <a:lnTo>
                  <a:pt x="2273877" y="1207076"/>
                </a:lnTo>
                <a:cubicBezTo>
                  <a:pt x="2273877" y="1249161"/>
                  <a:pt x="2239761" y="1283277"/>
                  <a:pt x="2197676" y="1283277"/>
                </a:cubicBezTo>
                <a:lnTo>
                  <a:pt x="76201" y="1283277"/>
                </a:lnTo>
                <a:cubicBezTo>
                  <a:pt x="34145" y="1283277"/>
                  <a:pt x="0" y="1249133"/>
                  <a:pt x="0" y="1207076"/>
                </a:cubicBezTo>
                <a:lnTo>
                  <a:pt x="0" y="76201"/>
                </a:lnTo>
                <a:cubicBezTo>
                  <a:pt x="0" y="34145"/>
                  <a:pt x="34145" y="0"/>
                  <a:pt x="76201" y="0"/>
                </a:cubicBezTo>
                <a:close/>
              </a:path>
            </a:pathLst>
          </a:custGeom>
          <a:solidFill>
            <a:srgbClr val="eceff4">
              <a:alpha val="10000"/>
            </a:srgbClr>
          </a:solidFill>
          <a:ln w="9236">
            <a:solidFill>
              <a:srgbClr val="eceff4">
                <a:alpha val="2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73" name="Shape 7"/>
          <p:cNvSpPr/>
          <p:nvPr/>
        </p:nvSpPr>
        <p:spPr>
          <a:xfrm>
            <a:off x="3367800" y="4962600"/>
            <a:ext cx="285480" cy="285480"/>
          </a:xfrm>
          <a:custGeom>
            <a:avLst/>
            <a:gdLst>
              <a:gd name="textAreaLeft" fmla="*/ 0 w 285480"/>
              <a:gd name="textAreaRight" fmla="*/ 285840 w 285480"/>
              <a:gd name="textAreaTop" fmla="*/ 0 h 285480"/>
              <a:gd name="textAreaBottom" fmla="*/ 285840 h 285480"/>
            </a:gdLst>
            <a:ahLst/>
            <a:rect l="textAreaLeft" t="textAreaTop" r="textAreaRight" b="textAreaBottom"/>
            <a:pathLst>
              <a:path w="285750" h="285750">
                <a:moveTo>
                  <a:pt x="26789" y="35719"/>
                </a:moveTo>
                <a:cubicBezTo>
                  <a:pt x="11999" y="35719"/>
                  <a:pt x="0" y="47718"/>
                  <a:pt x="0" y="62508"/>
                </a:cubicBezTo>
                <a:cubicBezTo>
                  <a:pt x="0" y="70935"/>
                  <a:pt x="3963" y="78860"/>
                  <a:pt x="10716" y="83939"/>
                </a:cubicBezTo>
                <a:lnTo>
                  <a:pt x="126802" y="171004"/>
                </a:lnTo>
                <a:cubicBezTo>
                  <a:pt x="136345" y="178147"/>
                  <a:pt x="149405" y="178147"/>
                  <a:pt x="158948" y="171004"/>
                </a:cubicBezTo>
                <a:lnTo>
                  <a:pt x="275034" y="83939"/>
                </a:lnTo>
                <a:cubicBezTo>
                  <a:pt x="281787" y="78860"/>
                  <a:pt x="285750" y="70935"/>
                  <a:pt x="285750" y="62508"/>
                </a:cubicBezTo>
                <a:cubicBezTo>
                  <a:pt x="285750" y="47718"/>
                  <a:pt x="273751" y="35719"/>
                  <a:pt x="258961" y="35719"/>
                </a:cubicBezTo>
                <a:lnTo>
                  <a:pt x="26789" y="35719"/>
                </a:lnTo>
                <a:close/>
                <a:moveTo>
                  <a:pt x="0" y="109389"/>
                </a:moveTo>
                <a:lnTo>
                  <a:pt x="0" y="214313"/>
                </a:lnTo>
                <a:cubicBezTo>
                  <a:pt x="0" y="234014"/>
                  <a:pt x="16018" y="250031"/>
                  <a:pt x="35719" y="250031"/>
                </a:cubicBezTo>
                <a:lnTo>
                  <a:pt x="250031" y="250031"/>
                </a:lnTo>
                <a:cubicBezTo>
                  <a:pt x="269732" y="250031"/>
                  <a:pt x="285750" y="234014"/>
                  <a:pt x="285750" y="214313"/>
                </a:cubicBezTo>
                <a:lnTo>
                  <a:pt x="285750" y="109389"/>
                </a:lnTo>
                <a:lnTo>
                  <a:pt x="175022" y="192435"/>
                </a:lnTo>
                <a:cubicBezTo>
                  <a:pt x="155990" y="206722"/>
                  <a:pt x="129760" y="206722"/>
                  <a:pt x="110728" y="192435"/>
                </a:cubicBezTo>
                <a:lnTo>
                  <a:pt x="0" y="109389"/>
                </a:ln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74" name="Text 8"/>
          <p:cNvSpPr/>
          <p:nvPr/>
        </p:nvSpPr>
        <p:spPr>
          <a:xfrm>
            <a:off x="2526480" y="5254560"/>
            <a:ext cx="196164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eceff4">
                    <a:alpha val="80000"/>
                  </a:srgbClr>
                </a:solidFill>
                <a:latin typeface="Quattrocento Sans"/>
                <a:ea typeface="Quattrocento Sans"/>
              </a:rPr>
              <a:t>Email</a:t>
            </a:r>
            <a:endParaRPr b="0" lang="it-IT" sz="1200" spc="-1" strike="noStrike">
              <a:solidFill>
                <a:srgbClr val="000000"/>
              </a:solidFill>
              <a:latin typeface="Arial"/>
            </a:endParaRPr>
          </a:p>
        </p:txBody>
      </p:sp>
      <p:sp>
        <p:nvSpPr>
          <p:cNvPr id="475" name="Text 9"/>
          <p:cNvSpPr/>
          <p:nvPr/>
        </p:nvSpPr>
        <p:spPr>
          <a:xfrm>
            <a:off x="2521800" y="5591160"/>
            <a:ext cx="1971360" cy="26640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1" lang="en-US" sz="1350" spc="-1" strike="noStrike">
                <a:solidFill>
                  <a:srgbClr val="eceff4"/>
                </a:solidFill>
                <a:latin typeface="Quattrocento Sans"/>
                <a:ea typeface="Quattrocento Sans"/>
              </a:rPr>
              <a:t>imene.fadhlI@unifi.edu.it</a:t>
            </a:r>
            <a:endParaRPr b="0" lang="it-IT" sz="1350" spc="-1" strike="noStrike">
              <a:solidFill>
                <a:srgbClr val="000000"/>
              </a:solidFill>
              <a:latin typeface="Arial"/>
            </a:endParaRPr>
          </a:p>
        </p:txBody>
      </p:sp>
      <p:sp>
        <p:nvSpPr>
          <p:cNvPr id="476" name="Shape 10"/>
          <p:cNvSpPr/>
          <p:nvPr/>
        </p:nvSpPr>
        <p:spPr>
          <a:xfrm>
            <a:off x="4957920" y="4768560"/>
            <a:ext cx="2273400" cy="1283040"/>
          </a:xfrm>
          <a:custGeom>
            <a:avLst/>
            <a:gdLst>
              <a:gd name="textAreaLeft" fmla="*/ 0 w 2273400"/>
              <a:gd name="textAreaRight" fmla="*/ 2273760 w 2273400"/>
              <a:gd name="textAreaTop" fmla="*/ 0 h 1283040"/>
              <a:gd name="textAreaBottom" fmla="*/ 1283400 h 1283040"/>
            </a:gdLst>
            <a:ahLst/>
            <a:rect l="textAreaLeft" t="textAreaTop" r="textAreaRight" b="textAreaBottom"/>
            <a:pathLst>
              <a:path w="2273877" h="1283277">
                <a:moveTo>
                  <a:pt x="76201" y="0"/>
                </a:moveTo>
                <a:lnTo>
                  <a:pt x="2197676" y="0"/>
                </a:lnTo>
                <a:cubicBezTo>
                  <a:pt x="2239761" y="0"/>
                  <a:pt x="2273877" y="34116"/>
                  <a:pt x="2273877" y="76201"/>
                </a:cubicBezTo>
                <a:lnTo>
                  <a:pt x="2273877" y="1207076"/>
                </a:lnTo>
                <a:cubicBezTo>
                  <a:pt x="2273877" y="1249161"/>
                  <a:pt x="2239761" y="1283277"/>
                  <a:pt x="2197676" y="1283277"/>
                </a:cubicBezTo>
                <a:lnTo>
                  <a:pt x="76201" y="1283277"/>
                </a:lnTo>
                <a:cubicBezTo>
                  <a:pt x="34145" y="1283277"/>
                  <a:pt x="0" y="1249133"/>
                  <a:pt x="0" y="1207076"/>
                </a:cubicBezTo>
                <a:lnTo>
                  <a:pt x="0" y="76201"/>
                </a:lnTo>
                <a:cubicBezTo>
                  <a:pt x="0" y="34145"/>
                  <a:pt x="34145" y="0"/>
                  <a:pt x="76201" y="0"/>
                </a:cubicBezTo>
                <a:close/>
              </a:path>
            </a:pathLst>
          </a:custGeom>
          <a:solidFill>
            <a:srgbClr val="eceff4">
              <a:alpha val="10000"/>
            </a:srgbClr>
          </a:solidFill>
          <a:ln w="9236">
            <a:solidFill>
              <a:srgbClr val="eceff4">
                <a:alpha val="2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77" name="Shape 11"/>
          <p:cNvSpPr/>
          <p:nvPr/>
        </p:nvSpPr>
        <p:spPr>
          <a:xfrm>
            <a:off x="5973480" y="4962600"/>
            <a:ext cx="249840" cy="285480"/>
          </a:xfrm>
          <a:custGeom>
            <a:avLst/>
            <a:gdLst>
              <a:gd name="textAreaLeft" fmla="*/ 0 w 249840"/>
              <a:gd name="textAreaRight" fmla="*/ 250200 w 249840"/>
              <a:gd name="textAreaTop" fmla="*/ 0 h 285480"/>
              <a:gd name="textAreaBottom" fmla="*/ 285840 h 285480"/>
            </a:gdLst>
            <a:ahLst/>
            <a:rect l="textAreaLeft" t="textAreaTop" r="textAreaRight" b="textAreaBottom"/>
            <a:pathLst>
              <a:path w="250031" h="285750">
                <a:moveTo>
                  <a:pt x="71438" y="0"/>
                </a:moveTo>
                <a:cubicBezTo>
                  <a:pt x="61559" y="0"/>
                  <a:pt x="53578" y="7981"/>
                  <a:pt x="53578" y="17859"/>
                </a:cubicBezTo>
                <a:lnTo>
                  <a:pt x="53578" y="35719"/>
                </a:lnTo>
                <a:lnTo>
                  <a:pt x="35719" y="35719"/>
                </a:lnTo>
                <a:cubicBezTo>
                  <a:pt x="16018" y="35719"/>
                  <a:pt x="0" y="51736"/>
                  <a:pt x="0" y="71438"/>
                </a:cubicBezTo>
                <a:lnTo>
                  <a:pt x="0" y="98227"/>
                </a:lnTo>
                <a:lnTo>
                  <a:pt x="250031" y="98227"/>
                </a:lnTo>
                <a:lnTo>
                  <a:pt x="250031" y="71438"/>
                </a:lnTo>
                <a:cubicBezTo>
                  <a:pt x="250031" y="51736"/>
                  <a:pt x="234014" y="35719"/>
                  <a:pt x="214313" y="35719"/>
                </a:cubicBezTo>
                <a:lnTo>
                  <a:pt x="196453" y="35719"/>
                </a:lnTo>
                <a:lnTo>
                  <a:pt x="196453" y="17859"/>
                </a:lnTo>
                <a:cubicBezTo>
                  <a:pt x="196453" y="7981"/>
                  <a:pt x="188472" y="0"/>
                  <a:pt x="178594" y="0"/>
                </a:cubicBezTo>
                <a:cubicBezTo>
                  <a:pt x="168715" y="0"/>
                  <a:pt x="160734" y="7981"/>
                  <a:pt x="160734" y="17859"/>
                </a:cubicBezTo>
                <a:lnTo>
                  <a:pt x="160734" y="35719"/>
                </a:lnTo>
                <a:lnTo>
                  <a:pt x="89297" y="35719"/>
                </a:lnTo>
                <a:lnTo>
                  <a:pt x="89297" y="17859"/>
                </a:lnTo>
                <a:cubicBezTo>
                  <a:pt x="89297" y="7981"/>
                  <a:pt x="81316" y="0"/>
                  <a:pt x="71438" y="0"/>
                </a:cubicBezTo>
                <a:close/>
                <a:moveTo>
                  <a:pt x="0" y="125016"/>
                </a:moveTo>
                <a:lnTo>
                  <a:pt x="0" y="232172"/>
                </a:lnTo>
                <a:cubicBezTo>
                  <a:pt x="0" y="251873"/>
                  <a:pt x="16018" y="267891"/>
                  <a:pt x="35719" y="267891"/>
                </a:cubicBezTo>
                <a:lnTo>
                  <a:pt x="214313" y="267891"/>
                </a:lnTo>
                <a:cubicBezTo>
                  <a:pt x="234014" y="267891"/>
                  <a:pt x="250031" y="251873"/>
                  <a:pt x="250031" y="232172"/>
                </a:cubicBezTo>
                <a:lnTo>
                  <a:pt x="250031" y="125016"/>
                </a:lnTo>
                <a:lnTo>
                  <a:pt x="0" y="125016"/>
                </a:ln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78" name="Text 12"/>
          <p:cNvSpPr/>
          <p:nvPr/>
        </p:nvSpPr>
        <p:spPr>
          <a:xfrm>
            <a:off x="5113800" y="5254560"/>
            <a:ext cx="196164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eceff4">
                    <a:alpha val="80000"/>
                  </a:srgbClr>
                </a:solidFill>
                <a:latin typeface="Quattrocento Sans"/>
                <a:ea typeface="Quattrocento Sans"/>
              </a:rPr>
              <a:t>Data</a:t>
            </a:r>
            <a:endParaRPr b="0" lang="it-IT" sz="1200" spc="-1" strike="noStrike">
              <a:solidFill>
                <a:srgbClr val="000000"/>
              </a:solidFill>
              <a:latin typeface="Arial"/>
            </a:endParaRPr>
          </a:p>
        </p:txBody>
      </p:sp>
      <p:sp>
        <p:nvSpPr>
          <p:cNvPr id="479" name="Text 13"/>
          <p:cNvSpPr/>
          <p:nvPr/>
        </p:nvSpPr>
        <p:spPr>
          <a:xfrm>
            <a:off x="5109120" y="5591160"/>
            <a:ext cx="1971360" cy="26640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1" lang="en-US" sz="1350" spc="-1" strike="noStrike">
                <a:solidFill>
                  <a:srgbClr val="eceff4"/>
                </a:solidFill>
                <a:latin typeface="Quattrocento Sans"/>
                <a:ea typeface="Quattrocento Sans"/>
              </a:rPr>
              <a:t>20 Gennaio 2026</a:t>
            </a:r>
            <a:endParaRPr b="0" lang="it-IT" sz="1350" spc="-1" strike="noStrike">
              <a:solidFill>
                <a:srgbClr val="000000"/>
              </a:solidFill>
              <a:latin typeface="Arial"/>
            </a:endParaRPr>
          </a:p>
        </p:txBody>
      </p:sp>
      <p:sp>
        <p:nvSpPr>
          <p:cNvPr id="480" name="Shape 14"/>
          <p:cNvSpPr/>
          <p:nvPr/>
        </p:nvSpPr>
        <p:spPr>
          <a:xfrm>
            <a:off x="7545600" y="4768560"/>
            <a:ext cx="2273400" cy="1283040"/>
          </a:xfrm>
          <a:custGeom>
            <a:avLst/>
            <a:gdLst>
              <a:gd name="textAreaLeft" fmla="*/ 0 w 2273400"/>
              <a:gd name="textAreaRight" fmla="*/ 2273760 w 2273400"/>
              <a:gd name="textAreaTop" fmla="*/ 0 h 1283040"/>
              <a:gd name="textAreaBottom" fmla="*/ 1283400 h 1283040"/>
            </a:gdLst>
            <a:ahLst/>
            <a:rect l="textAreaLeft" t="textAreaTop" r="textAreaRight" b="textAreaBottom"/>
            <a:pathLst>
              <a:path w="2273877" h="1283277">
                <a:moveTo>
                  <a:pt x="76201" y="0"/>
                </a:moveTo>
                <a:lnTo>
                  <a:pt x="2197676" y="0"/>
                </a:lnTo>
                <a:cubicBezTo>
                  <a:pt x="2239761" y="0"/>
                  <a:pt x="2273877" y="34116"/>
                  <a:pt x="2273877" y="76201"/>
                </a:cubicBezTo>
                <a:lnTo>
                  <a:pt x="2273877" y="1207076"/>
                </a:lnTo>
                <a:cubicBezTo>
                  <a:pt x="2273877" y="1249161"/>
                  <a:pt x="2239761" y="1283277"/>
                  <a:pt x="2197676" y="1283277"/>
                </a:cubicBezTo>
                <a:lnTo>
                  <a:pt x="76201" y="1283277"/>
                </a:lnTo>
                <a:cubicBezTo>
                  <a:pt x="34145" y="1283277"/>
                  <a:pt x="0" y="1249133"/>
                  <a:pt x="0" y="1207076"/>
                </a:cubicBezTo>
                <a:lnTo>
                  <a:pt x="0" y="76201"/>
                </a:lnTo>
                <a:cubicBezTo>
                  <a:pt x="0" y="34145"/>
                  <a:pt x="34145" y="0"/>
                  <a:pt x="76201" y="0"/>
                </a:cubicBezTo>
                <a:close/>
              </a:path>
            </a:pathLst>
          </a:custGeom>
          <a:solidFill>
            <a:srgbClr val="eceff4">
              <a:alpha val="10000"/>
            </a:srgbClr>
          </a:solidFill>
          <a:ln w="9236">
            <a:solidFill>
              <a:srgbClr val="eceff4">
                <a:alpha val="20000"/>
              </a:srgbClr>
            </a:solidFill>
            <a:round/>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81" name="Shape 15"/>
          <p:cNvSpPr/>
          <p:nvPr/>
        </p:nvSpPr>
        <p:spPr>
          <a:xfrm>
            <a:off x="8525160" y="4962600"/>
            <a:ext cx="321120" cy="285480"/>
          </a:xfrm>
          <a:custGeom>
            <a:avLst/>
            <a:gdLst>
              <a:gd name="textAreaLeft" fmla="*/ 0 w 321120"/>
              <a:gd name="textAreaRight" fmla="*/ 321480 w 321120"/>
              <a:gd name="textAreaTop" fmla="*/ 0 h 285480"/>
              <a:gd name="textAreaBottom" fmla="*/ 285840 h 285480"/>
            </a:gdLst>
            <a:ahLst/>
            <a:rect l="textAreaLeft" t="textAreaTop" r="textAreaRight" b="textAreaBottom"/>
            <a:pathLst>
              <a:path w="321469" h="285750">
                <a:moveTo>
                  <a:pt x="201364" y="670"/>
                </a:moveTo>
                <a:cubicBezTo>
                  <a:pt x="191877" y="-2065"/>
                  <a:pt x="181998" y="3460"/>
                  <a:pt x="179263" y="12948"/>
                </a:cubicBezTo>
                <a:lnTo>
                  <a:pt x="107826" y="262979"/>
                </a:lnTo>
                <a:cubicBezTo>
                  <a:pt x="105091" y="272467"/>
                  <a:pt x="110617" y="282346"/>
                  <a:pt x="120104" y="285080"/>
                </a:cubicBezTo>
                <a:cubicBezTo>
                  <a:pt x="129592" y="287815"/>
                  <a:pt x="139471" y="282290"/>
                  <a:pt x="142205" y="272802"/>
                </a:cubicBezTo>
                <a:lnTo>
                  <a:pt x="213643" y="22771"/>
                </a:lnTo>
                <a:cubicBezTo>
                  <a:pt x="216377" y="13283"/>
                  <a:pt x="210852" y="3404"/>
                  <a:pt x="201364" y="670"/>
                </a:cubicBezTo>
                <a:close/>
                <a:moveTo>
                  <a:pt x="237418" y="76628"/>
                </a:moveTo>
                <a:cubicBezTo>
                  <a:pt x="230442" y="83604"/>
                  <a:pt x="230442" y="94934"/>
                  <a:pt x="237418" y="101910"/>
                </a:cubicBezTo>
                <a:lnTo>
                  <a:pt x="278383" y="142875"/>
                </a:lnTo>
                <a:lnTo>
                  <a:pt x="237418" y="183840"/>
                </a:lnTo>
                <a:cubicBezTo>
                  <a:pt x="230442" y="190816"/>
                  <a:pt x="230442" y="202146"/>
                  <a:pt x="237418" y="209122"/>
                </a:cubicBezTo>
                <a:cubicBezTo>
                  <a:pt x="244394" y="216098"/>
                  <a:pt x="255724" y="216098"/>
                  <a:pt x="262700" y="209122"/>
                </a:cubicBezTo>
                <a:lnTo>
                  <a:pt x="316278" y="155544"/>
                </a:lnTo>
                <a:cubicBezTo>
                  <a:pt x="323255" y="148568"/>
                  <a:pt x="323255" y="137238"/>
                  <a:pt x="316278" y="130262"/>
                </a:cubicBezTo>
                <a:lnTo>
                  <a:pt x="262700" y="76684"/>
                </a:lnTo>
                <a:cubicBezTo>
                  <a:pt x="255724" y="69707"/>
                  <a:pt x="244394" y="69707"/>
                  <a:pt x="237418" y="76684"/>
                </a:cubicBezTo>
                <a:close/>
                <a:moveTo>
                  <a:pt x="84106" y="76628"/>
                </a:moveTo>
                <a:cubicBezTo>
                  <a:pt x="77130" y="69652"/>
                  <a:pt x="65801" y="69652"/>
                  <a:pt x="58824" y="76628"/>
                </a:cubicBezTo>
                <a:lnTo>
                  <a:pt x="5246" y="130206"/>
                </a:lnTo>
                <a:cubicBezTo>
                  <a:pt x="-1730" y="137182"/>
                  <a:pt x="-1730" y="148512"/>
                  <a:pt x="5246" y="155488"/>
                </a:cubicBezTo>
                <a:lnTo>
                  <a:pt x="58824" y="209066"/>
                </a:lnTo>
                <a:cubicBezTo>
                  <a:pt x="65801" y="216043"/>
                  <a:pt x="77130" y="216043"/>
                  <a:pt x="84106" y="209066"/>
                </a:cubicBezTo>
                <a:cubicBezTo>
                  <a:pt x="91083" y="202090"/>
                  <a:pt x="91083" y="190760"/>
                  <a:pt x="84106" y="183784"/>
                </a:cubicBezTo>
                <a:lnTo>
                  <a:pt x="43142" y="142875"/>
                </a:lnTo>
                <a:lnTo>
                  <a:pt x="84051" y="101910"/>
                </a:lnTo>
                <a:cubicBezTo>
                  <a:pt x="91027" y="94934"/>
                  <a:pt x="91027" y="83604"/>
                  <a:pt x="84051" y="76628"/>
                </a:cubicBezTo>
                <a:close/>
              </a:path>
            </a:pathLst>
          </a:custGeom>
          <a:solidFill>
            <a:srgbClr val="88c0d0"/>
          </a:solidFill>
          <a:ln w="0">
            <a:noFill/>
          </a:ln>
        </p:spPr>
        <p:style>
          <a:lnRef idx="0"/>
          <a:fillRef idx="0"/>
          <a:effectRef idx="0"/>
          <a:fontRef idx="minor"/>
        </p:style>
        <p:txBody>
          <a:bodyPr lIns="90000" rIns="90000" tIns="45000" bIns="45000" anchor="t">
            <a:noAutofit/>
          </a:bodyPr>
          <a:p>
            <a:endParaRPr b="0" lang="it-IT" sz="1800" spc="-1" strike="noStrike">
              <a:solidFill>
                <a:srgbClr val="000000"/>
              </a:solidFill>
              <a:latin typeface="Arial"/>
            </a:endParaRPr>
          </a:p>
        </p:txBody>
      </p:sp>
      <p:sp>
        <p:nvSpPr>
          <p:cNvPr id="482" name="Text 16"/>
          <p:cNvSpPr/>
          <p:nvPr/>
        </p:nvSpPr>
        <p:spPr>
          <a:xfrm>
            <a:off x="7701480" y="5182560"/>
            <a:ext cx="1961640" cy="22824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0" lang="en-US" sz="1200" spc="-1" strike="noStrike">
                <a:solidFill>
                  <a:srgbClr val="eceff4">
                    <a:alpha val="80000"/>
                  </a:srgbClr>
                </a:solidFill>
                <a:latin typeface="Quattrocento Sans"/>
                <a:ea typeface="Quattrocento Sans"/>
              </a:rPr>
              <a:t>Tecnologie</a:t>
            </a:r>
            <a:endParaRPr b="0" lang="it-IT" sz="1200" spc="-1" strike="noStrike">
              <a:solidFill>
                <a:srgbClr val="000000"/>
              </a:solidFill>
              <a:latin typeface="Arial"/>
            </a:endParaRPr>
          </a:p>
        </p:txBody>
      </p:sp>
      <p:sp>
        <p:nvSpPr>
          <p:cNvPr id="483" name="Text 17"/>
          <p:cNvSpPr/>
          <p:nvPr/>
        </p:nvSpPr>
        <p:spPr>
          <a:xfrm>
            <a:off x="7696800" y="5591160"/>
            <a:ext cx="1971360" cy="266400"/>
          </a:xfrm>
          <a:prstGeom prst="rect">
            <a:avLst/>
          </a:prstGeom>
          <a:noFill/>
          <a:ln w="0">
            <a:noFill/>
          </a:ln>
        </p:spPr>
        <p:style>
          <a:lnRef idx="0"/>
          <a:fillRef idx="0"/>
          <a:effectRef idx="0"/>
          <a:fontRef idx="minor"/>
        </p:style>
        <p:txBody>
          <a:bodyPr lIns="0" rIns="0" tIns="0" bIns="0" anchor="ctr">
            <a:noAutofit/>
          </a:bodyPr>
          <a:p>
            <a:pPr algn="ctr">
              <a:lnSpc>
                <a:spcPct val="130000"/>
              </a:lnSpc>
            </a:pPr>
            <a:r>
              <a:rPr b="1" lang="en-US" sz="1350" spc="-1" strike="noStrike">
                <a:solidFill>
                  <a:srgbClr val="eceff4"/>
                </a:solidFill>
                <a:latin typeface="Quattrocento Sans"/>
                <a:ea typeface="Quattrocento Sans"/>
              </a:rPr>
              <a:t>OpenMP, SIMD, C++</a:t>
            </a:r>
            <a:endParaRPr b="0" lang="it-IT" sz="1350" spc="-1" strike="noStrike">
              <a:solidFill>
                <a:srgbClr val="000000"/>
              </a:solidFill>
              <a:latin typeface="Arial"/>
            </a:endParaRPr>
          </a:p>
        </p:txBody>
      </p:sp>
    </p:spTree>
  </p:cSld>
  <p:transition>
    <p:fade/>
  </p:transition>
</p:sld>
</file>

<file path=ppt/theme/theme1.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PPT_Plus/1.0.0.0$Windows_X86_64 LibreOffice_project/</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2026-01-24T19:51:41Z</dcterms:created>
  <dc:creator>Kimi</dc:creator>
  <dc:description/>
  <dc:language>it-IT</dc:language>
  <cp:lastModifiedBy/>
  <dcterms:modified xsi:type="dcterms:W3CDTF">2026-01-25T19:00:31Z</dcterms:modified>
  <cp:revision>12</cp:revision>
  <dc:subject>Ottimizzazione Parallela per Pattern Matching SAD</dc:subject>
  <dc:title>Ottimizzazione Parallela per Pattern Matching SAD</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{"Label":"Ottimizzazione Parallela per Pattern Matching SAD","ContentProducer":"001191110108MACG2KBH8F10000","ProduceID":"19bf1819-ca22-8459-8000-00005995eabe","ReservedCode1":"","ContentPropagator":"001191110108MACG2KBH8F20000","PropagateID":"19bf1819-ca22-8459-8000-00005995eabe","ReservedCode2":""}</vt:lpwstr>
  </property>
  <property fmtid="{D5CDD505-2E9C-101B-9397-08002B2CF9AE}" pid="3" name="Notes">
    <vt:i4>13</vt:i4>
  </property>
  <property fmtid="{D5CDD505-2E9C-101B-9397-08002B2CF9AE}" pid="4" name="PresentationFormat">
    <vt:lpwstr>On-screen Show (16:9)</vt:lpwstr>
  </property>
  <property fmtid="{D5CDD505-2E9C-101B-9397-08002B2CF9AE}" pid="5" name="Slides">
    <vt:i4>13</vt:i4>
  </property>
</Properties>
</file>